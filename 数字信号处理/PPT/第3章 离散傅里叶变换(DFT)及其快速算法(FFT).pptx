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5" r:id="rId1"/>
  </p:sldMasterIdLst>
  <p:notesMasterIdLst>
    <p:notesMasterId r:id="rId90"/>
  </p:notesMasterIdLst>
  <p:sldIdLst>
    <p:sldId id="322" r:id="rId2"/>
    <p:sldId id="323" r:id="rId3"/>
    <p:sldId id="258" r:id="rId4"/>
    <p:sldId id="333" r:id="rId5"/>
    <p:sldId id="259" r:id="rId6"/>
    <p:sldId id="328" r:id="rId7"/>
    <p:sldId id="334" r:id="rId8"/>
    <p:sldId id="260" r:id="rId9"/>
    <p:sldId id="277" r:id="rId10"/>
    <p:sldId id="359" r:id="rId11"/>
    <p:sldId id="338" r:id="rId12"/>
    <p:sldId id="351" r:id="rId13"/>
    <p:sldId id="352" r:id="rId14"/>
    <p:sldId id="336" r:id="rId15"/>
    <p:sldId id="353" r:id="rId16"/>
    <p:sldId id="354" r:id="rId17"/>
    <p:sldId id="355" r:id="rId18"/>
    <p:sldId id="261" r:id="rId19"/>
    <p:sldId id="279" r:id="rId20"/>
    <p:sldId id="262" r:id="rId21"/>
    <p:sldId id="263" r:id="rId22"/>
    <p:sldId id="280" r:id="rId23"/>
    <p:sldId id="281" r:id="rId24"/>
    <p:sldId id="339" r:id="rId25"/>
    <p:sldId id="286" r:id="rId26"/>
    <p:sldId id="283" r:id="rId27"/>
    <p:sldId id="282" r:id="rId28"/>
    <p:sldId id="284" r:id="rId29"/>
    <p:sldId id="285" r:id="rId30"/>
    <p:sldId id="287" r:id="rId31"/>
    <p:sldId id="288" r:id="rId32"/>
    <p:sldId id="289" r:id="rId33"/>
    <p:sldId id="290" r:id="rId34"/>
    <p:sldId id="291" r:id="rId35"/>
    <p:sldId id="341" r:id="rId36"/>
    <p:sldId id="292" r:id="rId37"/>
    <p:sldId id="307" r:id="rId38"/>
    <p:sldId id="329" r:id="rId39"/>
    <p:sldId id="330" r:id="rId40"/>
    <p:sldId id="293" r:id="rId41"/>
    <p:sldId id="296" r:id="rId42"/>
    <p:sldId id="265" r:id="rId43"/>
    <p:sldId id="297" r:id="rId44"/>
    <p:sldId id="299" r:id="rId45"/>
    <p:sldId id="298" r:id="rId46"/>
    <p:sldId id="344" r:id="rId47"/>
    <p:sldId id="300" r:id="rId48"/>
    <p:sldId id="301" r:id="rId49"/>
    <p:sldId id="302" r:id="rId50"/>
    <p:sldId id="343" r:id="rId51"/>
    <p:sldId id="267" r:id="rId52"/>
    <p:sldId id="268" r:id="rId53"/>
    <p:sldId id="345" r:id="rId54"/>
    <p:sldId id="303" r:id="rId55"/>
    <p:sldId id="269" r:id="rId56"/>
    <p:sldId id="270" r:id="rId57"/>
    <p:sldId id="271" r:id="rId58"/>
    <p:sldId id="304" r:id="rId59"/>
    <p:sldId id="305" r:id="rId60"/>
    <p:sldId id="306" r:id="rId61"/>
    <p:sldId id="308" r:id="rId62"/>
    <p:sldId id="309" r:id="rId63"/>
    <p:sldId id="310" r:id="rId64"/>
    <p:sldId id="311" r:id="rId65"/>
    <p:sldId id="312" r:id="rId66"/>
    <p:sldId id="313" r:id="rId67"/>
    <p:sldId id="356" r:id="rId68"/>
    <p:sldId id="314" r:id="rId69"/>
    <p:sldId id="315" r:id="rId70"/>
    <p:sldId id="318" r:id="rId71"/>
    <p:sldId id="319" r:id="rId72"/>
    <p:sldId id="346" r:id="rId73"/>
    <p:sldId id="358" r:id="rId74"/>
    <p:sldId id="321" r:id="rId75"/>
    <p:sldId id="272" r:id="rId76"/>
    <p:sldId id="273" r:id="rId77"/>
    <p:sldId id="325" r:id="rId78"/>
    <p:sldId id="326" r:id="rId79"/>
    <p:sldId id="347" r:id="rId80"/>
    <p:sldId id="348" r:id="rId81"/>
    <p:sldId id="274" r:id="rId82"/>
    <p:sldId id="324" r:id="rId83"/>
    <p:sldId id="327" r:id="rId84"/>
    <p:sldId id="349" r:id="rId85"/>
    <p:sldId id="350" r:id="rId86"/>
    <p:sldId id="275" r:id="rId87"/>
    <p:sldId id="331" r:id="rId88"/>
    <p:sldId id="332" r:id="rId89"/>
  </p:sldIdLst>
  <p:sldSz cx="9144000" cy="6858000" type="screen4x3"/>
  <p:notesSz cx="69469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66FF"/>
    <a:srgbClr val="0099FF"/>
    <a:srgbClr val="99CCFF"/>
    <a:srgbClr val="3366CC"/>
    <a:srgbClr val="CCECFF"/>
    <a:srgbClr val="FFCC00"/>
    <a:srgbClr val="CC33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51" autoAdjust="0"/>
    <p:restoredTop sz="53262" autoAdjust="0"/>
  </p:normalViewPr>
  <p:slideViewPr>
    <p:cSldViewPr>
      <p:cViewPr varScale="1">
        <p:scale>
          <a:sx n="115" d="100"/>
          <a:sy n="115" d="100"/>
        </p:scale>
        <p:origin x="147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807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notesMaster" Target="notesMasters/notesMaster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viewProps" Target="viewProps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4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image" Target="../media/image6.wmf"/><Relationship Id="rId4" Type="http://schemas.openxmlformats.org/officeDocument/2006/relationships/image" Target="../media/image9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wmf"/><Relationship Id="rId1" Type="http://schemas.openxmlformats.org/officeDocument/2006/relationships/image" Target="../media/image14.wmf"/></Relationships>
</file>

<file path=ppt/drawings/_rels/vmlDrawing6.vml.rels><?xml version="1.0" encoding="UTF-8" standalone="yes"?>
<Relationships xmlns="http://schemas.openxmlformats.org/package/2006/relationships"><Relationship Id="rId8" Type="http://schemas.openxmlformats.org/officeDocument/2006/relationships/image" Target="../media/image23.emf"/><Relationship Id="rId3" Type="http://schemas.openxmlformats.org/officeDocument/2006/relationships/image" Target="../media/image18.wmf"/><Relationship Id="rId7" Type="http://schemas.openxmlformats.org/officeDocument/2006/relationships/image" Target="../media/image22.e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6" Type="http://schemas.openxmlformats.org/officeDocument/2006/relationships/image" Target="../media/image21.wmf"/><Relationship Id="rId11" Type="http://schemas.openxmlformats.org/officeDocument/2006/relationships/image" Target="../media/image26.wmf"/><Relationship Id="rId5" Type="http://schemas.openxmlformats.org/officeDocument/2006/relationships/image" Target="../media/image20.wmf"/><Relationship Id="rId10" Type="http://schemas.openxmlformats.org/officeDocument/2006/relationships/image" Target="../media/image25.wmf"/><Relationship Id="rId4" Type="http://schemas.openxmlformats.org/officeDocument/2006/relationships/image" Target="../media/image19.wmf"/><Relationship Id="rId9" Type="http://schemas.openxmlformats.org/officeDocument/2006/relationships/image" Target="../media/image24.emf"/></Relationships>
</file>

<file path=ppt/drawings/_rels/vmlDrawing7.v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image" Target="../media/image27.wmf"/><Relationship Id="rId7" Type="http://schemas.openxmlformats.org/officeDocument/2006/relationships/image" Target="../media/image31.wmf"/><Relationship Id="rId2" Type="http://schemas.openxmlformats.org/officeDocument/2006/relationships/image" Target="../media/image16.wmf"/><Relationship Id="rId1" Type="http://schemas.openxmlformats.org/officeDocument/2006/relationships/image" Target="../media/image18.wmf"/><Relationship Id="rId6" Type="http://schemas.openxmlformats.org/officeDocument/2006/relationships/image" Target="../media/image30.wmf"/><Relationship Id="rId5" Type="http://schemas.openxmlformats.org/officeDocument/2006/relationships/image" Target="../media/image29.wmf"/><Relationship Id="rId4" Type="http://schemas.openxmlformats.org/officeDocument/2006/relationships/image" Target="../media/image28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7" Type="http://schemas.openxmlformats.org/officeDocument/2006/relationships/image" Target="../media/image39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41.wmf"/><Relationship Id="rId1" Type="http://schemas.openxmlformats.org/officeDocument/2006/relationships/image" Target="../media/image40.wmf"/></Relationships>
</file>

<file path=ppt/drawings/_rels/vmlDrawing10.vml.rels><?xml version="1.0" encoding="UTF-8" standalone="yes"?>
<Relationships xmlns="http://schemas.openxmlformats.org/package/2006/relationships"><Relationship Id="rId3" Type="http://schemas.openxmlformats.org/officeDocument/2006/relationships/image" Target="../media/image45.wmf"/><Relationship Id="rId2" Type="http://schemas.openxmlformats.org/officeDocument/2006/relationships/image" Target="../media/image44.wmf"/><Relationship Id="rId1" Type="http://schemas.openxmlformats.org/officeDocument/2006/relationships/image" Target="../media/image43.wmf"/><Relationship Id="rId5" Type="http://schemas.openxmlformats.org/officeDocument/2006/relationships/image" Target="../media/image47.wmf"/><Relationship Id="rId4" Type="http://schemas.openxmlformats.org/officeDocument/2006/relationships/image" Target="../media/image46.wmf"/></Relationships>
</file>

<file path=ppt/drawings/_rels/vmlDrawing11.v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13" Type="http://schemas.openxmlformats.org/officeDocument/2006/relationships/image" Target="../media/image60.wmf"/><Relationship Id="rId3" Type="http://schemas.openxmlformats.org/officeDocument/2006/relationships/image" Target="../media/image50.wmf"/><Relationship Id="rId7" Type="http://schemas.openxmlformats.org/officeDocument/2006/relationships/image" Target="../media/image54.wmf"/><Relationship Id="rId12" Type="http://schemas.openxmlformats.org/officeDocument/2006/relationships/image" Target="../media/image59.wmf"/><Relationship Id="rId2" Type="http://schemas.openxmlformats.org/officeDocument/2006/relationships/image" Target="../media/image49.wmf"/><Relationship Id="rId1" Type="http://schemas.openxmlformats.org/officeDocument/2006/relationships/image" Target="../media/image48.wmf"/><Relationship Id="rId6" Type="http://schemas.openxmlformats.org/officeDocument/2006/relationships/image" Target="../media/image53.wmf"/><Relationship Id="rId11" Type="http://schemas.openxmlformats.org/officeDocument/2006/relationships/image" Target="../media/image58.wmf"/><Relationship Id="rId5" Type="http://schemas.openxmlformats.org/officeDocument/2006/relationships/image" Target="../media/image52.wmf"/><Relationship Id="rId10" Type="http://schemas.openxmlformats.org/officeDocument/2006/relationships/image" Target="../media/image57.wmf"/><Relationship Id="rId4" Type="http://schemas.openxmlformats.org/officeDocument/2006/relationships/image" Target="../media/image51.wmf"/><Relationship Id="rId9" Type="http://schemas.openxmlformats.org/officeDocument/2006/relationships/image" Target="../media/image56.wmf"/><Relationship Id="rId14" Type="http://schemas.openxmlformats.org/officeDocument/2006/relationships/image" Target="../media/image61.wmf"/></Relationships>
</file>

<file path=ppt/drawings/_rels/vmlDrawing12.v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image" Target="../media/image63.wmf"/><Relationship Id="rId1" Type="http://schemas.openxmlformats.org/officeDocument/2006/relationships/image" Target="../media/image62.wmf"/><Relationship Id="rId4" Type="http://schemas.openxmlformats.org/officeDocument/2006/relationships/image" Target="../media/image65.wmf"/></Relationships>
</file>

<file path=ppt/drawings/_rels/vmlDrawing13.vml.rels><?xml version="1.0" encoding="UTF-8" standalone="yes"?>
<Relationships xmlns="http://schemas.openxmlformats.org/package/2006/relationships"><Relationship Id="rId3" Type="http://schemas.openxmlformats.org/officeDocument/2006/relationships/image" Target="../media/image68.wmf"/><Relationship Id="rId7" Type="http://schemas.openxmlformats.org/officeDocument/2006/relationships/image" Target="../media/image64.wmf"/><Relationship Id="rId2" Type="http://schemas.openxmlformats.org/officeDocument/2006/relationships/image" Target="../media/image67.wmf"/><Relationship Id="rId1" Type="http://schemas.openxmlformats.org/officeDocument/2006/relationships/image" Target="../media/image66.wmf"/><Relationship Id="rId6" Type="http://schemas.openxmlformats.org/officeDocument/2006/relationships/image" Target="../media/image46.wmf"/><Relationship Id="rId5" Type="http://schemas.openxmlformats.org/officeDocument/2006/relationships/image" Target="../media/image69.wmf"/><Relationship Id="rId4" Type="http://schemas.openxmlformats.org/officeDocument/2006/relationships/image" Target="../media/image45.wmf"/></Relationships>
</file>

<file path=ppt/drawings/_rels/vmlDrawing14.vml.rels><?xml version="1.0" encoding="UTF-8" standalone="yes"?>
<Relationships xmlns="http://schemas.openxmlformats.org/package/2006/relationships"><Relationship Id="rId3" Type="http://schemas.openxmlformats.org/officeDocument/2006/relationships/image" Target="../media/image72.wmf"/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2" Type="http://schemas.openxmlformats.org/officeDocument/2006/relationships/image" Target="../media/image74.wmf"/><Relationship Id="rId1" Type="http://schemas.openxmlformats.org/officeDocument/2006/relationships/image" Target="../media/image73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image" Target="../media/image75.wmf"/><Relationship Id="rId1" Type="http://schemas.openxmlformats.org/officeDocument/2006/relationships/image" Target="../media/image3.wmf"/><Relationship Id="rId5" Type="http://schemas.openxmlformats.org/officeDocument/2006/relationships/image" Target="../media/image78.wmf"/><Relationship Id="rId4" Type="http://schemas.openxmlformats.org/officeDocument/2006/relationships/image" Target="../media/image77.wmf"/></Relationships>
</file>

<file path=ppt/drawings/_rels/vmlDrawing17.vml.rels><?xml version="1.0" encoding="UTF-8" standalone="yes"?>
<Relationships xmlns="http://schemas.openxmlformats.org/package/2006/relationships"><Relationship Id="rId3" Type="http://schemas.openxmlformats.org/officeDocument/2006/relationships/image" Target="../media/image80.wmf"/><Relationship Id="rId2" Type="http://schemas.openxmlformats.org/officeDocument/2006/relationships/image" Target="../media/image79.wmf"/><Relationship Id="rId1" Type="http://schemas.openxmlformats.org/officeDocument/2006/relationships/image" Target="../media/image5.wmf"/><Relationship Id="rId5" Type="http://schemas.openxmlformats.org/officeDocument/2006/relationships/image" Target="../media/image82.wmf"/><Relationship Id="rId4" Type="http://schemas.openxmlformats.org/officeDocument/2006/relationships/image" Target="../media/image81.wmf"/></Relationships>
</file>

<file path=ppt/drawings/_rels/vmlDrawing18.vml.rels><?xml version="1.0" encoding="UTF-8" standalone="yes"?>
<Relationships xmlns="http://schemas.openxmlformats.org/package/2006/relationships"><Relationship Id="rId3" Type="http://schemas.openxmlformats.org/officeDocument/2006/relationships/image" Target="../media/image85.wmf"/><Relationship Id="rId7" Type="http://schemas.openxmlformats.org/officeDocument/2006/relationships/image" Target="../media/image89.wmf"/><Relationship Id="rId2" Type="http://schemas.openxmlformats.org/officeDocument/2006/relationships/image" Target="../media/image84.wmf"/><Relationship Id="rId1" Type="http://schemas.openxmlformats.org/officeDocument/2006/relationships/image" Target="../media/image83.wmf"/><Relationship Id="rId6" Type="http://schemas.openxmlformats.org/officeDocument/2006/relationships/image" Target="../media/image88.wmf"/><Relationship Id="rId5" Type="http://schemas.openxmlformats.org/officeDocument/2006/relationships/image" Target="../media/image87.wmf"/><Relationship Id="rId4" Type="http://schemas.openxmlformats.org/officeDocument/2006/relationships/image" Target="../media/image86.wmf"/></Relationships>
</file>

<file path=ppt/drawings/_rels/vmlDrawing1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wmf"/></Relationships>
</file>

<file path=ppt/drawings/_rels/vmlDrawing20.vml.rels><?xml version="1.0" encoding="UTF-8" standalone="yes"?>
<Relationships xmlns="http://schemas.openxmlformats.org/package/2006/relationships"><Relationship Id="rId3" Type="http://schemas.openxmlformats.org/officeDocument/2006/relationships/image" Target="../media/image92.wmf"/><Relationship Id="rId2" Type="http://schemas.openxmlformats.org/officeDocument/2006/relationships/image" Target="../media/image91.wmf"/><Relationship Id="rId1" Type="http://schemas.openxmlformats.org/officeDocument/2006/relationships/image" Target="../media/image90.wmf"/><Relationship Id="rId4" Type="http://schemas.openxmlformats.org/officeDocument/2006/relationships/image" Target="../media/image93.wmf"/></Relationships>
</file>

<file path=ppt/drawings/_rels/vmlDrawing21.vml.rels><?xml version="1.0" encoding="UTF-8" standalone="yes"?>
<Relationships xmlns="http://schemas.openxmlformats.org/package/2006/relationships"><Relationship Id="rId3" Type="http://schemas.openxmlformats.org/officeDocument/2006/relationships/image" Target="../media/image97.wmf"/><Relationship Id="rId7" Type="http://schemas.openxmlformats.org/officeDocument/2006/relationships/image" Target="../media/image101.wmf"/><Relationship Id="rId2" Type="http://schemas.openxmlformats.org/officeDocument/2006/relationships/image" Target="../media/image96.wmf"/><Relationship Id="rId1" Type="http://schemas.openxmlformats.org/officeDocument/2006/relationships/image" Target="../media/image95.wmf"/><Relationship Id="rId6" Type="http://schemas.openxmlformats.org/officeDocument/2006/relationships/image" Target="../media/image100.wmf"/><Relationship Id="rId5" Type="http://schemas.openxmlformats.org/officeDocument/2006/relationships/image" Target="../media/image99.wmf"/><Relationship Id="rId4" Type="http://schemas.openxmlformats.org/officeDocument/2006/relationships/image" Target="../media/image98.wmf"/></Relationships>
</file>

<file path=ppt/drawings/_rels/vmlDrawing2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wmf"/><Relationship Id="rId2" Type="http://schemas.openxmlformats.org/officeDocument/2006/relationships/image" Target="../media/image103.wmf"/><Relationship Id="rId1" Type="http://schemas.openxmlformats.org/officeDocument/2006/relationships/image" Target="../media/image102.wmf"/><Relationship Id="rId4" Type="http://schemas.openxmlformats.org/officeDocument/2006/relationships/image" Target="../media/image105.wmf"/></Relationships>
</file>

<file path=ppt/drawings/_rels/vmlDrawing2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wmf"/><Relationship Id="rId2" Type="http://schemas.openxmlformats.org/officeDocument/2006/relationships/image" Target="../media/image107.wmf"/><Relationship Id="rId1" Type="http://schemas.openxmlformats.org/officeDocument/2006/relationships/image" Target="../media/image106.wmf"/><Relationship Id="rId6" Type="http://schemas.openxmlformats.org/officeDocument/2006/relationships/image" Target="../media/image109.wmf"/><Relationship Id="rId5" Type="http://schemas.openxmlformats.org/officeDocument/2006/relationships/image" Target="../media/image108.wmf"/><Relationship Id="rId4" Type="http://schemas.openxmlformats.org/officeDocument/2006/relationships/image" Target="../media/image104.wmf"/></Relationships>
</file>

<file path=ppt/drawings/_rels/vmlDrawing2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2.wmf"/><Relationship Id="rId2" Type="http://schemas.openxmlformats.org/officeDocument/2006/relationships/image" Target="../media/image111.wmf"/><Relationship Id="rId1" Type="http://schemas.openxmlformats.org/officeDocument/2006/relationships/image" Target="../media/image110.wmf"/><Relationship Id="rId4" Type="http://schemas.openxmlformats.org/officeDocument/2006/relationships/image" Target="../media/image113.wmf"/></Relationships>
</file>

<file path=ppt/drawings/_rels/vmlDrawing2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6.wmf"/><Relationship Id="rId2" Type="http://schemas.openxmlformats.org/officeDocument/2006/relationships/image" Target="../media/image115.wmf"/><Relationship Id="rId1" Type="http://schemas.openxmlformats.org/officeDocument/2006/relationships/image" Target="../media/image114.wmf"/><Relationship Id="rId5" Type="http://schemas.openxmlformats.org/officeDocument/2006/relationships/image" Target="../media/image118.wmf"/><Relationship Id="rId4" Type="http://schemas.openxmlformats.org/officeDocument/2006/relationships/image" Target="../media/image117.wmf"/></Relationships>
</file>

<file path=ppt/drawings/_rels/vmlDrawing2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wmf"/><Relationship Id="rId2" Type="http://schemas.openxmlformats.org/officeDocument/2006/relationships/image" Target="../media/image120.wmf"/><Relationship Id="rId1" Type="http://schemas.openxmlformats.org/officeDocument/2006/relationships/image" Target="../media/image119.wmf"/><Relationship Id="rId4" Type="http://schemas.openxmlformats.org/officeDocument/2006/relationships/image" Target="../media/image122.wmf"/></Relationships>
</file>

<file path=ppt/drawings/_rels/vmlDrawing2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2" Type="http://schemas.openxmlformats.org/officeDocument/2006/relationships/image" Target="../media/image123.wmf"/><Relationship Id="rId1" Type="http://schemas.openxmlformats.org/officeDocument/2006/relationships/image" Target="../media/image83.wmf"/><Relationship Id="rId5" Type="http://schemas.openxmlformats.org/officeDocument/2006/relationships/image" Target="../media/image126.wmf"/><Relationship Id="rId4" Type="http://schemas.openxmlformats.org/officeDocument/2006/relationships/image" Target="../media/image125.wmf"/></Relationships>
</file>

<file path=ppt/drawings/_rels/vmlDrawing2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8.wmf"/><Relationship Id="rId7" Type="http://schemas.openxmlformats.org/officeDocument/2006/relationships/image" Target="../media/image131.wmf"/><Relationship Id="rId2" Type="http://schemas.openxmlformats.org/officeDocument/2006/relationships/image" Target="../media/image83.wmf"/><Relationship Id="rId1" Type="http://schemas.openxmlformats.org/officeDocument/2006/relationships/image" Target="../media/image127.wmf"/><Relationship Id="rId6" Type="http://schemas.openxmlformats.org/officeDocument/2006/relationships/image" Target="../media/image123.wmf"/><Relationship Id="rId5" Type="http://schemas.openxmlformats.org/officeDocument/2006/relationships/image" Target="../media/image130.wmf"/><Relationship Id="rId4" Type="http://schemas.openxmlformats.org/officeDocument/2006/relationships/image" Target="../media/image129.wmf"/></Relationships>
</file>

<file path=ppt/drawings/_rels/vmlDrawing2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wmf"/><Relationship Id="rId7" Type="http://schemas.openxmlformats.org/officeDocument/2006/relationships/image" Target="../media/image138.wmf"/><Relationship Id="rId2" Type="http://schemas.openxmlformats.org/officeDocument/2006/relationships/image" Target="../media/image133.wmf"/><Relationship Id="rId1" Type="http://schemas.openxmlformats.org/officeDocument/2006/relationships/image" Target="../media/image132.wmf"/><Relationship Id="rId6" Type="http://schemas.openxmlformats.org/officeDocument/2006/relationships/image" Target="../media/image137.wmf"/><Relationship Id="rId5" Type="http://schemas.openxmlformats.org/officeDocument/2006/relationships/image" Target="../media/image136.wmf"/><Relationship Id="rId4" Type="http://schemas.openxmlformats.org/officeDocument/2006/relationships/image" Target="../media/image135.wmf"/></Relationships>
</file>

<file path=ppt/drawings/_rels/vmlDrawing3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wmf"/><Relationship Id="rId2" Type="http://schemas.openxmlformats.org/officeDocument/2006/relationships/image" Target="../media/image140.wmf"/><Relationship Id="rId1" Type="http://schemas.openxmlformats.org/officeDocument/2006/relationships/image" Target="../media/image139.wmf"/></Relationships>
</file>

<file path=ppt/drawings/_rels/vmlDrawing3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2.wmf"/></Relationships>
</file>

<file path=ppt/drawings/_rels/vmlDrawing3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wmf"/><Relationship Id="rId2" Type="http://schemas.openxmlformats.org/officeDocument/2006/relationships/image" Target="../media/image140.wmf"/><Relationship Id="rId1" Type="http://schemas.openxmlformats.org/officeDocument/2006/relationships/image" Target="../media/image143.wmf"/><Relationship Id="rId4" Type="http://schemas.openxmlformats.org/officeDocument/2006/relationships/image" Target="../media/image145.wmf"/></Relationships>
</file>

<file path=ppt/drawings/_rels/vmlDrawing33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wmf"/><Relationship Id="rId2" Type="http://schemas.openxmlformats.org/officeDocument/2006/relationships/image" Target="../media/image144.wmf"/><Relationship Id="rId1" Type="http://schemas.openxmlformats.org/officeDocument/2006/relationships/image" Target="../media/image140.wmf"/></Relationships>
</file>

<file path=ppt/drawings/_rels/vmlDrawing3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wmf"/><Relationship Id="rId2" Type="http://schemas.openxmlformats.org/officeDocument/2006/relationships/image" Target="../media/image147.wmf"/><Relationship Id="rId1" Type="http://schemas.openxmlformats.org/officeDocument/2006/relationships/image" Target="../media/image140.wmf"/></Relationships>
</file>

<file path=ppt/drawings/_rels/vmlDrawing3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2.wmf"/><Relationship Id="rId2" Type="http://schemas.openxmlformats.org/officeDocument/2006/relationships/image" Target="../media/image151.wmf"/><Relationship Id="rId1" Type="http://schemas.openxmlformats.org/officeDocument/2006/relationships/image" Target="../media/image150.wmf"/><Relationship Id="rId6" Type="http://schemas.openxmlformats.org/officeDocument/2006/relationships/image" Target="../media/image155.wmf"/><Relationship Id="rId5" Type="http://schemas.openxmlformats.org/officeDocument/2006/relationships/image" Target="../media/image154.wmf"/><Relationship Id="rId4" Type="http://schemas.openxmlformats.org/officeDocument/2006/relationships/image" Target="../media/image153.wmf"/></Relationships>
</file>

<file path=ppt/drawings/_rels/vmlDrawing3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8.wmf"/><Relationship Id="rId2" Type="http://schemas.openxmlformats.org/officeDocument/2006/relationships/image" Target="../media/image157.wmf"/><Relationship Id="rId1" Type="http://schemas.openxmlformats.org/officeDocument/2006/relationships/image" Target="../media/image156.wmf"/><Relationship Id="rId4" Type="http://schemas.openxmlformats.org/officeDocument/2006/relationships/image" Target="../media/image159.wmf"/></Relationships>
</file>

<file path=ppt/drawings/_rels/vmlDrawing3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wmf"/><Relationship Id="rId7" Type="http://schemas.openxmlformats.org/officeDocument/2006/relationships/image" Target="../media/image164.wmf"/><Relationship Id="rId2" Type="http://schemas.openxmlformats.org/officeDocument/2006/relationships/image" Target="../media/image70.wmf"/><Relationship Id="rId1" Type="http://schemas.openxmlformats.org/officeDocument/2006/relationships/image" Target="../media/image158.wmf"/><Relationship Id="rId6" Type="http://schemas.openxmlformats.org/officeDocument/2006/relationships/image" Target="../media/image163.wmf"/><Relationship Id="rId5" Type="http://schemas.openxmlformats.org/officeDocument/2006/relationships/image" Target="../media/image162.wmf"/><Relationship Id="rId4" Type="http://schemas.openxmlformats.org/officeDocument/2006/relationships/image" Target="../media/image161.wmf"/></Relationships>
</file>

<file path=ppt/drawings/_rels/vmlDrawing38.vml.rels><?xml version="1.0" encoding="UTF-8" standalone="yes"?>
<Relationships xmlns="http://schemas.openxmlformats.org/package/2006/relationships"><Relationship Id="rId3" Type="http://schemas.openxmlformats.org/officeDocument/2006/relationships/image" Target="../media/image70.wmf"/><Relationship Id="rId7" Type="http://schemas.openxmlformats.org/officeDocument/2006/relationships/image" Target="../media/image168.wmf"/><Relationship Id="rId2" Type="http://schemas.openxmlformats.org/officeDocument/2006/relationships/image" Target="../media/image158.wmf"/><Relationship Id="rId1" Type="http://schemas.openxmlformats.org/officeDocument/2006/relationships/image" Target="../media/image159.wmf"/><Relationship Id="rId6" Type="http://schemas.openxmlformats.org/officeDocument/2006/relationships/image" Target="../media/image167.wmf"/><Relationship Id="rId5" Type="http://schemas.openxmlformats.org/officeDocument/2006/relationships/image" Target="../media/image166.wmf"/><Relationship Id="rId4" Type="http://schemas.openxmlformats.org/officeDocument/2006/relationships/image" Target="../media/image165.wmf"/></Relationships>
</file>

<file path=ppt/drawings/_rels/vmlDrawing39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wmf"/><Relationship Id="rId2" Type="http://schemas.openxmlformats.org/officeDocument/2006/relationships/image" Target="../media/image159.wmf"/><Relationship Id="rId1" Type="http://schemas.openxmlformats.org/officeDocument/2006/relationships/image" Target="../media/image153.wmf"/><Relationship Id="rId5" Type="http://schemas.openxmlformats.org/officeDocument/2006/relationships/image" Target="../media/image172.wmf"/><Relationship Id="rId4" Type="http://schemas.openxmlformats.org/officeDocument/2006/relationships/image" Target="../media/image171.wmf"/></Relationships>
</file>

<file path=ppt/drawings/_rels/vmlDrawing40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5.wmf"/><Relationship Id="rId2" Type="http://schemas.openxmlformats.org/officeDocument/2006/relationships/image" Target="../media/image174.wmf"/><Relationship Id="rId1" Type="http://schemas.openxmlformats.org/officeDocument/2006/relationships/image" Target="../media/image173.wmf"/><Relationship Id="rId6" Type="http://schemas.openxmlformats.org/officeDocument/2006/relationships/image" Target="../media/image178.wmf"/><Relationship Id="rId5" Type="http://schemas.openxmlformats.org/officeDocument/2006/relationships/image" Target="../media/image177.wmf"/><Relationship Id="rId4" Type="http://schemas.openxmlformats.org/officeDocument/2006/relationships/image" Target="../media/image176.wmf"/></Relationships>
</file>

<file path=ppt/drawings/_rels/vmlDrawing4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0.wmf"/><Relationship Id="rId7" Type="http://schemas.openxmlformats.org/officeDocument/2006/relationships/image" Target="../media/image183.wmf"/><Relationship Id="rId2" Type="http://schemas.openxmlformats.org/officeDocument/2006/relationships/image" Target="../media/image179.wmf"/><Relationship Id="rId1" Type="http://schemas.openxmlformats.org/officeDocument/2006/relationships/image" Target="../media/image153.wmf"/><Relationship Id="rId6" Type="http://schemas.openxmlformats.org/officeDocument/2006/relationships/image" Target="../media/image182.wmf"/><Relationship Id="rId5" Type="http://schemas.openxmlformats.org/officeDocument/2006/relationships/image" Target="../media/image159.wmf"/><Relationship Id="rId4" Type="http://schemas.openxmlformats.org/officeDocument/2006/relationships/image" Target="../media/image181.wmf"/></Relationships>
</file>

<file path=ppt/drawings/_rels/vmlDrawing42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5.wmf"/><Relationship Id="rId1" Type="http://schemas.openxmlformats.org/officeDocument/2006/relationships/image" Target="../media/image184.wmf"/></Relationships>
</file>

<file path=ppt/drawings/_rels/vmlDrawing43.vml.rels><?xml version="1.0" encoding="UTF-8" standalone="yes"?>
<Relationships xmlns="http://schemas.openxmlformats.org/package/2006/relationships"><Relationship Id="rId2" Type="http://schemas.openxmlformats.org/officeDocument/2006/relationships/image" Target="../media/image188.wmf"/><Relationship Id="rId1" Type="http://schemas.openxmlformats.org/officeDocument/2006/relationships/image" Target="../media/image187.wmf"/></Relationships>
</file>

<file path=ppt/drawings/_rels/vmlDrawing4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1.wmf"/><Relationship Id="rId2" Type="http://schemas.openxmlformats.org/officeDocument/2006/relationships/image" Target="../media/image190.wmf"/><Relationship Id="rId1" Type="http://schemas.openxmlformats.org/officeDocument/2006/relationships/image" Target="../media/image189.wmf"/><Relationship Id="rId4" Type="http://schemas.openxmlformats.org/officeDocument/2006/relationships/image" Target="../media/image192.wmf"/></Relationships>
</file>

<file path=ppt/drawings/_rels/vmlDrawing45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4.wmf"/><Relationship Id="rId2" Type="http://schemas.openxmlformats.org/officeDocument/2006/relationships/image" Target="../media/image189.wmf"/><Relationship Id="rId1" Type="http://schemas.openxmlformats.org/officeDocument/2006/relationships/image" Target="../media/image193.wmf"/></Relationships>
</file>

<file path=ppt/drawings/_rels/vmlDrawing4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6.wmf"/><Relationship Id="rId1" Type="http://schemas.openxmlformats.org/officeDocument/2006/relationships/image" Target="../media/image195.wmf"/></Relationships>
</file>

<file path=ppt/drawings/_rels/vmlDrawing4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99.wmf"/><Relationship Id="rId2" Type="http://schemas.openxmlformats.org/officeDocument/2006/relationships/image" Target="../media/image198.wmf"/><Relationship Id="rId1" Type="http://schemas.openxmlformats.org/officeDocument/2006/relationships/image" Target="../media/image197.wmf"/></Relationships>
</file>

<file path=ppt/drawings/_rels/vmlDrawing48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2.wmf"/><Relationship Id="rId2" Type="http://schemas.openxmlformats.org/officeDocument/2006/relationships/image" Target="../media/image201.wmf"/><Relationship Id="rId1" Type="http://schemas.openxmlformats.org/officeDocument/2006/relationships/image" Target="../media/image200.wmf"/></Relationships>
</file>

<file path=ppt/drawings/_rels/vmlDrawing49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wmf"/><Relationship Id="rId1" Type="http://schemas.openxmlformats.org/officeDocument/2006/relationships/image" Target="../media/image211.wmf"/></Relationships>
</file>

<file path=ppt/drawings/_rels/vmlDrawing50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4.wmf"/><Relationship Id="rId1" Type="http://schemas.openxmlformats.org/officeDocument/2006/relationships/image" Target="../media/image213.wmf"/></Relationships>
</file>

<file path=ppt/drawings/_rels/vmlDrawing5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5.emf"/></Relationships>
</file>

<file path=ppt/drawings/_rels/vmlDrawing5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17.emf"/><Relationship Id="rId1" Type="http://schemas.openxmlformats.org/officeDocument/2006/relationships/image" Target="../media/image216.wmf"/></Relationships>
</file>

<file path=ppt/drawings/_rels/vmlDrawing5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wmf"/><Relationship Id="rId2" Type="http://schemas.openxmlformats.org/officeDocument/2006/relationships/image" Target="../media/image219.wmf"/><Relationship Id="rId1" Type="http://schemas.openxmlformats.org/officeDocument/2006/relationships/image" Target="../media/image218.wmf"/><Relationship Id="rId4" Type="http://schemas.openxmlformats.org/officeDocument/2006/relationships/image" Target="../media/image221.wmf"/></Relationships>
</file>

<file path=ppt/drawings/_rels/vmlDrawing54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4.wmf"/><Relationship Id="rId2" Type="http://schemas.openxmlformats.org/officeDocument/2006/relationships/image" Target="../media/image223.wmf"/><Relationship Id="rId1" Type="http://schemas.openxmlformats.org/officeDocument/2006/relationships/image" Target="../media/image222.wmf"/></Relationships>
</file>

<file path=ppt/drawings/_rels/vmlDrawing5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27.wmf"/><Relationship Id="rId2" Type="http://schemas.openxmlformats.org/officeDocument/2006/relationships/image" Target="../media/image226.wmf"/><Relationship Id="rId1" Type="http://schemas.openxmlformats.org/officeDocument/2006/relationships/image" Target="../media/image225.wmf"/></Relationships>
</file>

<file path=ppt/drawings/_rels/vmlDrawing5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wmf"/><Relationship Id="rId7" Type="http://schemas.openxmlformats.org/officeDocument/2006/relationships/image" Target="../media/image234.wmf"/><Relationship Id="rId2" Type="http://schemas.openxmlformats.org/officeDocument/2006/relationships/image" Target="../media/image229.wmf"/><Relationship Id="rId1" Type="http://schemas.openxmlformats.org/officeDocument/2006/relationships/image" Target="../media/image228.wmf"/><Relationship Id="rId6" Type="http://schemas.openxmlformats.org/officeDocument/2006/relationships/image" Target="../media/image233.wmf"/><Relationship Id="rId5" Type="http://schemas.openxmlformats.org/officeDocument/2006/relationships/image" Target="../media/image232.wmf"/><Relationship Id="rId4" Type="http://schemas.openxmlformats.org/officeDocument/2006/relationships/image" Target="../media/image231.wmf"/></Relationships>
</file>

<file path=ppt/drawings/_rels/vmlDrawing5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7.wmf"/><Relationship Id="rId1" Type="http://schemas.openxmlformats.org/officeDocument/2006/relationships/image" Target="../media/image236.wmf"/></Relationships>
</file>

<file path=ppt/drawings/_rels/vmlDrawing58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9.wmf"/></Relationships>
</file>

<file path=ppt/drawings/_rels/vmlDrawing59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3.wmf"/><Relationship Id="rId2" Type="http://schemas.openxmlformats.org/officeDocument/2006/relationships/image" Target="../media/image242.wmf"/><Relationship Id="rId1" Type="http://schemas.openxmlformats.org/officeDocument/2006/relationships/image" Target="../media/image241.wmf"/></Relationships>
</file>

<file path=ppt/drawings/_rels/vmlDrawing60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5.wmf"/><Relationship Id="rId2" Type="http://schemas.openxmlformats.org/officeDocument/2006/relationships/image" Target="../media/image140.wmf"/><Relationship Id="rId1" Type="http://schemas.openxmlformats.org/officeDocument/2006/relationships/image" Target="../media/image244.wmf"/><Relationship Id="rId4" Type="http://schemas.openxmlformats.org/officeDocument/2006/relationships/image" Target="../media/image246.wmf"/></Relationships>
</file>

<file path=ppt/drawings/_rels/vmlDrawing61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9.wmf"/><Relationship Id="rId2" Type="http://schemas.openxmlformats.org/officeDocument/2006/relationships/image" Target="../media/image248.wmf"/><Relationship Id="rId1" Type="http://schemas.openxmlformats.org/officeDocument/2006/relationships/image" Target="../media/image247.wmf"/><Relationship Id="rId5" Type="http://schemas.openxmlformats.org/officeDocument/2006/relationships/image" Target="../media/image251.wmf"/><Relationship Id="rId4" Type="http://schemas.openxmlformats.org/officeDocument/2006/relationships/image" Target="../media/image250.wmf"/></Relationships>
</file>

<file path=ppt/drawings/_rels/vmlDrawing6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2.emf"/></Relationships>
</file>

<file path=ppt/drawings/_rels/vmlDrawing63.vml.rels><?xml version="1.0" encoding="UTF-8" standalone="yes"?>
<Relationships xmlns="http://schemas.openxmlformats.org/package/2006/relationships"><Relationship Id="rId3" Type="http://schemas.openxmlformats.org/officeDocument/2006/relationships/image" Target="../media/image255.wmf"/><Relationship Id="rId2" Type="http://schemas.openxmlformats.org/officeDocument/2006/relationships/image" Target="../media/image254.wmf"/><Relationship Id="rId1" Type="http://schemas.openxmlformats.org/officeDocument/2006/relationships/image" Target="../media/image253.wmf"/></Relationships>
</file>

<file path=ppt/drawings/_rels/vmlDrawing6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7.wmf"/><Relationship Id="rId1" Type="http://schemas.openxmlformats.org/officeDocument/2006/relationships/image" Target="../media/image256.wmf"/></Relationships>
</file>

<file path=ppt/drawings/_rels/vmlDrawing6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1.wmf"/><Relationship Id="rId2" Type="http://schemas.openxmlformats.org/officeDocument/2006/relationships/image" Target="../media/image260.wmf"/><Relationship Id="rId1" Type="http://schemas.openxmlformats.org/officeDocument/2006/relationships/image" Target="../media/image259.wmf"/><Relationship Id="rId6" Type="http://schemas.openxmlformats.org/officeDocument/2006/relationships/image" Target="../media/image264.wmf"/><Relationship Id="rId5" Type="http://schemas.openxmlformats.org/officeDocument/2006/relationships/image" Target="../media/image263.wmf"/><Relationship Id="rId4" Type="http://schemas.openxmlformats.org/officeDocument/2006/relationships/image" Target="../media/image262.wmf"/></Relationships>
</file>

<file path=ppt/drawings/_rels/vmlDrawing6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67.wmf"/><Relationship Id="rId2" Type="http://schemas.openxmlformats.org/officeDocument/2006/relationships/image" Target="../media/image266.wmf"/><Relationship Id="rId1" Type="http://schemas.openxmlformats.org/officeDocument/2006/relationships/image" Target="../media/image265.wmf"/><Relationship Id="rId6" Type="http://schemas.openxmlformats.org/officeDocument/2006/relationships/image" Target="../media/image270.wmf"/><Relationship Id="rId5" Type="http://schemas.openxmlformats.org/officeDocument/2006/relationships/image" Target="../media/image269.wmf"/><Relationship Id="rId4" Type="http://schemas.openxmlformats.org/officeDocument/2006/relationships/image" Target="../media/image268.wmf"/></Relationships>
</file>

<file path=ppt/drawings/_rels/vmlDrawing67.vml.rels><?xml version="1.0" encoding="UTF-8" standalone="yes"?>
<Relationships xmlns="http://schemas.openxmlformats.org/package/2006/relationships"><Relationship Id="rId3" Type="http://schemas.openxmlformats.org/officeDocument/2006/relationships/image" Target="../media/image275.wmf"/><Relationship Id="rId2" Type="http://schemas.openxmlformats.org/officeDocument/2006/relationships/image" Target="../media/image274.wmf"/><Relationship Id="rId1" Type="http://schemas.openxmlformats.org/officeDocument/2006/relationships/image" Target="../media/image273.wmf"/><Relationship Id="rId4" Type="http://schemas.openxmlformats.org/officeDocument/2006/relationships/image" Target="../media/image276.wmf"/></Relationships>
</file>

<file path=ppt/drawings/_rels/vmlDrawing68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8.wmf"/><Relationship Id="rId1" Type="http://schemas.openxmlformats.org/officeDocument/2006/relationships/image" Target="../media/image277.wmf"/></Relationships>
</file>

<file path=ppt/drawings/_rels/vmlDrawing69.vml.rels><?xml version="1.0" encoding="UTF-8" standalone="yes"?>
<Relationships xmlns="http://schemas.openxmlformats.org/package/2006/relationships"><Relationship Id="rId1" Type="http://schemas.openxmlformats.org/officeDocument/2006/relationships/image" Target="../media/image27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3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738" tIns="46368" rIns="92738" bIns="46368" numCol="1" anchor="t" anchorCtr="0" compatLnSpc="1">
            <a:prstTxWarp prst="textNoShape">
              <a:avLst/>
            </a:prstTxWarp>
          </a:bodyPr>
          <a:lstStyle>
            <a:lvl1pPr defTabSz="925513"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37000" y="0"/>
            <a:ext cx="3009900" cy="463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738" tIns="46368" rIns="92738" bIns="46368" numCol="1" anchor="t" anchorCtr="0" compatLnSpc="1">
            <a:prstTxWarp prst="textNoShape">
              <a:avLst/>
            </a:prstTxWarp>
          </a:bodyPr>
          <a:lstStyle>
            <a:lvl1pPr algn="r" defTabSz="925513"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2525" y="696913"/>
            <a:ext cx="4641850" cy="348138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35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5513" y="4410075"/>
            <a:ext cx="5095875" cy="4176713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738" tIns="46368" rIns="92738" bIns="4636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09900" cy="463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738" tIns="46368" rIns="92738" bIns="46368" numCol="1" anchor="b" anchorCtr="0" compatLnSpc="1">
            <a:prstTxWarp prst="textNoShape">
              <a:avLst/>
            </a:prstTxWarp>
          </a:bodyPr>
          <a:lstStyle>
            <a:lvl1pPr defTabSz="925513">
              <a:defRPr sz="1200">
                <a:latin typeface="Times New Roman" panose="02020603050405020304" pitchFamily="18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7000" y="8820150"/>
            <a:ext cx="3009900" cy="4635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2738" tIns="46368" rIns="92738" bIns="46368" numCol="1" anchor="b" anchorCtr="0" compatLnSpc="1">
            <a:prstTxWarp prst="textNoShape">
              <a:avLst/>
            </a:prstTxWarp>
          </a:bodyPr>
          <a:lstStyle>
            <a:lvl1pPr algn="r" defTabSz="925513">
              <a:defRPr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D1B8EBE0-3BB7-4CF3-88B8-B846EBCE239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宋体" panose="02010600030101010101" pitchFamily="2" charset="-122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1828800" y="2173288"/>
            <a:ext cx="4954588" cy="12192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828800" y="3429000"/>
            <a:ext cx="4953000" cy="1868488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5410200" y="6308725"/>
            <a:ext cx="3338513" cy="395288"/>
          </a:xfrm>
        </p:spPr>
        <p:txBody>
          <a:bodyPr/>
          <a:lstStyle>
            <a:lvl1pPr>
              <a:defRPr>
                <a:ea typeface="+mn-ea"/>
              </a:defRPr>
            </a:lvl1pPr>
          </a:lstStyle>
          <a:p>
            <a:pPr>
              <a:defRPr/>
            </a:pPr>
            <a:r>
              <a:rPr lang="zh-CN" altLang="en-US"/>
              <a:t>西安电子科技大学 </a:t>
            </a:r>
            <a:r>
              <a:rPr lang="en-US" altLang="zh-CN"/>
              <a:t>TI-DSP</a:t>
            </a:r>
            <a:r>
              <a:rPr lang="zh-CN" altLang="en-US"/>
              <a:t>实验室</a:t>
            </a:r>
          </a:p>
        </p:txBody>
      </p:sp>
    </p:spTree>
    <p:extLst>
      <p:ext uri="{BB962C8B-B14F-4D97-AF65-F5344CB8AC3E}">
        <p14:creationId xmlns:p14="http://schemas.microsoft.com/office/powerpoint/2010/main" val="3885521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76E24C-77C8-418F-A04A-C99D6068552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38632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3A1056-DE10-4DCC-A437-55C2C852C8F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955901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71600" y="1676400"/>
            <a:ext cx="33528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76800" y="1676400"/>
            <a:ext cx="33528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689C25-7194-48B3-8B2E-ECA022965AB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997188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599F2A-5C31-4319-B805-171932E6D13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018375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9D6CF8-3AE1-4D2E-BBF1-D8AE5C0C64D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524534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42C72B-60FF-46D2-BEEF-C6F006DBF24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443339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E23A72-6FFA-40EF-95F8-1E49A537F216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00886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F84AC6-0165-439C-AB63-547D96C518D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432296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1149F6-14E3-4E9D-8CD7-D0BF8529531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110859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381000"/>
            <a:ext cx="1714500" cy="55626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370013" y="381000"/>
            <a:ext cx="4992687" cy="55626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FC1FE0-D6EF-46D0-B954-8D60716BB52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574049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0013" y="381000"/>
            <a:ext cx="685958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371600" y="1676400"/>
            <a:ext cx="33528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76800" y="1676400"/>
            <a:ext cx="33528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876800" y="3886200"/>
            <a:ext cx="33528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1D6D13-E39A-4C9E-844C-260D2A6C151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415113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0013" y="381000"/>
            <a:ext cx="685958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1371600" y="1676400"/>
            <a:ext cx="33528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876800" y="1676400"/>
            <a:ext cx="33528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F5B00E-1227-482B-AC65-E86178910ACA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187638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370013" y="381000"/>
            <a:ext cx="6859587" cy="11430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371600" y="1676400"/>
            <a:ext cx="33528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876800" y="1676400"/>
            <a:ext cx="33528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876800" y="3886200"/>
            <a:ext cx="33528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651CBD-B747-4E59-96F9-CD020F667D3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709471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6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370013" y="381000"/>
            <a:ext cx="68595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7" rIns="92075" bIns="46037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71600" y="1676400"/>
            <a:ext cx="685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7" rIns="92075" bIns="4603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72708" name="Rectangle 4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228600" y="6326188"/>
            <a:ext cx="1905000" cy="379412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7" rIns="92075" bIns="46037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270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286000" y="6324600"/>
            <a:ext cx="2895600" cy="379413"/>
          </a:xfrm>
          <a:prstGeom prst="rect">
            <a:avLst/>
          </a:prstGeom>
          <a:noFill/>
          <a:ln>
            <a:noFill/>
          </a:ln>
        </p:spPr>
        <p:txBody>
          <a:bodyPr vert="horz" wrap="square" lIns="92075" tIns="46037" rIns="92075" bIns="46037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latin typeface="Tahoma" panose="020B0604030504040204" pitchFamily="34" charset="0"/>
                <a:ea typeface="+mn-ea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271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410200" y="6324600"/>
            <a:ext cx="1905000" cy="379413"/>
          </a:xfrm>
          <a:prstGeom prst="rect">
            <a:avLst/>
          </a:prstGeom>
          <a:noFill/>
          <a:ln>
            <a:noFill/>
          </a:ln>
        </p:spPr>
        <p:txBody>
          <a:bodyPr vert="horz" wrap="none" lIns="92075" tIns="46037" rIns="92075" bIns="46037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b="1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727E42B9-68D8-4C62-874D-85289C7E269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  <p:sldLayoutId id="2147483713" r:id="rId1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rgbClr val="0000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宋体" panose="02010600030101010101" pitchFamily="2" charset="-122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宋体" panose="02010600030101010101" pitchFamily="2" charset="-122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宋体" panose="02010600030101010101" pitchFamily="2" charset="-122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宋体" panose="02010600030101010101" pitchFamily="2" charset="-122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宋体" panose="02010600030101010101" pitchFamily="2" charset="-122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宋体" panose="02010600030101010101" pitchFamily="2" charset="-122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宋体" panose="02010600030101010101" pitchFamily="2" charset="-122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200" b="1">
          <a:solidFill>
            <a:srgbClr val="000000"/>
          </a:solidFill>
          <a:latin typeface="宋体" panose="02010600030101010101" pitchFamily="2" charset="-122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200" kern="1200">
          <a:solidFill>
            <a:srgbClr val="000000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rgbClr val="000000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ern="1200">
          <a:solidFill>
            <a:srgbClr val="000000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kern="1200">
          <a:solidFill>
            <a:srgbClr val="000000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22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51.xml"/><Relationship Id="rId5" Type="http://schemas.openxmlformats.org/officeDocument/2006/relationships/slide" Target="slide75.xml"/><Relationship Id="rId4" Type="http://schemas.openxmlformats.org/officeDocument/2006/relationships/slide" Target="slide4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8.xml"/><Relationship Id="rId4" Type="http://schemas.openxmlformats.org/officeDocument/2006/relationships/slide" Target="slide8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12" Type="http://schemas.openxmlformats.org/officeDocument/2006/relationships/slide" Target="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wmf"/><Relationship Id="rId11" Type="http://schemas.openxmlformats.org/officeDocument/2006/relationships/slide" Target="slide2.xml"/><Relationship Id="rId5" Type="http://schemas.openxmlformats.org/officeDocument/2006/relationships/oleObject" Target="../embeddings/oleObject2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4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w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12" Type="http://schemas.openxmlformats.org/officeDocument/2006/relationships/slide" Target="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7.wmf"/><Relationship Id="rId11" Type="http://schemas.openxmlformats.org/officeDocument/2006/relationships/slide" Target="slide2.xml"/><Relationship Id="rId5" Type="http://schemas.openxmlformats.org/officeDocument/2006/relationships/oleObject" Target="../embeddings/oleObject6.bin"/><Relationship Id="rId10" Type="http://schemas.openxmlformats.org/officeDocument/2006/relationships/image" Target="../media/image9.wmf"/><Relationship Id="rId4" Type="http://schemas.openxmlformats.org/officeDocument/2006/relationships/image" Target="../media/image6.wmf"/><Relationship Id="rId9" Type="http://schemas.openxmlformats.org/officeDocument/2006/relationships/oleObject" Target="../embeddings/oleObject8.bin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oleObject" Target="../embeddings/oleObject9.bin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3.vml"/><Relationship Id="rId6" Type="http://schemas.openxmlformats.org/officeDocument/2006/relationships/oleObject" Target="../embeddings/oleObject10.bin"/><Relationship Id="rId5" Type="http://schemas.openxmlformats.org/officeDocument/2006/relationships/image" Target="../media/image12.png"/><Relationship Id="rId4" Type="http://schemas.openxmlformats.org/officeDocument/2006/relationships/image" Target="../media/image10.wmf"/><Relationship Id="rId9" Type="http://schemas.openxmlformats.org/officeDocument/2006/relationships/slide" Target="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slide" Target="slide4.xml"/><Relationship Id="rId5" Type="http://schemas.openxmlformats.org/officeDocument/2006/relationships/slide" Target="slide2.xml"/><Relationship Id="rId4" Type="http://schemas.openxmlformats.org/officeDocument/2006/relationships/image" Target="../media/image13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slide" Target="slide4.xml"/><Relationship Id="rId3" Type="http://schemas.openxmlformats.org/officeDocument/2006/relationships/oleObject" Target="../embeddings/oleObject12.bin"/><Relationship Id="rId7" Type="http://schemas.openxmlformats.org/officeDocument/2006/relationships/slide" Target="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5.w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4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wmf"/><Relationship Id="rId13" Type="http://schemas.openxmlformats.org/officeDocument/2006/relationships/oleObject" Target="../embeddings/oleObject19.bin"/><Relationship Id="rId18" Type="http://schemas.openxmlformats.org/officeDocument/2006/relationships/oleObject" Target="../embeddings/oleObject22.bin"/><Relationship Id="rId3" Type="http://schemas.openxmlformats.org/officeDocument/2006/relationships/oleObject" Target="../embeddings/oleObject14.bin"/><Relationship Id="rId21" Type="http://schemas.openxmlformats.org/officeDocument/2006/relationships/image" Target="../media/image24.emf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20.wmf"/><Relationship Id="rId17" Type="http://schemas.openxmlformats.org/officeDocument/2006/relationships/image" Target="../media/image22.emf"/><Relationship Id="rId25" Type="http://schemas.openxmlformats.org/officeDocument/2006/relationships/image" Target="../media/image26.wmf"/><Relationship Id="rId2" Type="http://schemas.openxmlformats.org/officeDocument/2006/relationships/slideLayout" Target="../slideLayouts/slideLayout6.xml"/><Relationship Id="rId16" Type="http://schemas.openxmlformats.org/officeDocument/2006/relationships/oleObject" Target="../embeddings/oleObject21.bin"/><Relationship Id="rId20" Type="http://schemas.openxmlformats.org/officeDocument/2006/relationships/oleObject" Target="../embeddings/oleObject23.bin"/><Relationship Id="rId1" Type="http://schemas.openxmlformats.org/officeDocument/2006/relationships/vmlDrawing" Target="../drawings/vmlDrawing6.vml"/><Relationship Id="rId6" Type="http://schemas.openxmlformats.org/officeDocument/2006/relationships/image" Target="../media/image17.wmf"/><Relationship Id="rId11" Type="http://schemas.openxmlformats.org/officeDocument/2006/relationships/oleObject" Target="../embeddings/oleObject18.bin"/><Relationship Id="rId24" Type="http://schemas.openxmlformats.org/officeDocument/2006/relationships/oleObject" Target="../embeddings/oleObject25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23" Type="http://schemas.openxmlformats.org/officeDocument/2006/relationships/image" Target="../media/image25.wmf"/><Relationship Id="rId10" Type="http://schemas.openxmlformats.org/officeDocument/2006/relationships/image" Target="../media/image19.wmf"/><Relationship Id="rId19" Type="http://schemas.openxmlformats.org/officeDocument/2006/relationships/image" Target="../media/image23.emf"/><Relationship Id="rId4" Type="http://schemas.openxmlformats.org/officeDocument/2006/relationships/image" Target="../media/image16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1.wmf"/><Relationship Id="rId22" Type="http://schemas.openxmlformats.org/officeDocument/2006/relationships/oleObject" Target="../embeddings/oleObject24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13" Type="http://schemas.openxmlformats.org/officeDocument/2006/relationships/oleObject" Target="../embeddings/oleObject31.bin"/><Relationship Id="rId18" Type="http://schemas.openxmlformats.org/officeDocument/2006/relationships/image" Target="../media/image32.wmf"/><Relationship Id="rId3" Type="http://schemas.openxmlformats.org/officeDocument/2006/relationships/oleObject" Target="../embeddings/oleObject26.bin"/><Relationship Id="rId7" Type="http://schemas.openxmlformats.org/officeDocument/2006/relationships/oleObject" Target="../embeddings/oleObject28.bin"/><Relationship Id="rId12" Type="http://schemas.openxmlformats.org/officeDocument/2006/relationships/image" Target="../media/image29.wmf"/><Relationship Id="rId17" Type="http://schemas.openxmlformats.org/officeDocument/2006/relationships/oleObject" Target="../embeddings/oleObject33.bin"/><Relationship Id="rId2" Type="http://schemas.openxmlformats.org/officeDocument/2006/relationships/slideLayout" Target="../slideLayouts/slideLayout6.xml"/><Relationship Id="rId16" Type="http://schemas.openxmlformats.org/officeDocument/2006/relationships/image" Target="../media/image31.wmf"/><Relationship Id="rId20" Type="http://schemas.openxmlformats.org/officeDocument/2006/relationships/slide" Target="slide4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6.wmf"/><Relationship Id="rId11" Type="http://schemas.openxmlformats.org/officeDocument/2006/relationships/oleObject" Target="../embeddings/oleObject30.bin"/><Relationship Id="rId5" Type="http://schemas.openxmlformats.org/officeDocument/2006/relationships/oleObject" Target="../embeddings/oleObject27.bin"/><Relationship Id="rId15" Type="http://schemas.openxmlformats.org/officeDocument/2006/relationships/oleObject" Target="../embeddings/oleObject32.bin"/><Relationship Id="rId10" Type="http://schemas.openxmlformats.org/officeDocument/2006/relationships/image" Target="../media/image28.wmf"/><Relationship Id="rId19" Type="http://schemas.openxmlformats.org/officeDocument/2006/relationships/slide" Target="slide2.xml"/><Relationship Id="rId4" Type="http://schemas.openxmlformats.org/officeDocument/2006/relationships/image" Target="../media/image18.wmf"/><Relationship Id="rId9" Type="http://schemas.openxmlformats.org/officeDocument/2006/relationships/oleObject" Target="../embeddings/oleObject29.bin"/><Relationship Id="rId14" Type="http://schemas.openxmlformats.org/officeDocument/2006/relationships/image" Target="../media/image30.w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wmf"/><Relationship Id="rId13" Type="http://schemas.openxmlformats.org/officeDocument/2006/relationships/oleObject" Target="../embeddings/oleObject39.bin"/><Relationship Id="rId18" Type="http://schemas.openxmlformats.org/officeDocument/2006/relationships/slide" Target="slide4.xml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12" Type="http://schemas.openxmlformats.org/officeDocument/2006/relationships/image" Target="../media/image37.wmf"/><Relationship Id="rId17" Type="http://schemas.openxmlformats.org/officeDocument/2006/relationships/slide" Target="slide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9.wmf"/><Relationship Id="rId1" Type="http://schemas.openxmlformats.org/officeDocument/2006/relationships/vmlDrawing" Target="../drawings/vmlDrawing8.vml"/><Relationship Id="rId6" Type="http://schemas.openxmlformats.org/officeDocument/2006/relationships/image" Target="../media/image34.wmf"/><Relationship Id="rId11" Type="http://schemas.openxmlformats.org/officeDocument/2006/relationships/oleObject" Target="../embeddings/oleObject38.bin"/><Relationship Id="rId5" Type="http://schemas.openxmlformats.org/officeDocument/2006/relationships/oleObject" Target="../embeddings/oleObject35.bin"/><Relationship Id="rId15" Type="http://schemas.openxmlformats.org/officeDocument/2006/relationships/oleObject" Target="../embeddings/oleObject40.bin"/><Relationship Id="rId10" Type="http://schemas.openxmlformats.org/officeDocument/2006/relationships/image" Target="../media/image36.wmf"/><Relationship Id="rId4" Type="http://schemas.openxmlformats.org/officeDocument/2006/relationships/image" Target="../media/image33.wmf"/><Relationship Id="rId9" Type="http://schemas.openxmlformats.org/officeDocument/2006/relationships/oleObject" Target="../embeddings/oleObject37.bin"/><Relationship Id="rId14" Type="http://schemas.openxmlformats.org/officeDocument/2006/relationships/image" Target="../media/image38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image" Target="../media/image42.png"/><Relationship Id="rId7" Type="http://schemas.openxmlformats.org/officeDocument/2006/relationships/image" Target="../media/image4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oleObject" Target="../embeddings/oleObject42.bin"/><Relationship Id="rId5" Type="http://schemas.openxmlformats.org/officeDocument/2006/relationships/image" Target="../media/image40.wmf"/><Relationship Id="rId4" Type="http://schemas.openxmlformats.org/officeDocument/2006/relationships/oleObject" Target="../embeddings/oleObject41.bin"/><Relationship Id="rId9" Type="http://schemas.openxmlformats.org/officeDocument/2006/relationships/slide" Target="slide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wmf"/><Relationship Id="rId13" Type="http://schemas.openxmlformats.org/officeDocument/2006/relationships/slide" Target="slide2.xml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47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44.wmf"/><Relationship Id="rId11" Type="http://schemas.openxmlformats.org/officeDocument/2006/relationships/oleObject" Target="../embeddings/oleObject47.bin"/><Relationship Id="rId5" Type="http://schemas.openxmlformats.org/officeDocument/2006/relationships/oleObject" Target="../embeddings/oleObject44.bin"/><Relationship Id="rId10" Type="http://schemas.openxmlformats.org/officeDocument/2006/relationships/image" Target="../media/image46.wmf"/><Relationship Id="rId4" Type="http://schemas.openxmlformats.org/officeDocument/2006/relationships/image" Target="../media/image43.wmf"/><Relationship Id="rId9" Type="http://schemas.openxmlformats.org/officeDocument/2006/relationships/oleObject" Target="../embeddings/oleObject46.bin"/><Relationship Id="rId14" Type="http://schemas.openxmlformats.org/officeDocument/2006/relationships/slide" Target="slide4.xml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oleObject" Target="../embeddings/oleObject53.bin"/><Relationship Id="rId18" Type="http://schemas.openxmlformats.org/officeDocument/2006/relationships/oleObject" Target="../embeddings/oleObject56.bin"/><Relationship Id="rId26" Type="http://schemas.openxmlformats.org/officeDocument/2006/relationships/oleObject" Target="../embeddings/oleObject61.bin"/><Relationship Id="rId21" Type="http://schemas.openxmlformats.org/officeDocument/2006/relationships/image" Target="../media/image56.wmf"/><Relationship Id="rId34" Type="http://schemas.openxmlformats.org/officeDocument/2006/relationships/image" Target="../media/image60.wmf"/><Relationship Id="rId7" Type="http://schemas.openxmlformats.org/officeDocument/2006/relationships/oleObject" Target="../embeddings/oleObject50.bin"/><Relationship Id="rId12" Type="http://schemas.openxmlformats.org/officeDocument/2006/relationships/image" Target="../media/image52.wmf"/><Relationship Id="rId17" Type="http://schemas.openxmlformats.org/officeDocument/2006/relationships/oleObject" Target="../embeddings/oleObject55.bin"/><Relationship Id="rId25" Type="http://schemas.openxmlformats.org/officeDocument/2006/relationships/oleObject" Target="../embeddings/oleObject60.bin"/><Relationship Id="rId33" Type="http://schemas.openxmlformats.org/officeDocument/2006/relationships/oleObject" Target="../embeddings/oleObject66.bin"/><Relationship Id="rId38" Type="http://schemas.openxmlformats.org/officeDocument/2006/relationships/slide" Target="slide4.xml"/><Relationship Id="rId2" Type="http://schemas.openxmlformats.org/officeDocument/2006/relationships/slideLayout" Target="../slideLayouts/slideLayout7.xml"/><Relationship Id="rId16" Type="http://schemas.openxmlformats.org/officeDocument/2006/relationships/image" Target="../media/image54.wmf"/><Relationship Id="rId20" Type="http://schemas.openxmlformats.org/officeDocument/2006/relationships/oleObject" Target="../embeddings/oleObject57.bin"/><Relationship Id="rId29" Type="http://schemas.openxmlformats.org/officeDocument/2006/relationships/oleObject" Target="../embeddings/oleObject63.bin"/><Relationship Id="rId1" Type="http://schemas.openxmlformats.org/officeDocument/2006/relationships/vmlDrawing" Target="../drawings/vmlDrawing11.vml"/><Relationship Id="rId6" Type="http://schemas.openxmlformats.org/officeDocument/2006/relationships/image" Target="../media/image49.wmf"/><Relationship Id="rId11" Type="http://schemas.openxmlformats.org/officeDocument/2006/relationships/oleObject" Target="../embeddings/oleObject52.bin"/><Relationship Id="rId24" Type="http://schemas.openxmlformats.org/officeDocument/2006/relationships/oleObject" Target="../embeddings/oleObject59.bin"/><Relationship Id="rId32" Type="http://schemas.openxmlformats.org/officeDocument/2006/relationships/image" Target="../media/image59.wmf"/><Relationship Id="rId37" Type="http://schemas.openxmlformats.org/officeDocument/2006/relationships/slide" Target="slide2.xml"/><Relationship Id="rId5" Type="http://schemas.openxmlformats.org/officeDocument/2006/relationships/oleObject" Target="../embeddings/oleObject49.bin"/><Relationship Id="rId15" Type="http://schemas.openxmlformats.org/officeDocument/2006/relationships/oleObject" Target="../embeddings/oleObject54.bin"/><Relationship Id="rId23" Type="http://schemas.openxmlformats.org/officeDocument/2006/relationships/image" Target="../media/image57.wmf"/><Relationship Id="rId28" Type="http://schemas.openxmlformats.org/officeDocument/2006/relationships/oleObject" Target="../embeddings/oleObject62.bin"/><Relationship Id="rId36" Type="http://schemas.openxmlformats.org/officeDocument/2006/relationships/image" Target="../media/image61.wmf"/><Relationship Id="rId10" Type="http://schemas.openxmlformats.org/officeDocument/2006/relationships/image" Target="../media/image51.wmf"/><Relationship Id="rId19" Type="http://schemas.openxmlformats.org/officeDocument/2006/relationships/image" Target="../media/image55.wmf"/><Relationship Id="rId31" Type="http://schemas.openxmlformats.org/officeDocument/2006/relationships/oleObject" Target="../embeddings/oleObject65.bin"/><Relationship Id="rId4" Type="http://schemas.openxmlformats.org/officeDocument/2006/relationships/image" Target="../media/image48.wmf"/><Relationship Id="rId9" Type="http://schemas.openxmlformats.org/officeDocument/2006/relationships/oleObject" Target="../embeddings/oleObject51.bin"/><Relationship Id="rId14" Type="http://schemas.openxmlformats.org/officeDocument/2006/relationships/image" Target="../media/image53.wmf"/><Relationship Id="rId22" Type="http://schemas.openxmlformats.org/officeDocument/2006/relationships/oleObject" Target="../embeddings/oleObject58.bin"/><Relationship Id="rId27" Type="http://schemas.openxmlformats.org/officeDocument/2006/relationships/image" Target="../media/image58.wmf"/><Relationship Id="rId30" Type="http://schemas.openxmlformats.org/officeDocument/2006/relationships/oleObject" Target="../embeddings/oleObject64.bin"/><Relationship Id="rId35" Type="http://schemas.openxmlformats.org/officeDocument/2006/relationships/oleObject" Target="../embeddings/oleObject67.bin"/><Relationship Id="rId8" Type="http://schemas.openxmlformats.org/officeDocument/2006/relationships/image" Target="../media/image50.wmf"/><Relationship Id="rId3" Type="http://schemas.openxmlformats.org/officeDocument/2006/relationships/oleObject" Target="../embeddings/oleObject48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wmf"/><Relationship Id="rId3" Type="http://schemas.openxmlformats.org/officeDocument/2006/relationships/oleObject" Target="../embeddings/oleObject68.bin"/><Relationship Id="rId7" Type="http://schemas.openxmlformats.org/officeDocument/2006/relationships/oleObject" Target="../embeddings/oleObject70.bin"/><Relationship Id="rId12" Type="http://schemas.openxmlformats.org/officeDocument/2006/relationships/slide" Target="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6" Type="http://schemas.openxmlformats.org/officeDocument/2006/relationships/image" Target="../media/image63.wmf"/><Relationship Id="rId11" Type="http://schemas.openxmlformats.org/officeDocument/2006/relationships/slide" Target="slide2.xml"/><Relationship Id="rId5" Type="http://schemas.openxmlformats.org/officeDocument/2006/relationships/oleObject" Target="../embeddings/oleObject69.bin"/><Relationship Id="rId10" Type="http://schemas.openxmlformats.org/officeDocument/2006/relationships/image" Target="../media/image65.wmf"/><Relationship Id="rId4" Type="http://schemas.openxmlformats.org/officeDocument/2006/relationships/image" Target="../media/image62.wmf"/><Relationship Id="rId9" Type="http://schemas.openxmlformats.org/officeDocument/2006/relationships/oleObject" Target="../embeddings/oleObject71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wmf"/><Relationship Id="rId13" Type="http://schemas.openxmlformats.org/officeDocument/2006/relationships/oleObject" Target="../embeddings/oleObject77.bin"/><Relationship Id="rId18" Type="http://schemas.openxmlformats.org/officeDocument/2006/relationships/slide" Target="slide2.xml"/><Relationship Id="rId3" Type="http://schemas.openxmlformats.org/officeDocument/2006/relationships/oleObject" Target="../embeddings/oleObject72.bin"/><Relationship Id="rId7" Type="http://schemas.openxmlformats.org/officeDocument/2006/relationships/oleObject" Target="../embeddings/oleObject74.bin"/><Relationship Id="rId12" Type="http://schemas.openxmlformats.org/officeDocument/2006/relationships/image" Target="../media/image69.wmf"/><Relationship Id="rId17" Type="http://schemas.openxmlformats.org/officeDocument/2006/relationships/oleObject" Target="../embeddings/oleObject79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64.wmf"/><Relationship Id="rId1" Type="http://schemas.openxmlformats.org/officeDocument/2006/relationships/vmlDrawing" Target="../drawings/vmlDrawing13.vml"/><Relationship Id="rId6" Type="http://schemas.openxmlformats.org/officeDocument/2006/relationships/image" Target="../media/image67.wmf"/><Relationship Id="rId11" Type="http://schemas.openxmlformats.org/officeDocument/2006/relationships/oleObject" Target="../embeddings/oleObject76.bin"/><Relationship Id="rId5" Type="http://schemas.openxmlformats.org/officeDocument/2006/relationships/oleObject" Target="../embeddings/oleObject73.bin"/><Relationship Id="rId15" Type="http://schemas.openxmlformats.org/officeDocument/2006/relationships/oleObject" Target="../embeddings/oleObject78.bin"/><Relationship Id="rId10" Type="http://schemas.openxmlformats.org/officeDocument/2006/relationships/image" Target="../media/image45.wmf"/><Relationship Id="rId19" Type="http://schemas.openxmlformats.org/officeDocument/2006/relationships/slide" Target="slide4.xml"/><Relationship Id="rId4" Type="http://schemas.openxmlformats.org/officeDocument/2006/relationships/image" Target="../media/image66.wmf"/><Relationship Id="rId9" Type="http://schemas.openxmlformats.org/officeDocument/2006/relationships/oleObject" Target="../embeddings/oleObject75.bin"/><Relationship Id="rId14" Type="http://schemas.openxmlformats.org/officeDocument/2006/relationships/image" Target="../media/image46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wmf"/><Relationship Id="rId3" Type="http://schemas.openxmlformats.org/officeDocument/2006/relationships/oleObject" Target="../embeddings/oleObject80.bin"/><Relationship Id="rId7" Type="http://schemas.openxmlformats.org/officeDocument/2006/relationships/oleObject" Target="../embeddings/oleObject8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71.wmf"/><Relationship Id="rId11" Type="http://schemas.openxmlformats.org/officeDocument/2006/relationships/slide" Target="slide4.xml"/><Relationship Id="rId5" Type="http://schemas.openxmlformats.org/officeDocument/2006/relationships/oleObject" Target="../embeddings/oleObject81.bin"/><Relationship Id="rId10" Type="http://schemas.openxmlformats.org/officeDocument/2006/relationships/slide" Target="slide2.xml"/><Relationship Id="rId4" Type="http://schemas.openxmlformats.org/officeDocument/2006/relationships/image" Target="../media/image70.wmf"/><Relationship Id="rId9" Type="http://schemas.openxmlformats.org/officeDocument/2006/relationships/oleObject" Target="../embeddings/oleObject83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wmf"/><Relationship Id="rId3" Type="http://schemas.openxmlformats.org/officeDocument/2006/relationships/oleObject" Target="../embeddings/oleObject84.bin"/><Relationship Id="rId7" Type="http://schemas.openxmlformats.org/officeDocument/2006/relationships/oleObject" Target="../embeddings/oleObject8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74.wmf"/><Relationship Id="rId5" Type="http://schemas.openxmlformats.org/officeDocument/2006/relationships/oleObject" Target="../embeddings/oleObject85.bin"/><Relationship Id="rId10" Type="http://schemas.openxmlformats.org/officeDocument/2006/relationships/slide" Target="slide4.xml"/><Relationship Id="rId4" Type="http://schemas.openxmlformats.org/officeDocument/2006/relationships/image" Target="../media/image73.wmf"/><Relationship Id="rId9" Type="http://schemas.openxmlformats.org/officeDocument/2006/relationships/slide" Target="slide2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wmf"/><Relationship Id="rId13" Type="http://schemas.openxmlformats.org/officeDocument/2006/relationships/slide" Target="slide2.xml"/><Relationship Id="rId3" Type="http://schemas.openxmlformats.org/officeDocument/2006/relationships/oleObject" Target="../embeddings/oleObject87.bin"/><Relationship Id="rId7" Type="http://schemas.openxmlformats.org/officeDocument/2006/relationships/oleObject" Target="../embeddings/oleObject89.bin"/><Relationship Id="rId12" Type="http://schemas.openxmlformats.org/officeDocument/2006/relationships/image" Target="../media/image7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75.wmf"/><Relationship Id="rId11" Type="http://schemas.openxmlformats.org/officeDocument/2006/relationships/oleObject" Target="../embeddings/oleObject91.bin"/><Relationship Id="rId5" Type="http://schemas.openxmlformats.org/officeDocument/2006/relationships/oleObject" Target="../embeddings/oleObject88.bin"/><Relationship Id="rId10" Type="http://schemas.openxmlformats.org/officeDocument/2006/relationships/image" Target="../media/image77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90.bin"/><Relationship Id="rId14" Type="http://schemas.openxmlformats.org/officeDocument/2006/relationships/slide" Target="slide4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wmf"/><Relationship Id="rId13" Type="http://schemas.openxmlformats.org/officeDocument/2006/relationships/slide" Target="slide2.xml"/><Relationship Id="rId3" Type="http://schemas.openxmlformats.org/officeDocument/2006/relationships/oleObject" Target="../embeddings/oleObject92.bin"/><Relationship Id="rId7" Type="http://schemas.openxmlformats.org/officeDocument/2006/relationships/oleObject" Target="../embeddings/oleObject94.bin"/><Relationship Id="rId12" Type="http://schemas.openxmlformats.org/officeDocument/2006/relationships/image" Target="../media/image8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6" Type="http://schemas.openxmlformats.org/officeDocument/2006/relationships/image" Target="../media/image79.wmf"/><Relationship Id="rId11" Type="http://schemas.openxmlformats.org/officeDocument/2006/relationships/oleObject" Target="../embeddings/oleObject96.bin"/><Relationship Id="rId5" Type="http://schemas.openxmlformats.org/officeDocument/2006/relationships/oleObject" Target="../embeddings/oleObject93.bin"/><Relationship Id="rId10" Type="http://schemas.openxmlformats.org/officeDocument/2006/relationships/image" Target="../media/image81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95.bin"/><Relationship Id="rId14" Type="http://schemas.openxmlformats.org/officeDocument/2006/relationships/slide" Target="slide4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slide" Target="slide36.xml"/><Relationship Id="rId3" Type="http://schemas.openxmlformats.org/officeDocument/2006/relationships/slide" Target="slide23.xml"/><Relationship Id="rId7" Type="http://schemas.openxmlformats.org/officeDocument/2006/relationships/slide" Target="slide28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7.xml"/><Relationship Id="rId5" Type="http://schemas.openxmlformats.org/officeDocument/2006/relationships/slide" Target="slide25.xml"/><Relationship Id="rId4" Type="http://schemas.openxmlformats.org/officeDocument/2006/relationships/slide" Target="slide24.xml"/><Relationship Id="rId9" Type="http://schemas.openxmlformats.org/officeDocument/2006/relationships/slide" Target="slide41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wmf"/><Relationship Id="rId13" Type="http://schemas.openxmlformats.org/officeDocument/2006/relationships/oleObject" Target="../embeddings/oleObject102.bin"/><Relationship Id="rId18" Type="http://schemas.openxmlformats.org/officeDocument/2006/relationships/slide" Target="slide22.xml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12" Type="http://schemas.openxmlformats.org/officeDocument/2006/relationships/image" Target="../media/image87.wmf"/><Relationship Id="rId17" Type="http://schemas.openxmlformats.org/officeDocument/2006/relationships/slide" Target="slide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89.wmf"/><Relationship Id="rId1" Type="http://schemas.openxmlformats.org/officeDocument/2006/relationships/vmlDrawing" Target="../drawings/vmlDrawing18.vml"/><Relationship Id="rId6" Type="http://schemas.openxmlformats.org/officeDocument/2006/relationships/image" Target="../media/image84.wmf"/><Relationship Id="rId11" Type="http://schemas.openxmlformats.org/officeDocument/2006/relationships/oleObject" Target="../embeddings/oleObject101.bin"/><Relationship Id="rId5" Type="http://schemas.openxmlformats.org/officeDocument/2006/relationships/oleObject" Target="../embeddings/oleObject98.bin"/><Relationship Id="rId15" Type="http://schemas.openxmlformats.org/officeDocument/2006/relationships/oleObject" Target="../embeddings/oleObject103.bin"/><Relationship Id="rId10" Type="http://schemas.openxmlformats.org/officeDocument/2006/relationships/image" Target="../media/image86.w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100.bin"/><Relationship Id="rId14" Type="http://schemas.openxmlformats.org/officeDocument/2006/relationships/image" Target="../media/image88.w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oleObject" Target="../embeddings/oleObject104.bin"/><Relationship Id="rId7" Type="http://schemas.openxmlformats.org/officeDocument/2006/relationships/oleObject" Target="../embeddings/oleObject10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9.vml"/><Relationship Id="rId6" Type="http://schemas.openxmlformats.org/officeDocument/2006/relationships/image" Target="../media/image26.wmf"/><Relationship Id="rId5" Type="http://schemas.openxmlformats.org/officeDocument/2006/relationships/oleObject" Target="../embeddings/oleObject105.bin"/><Relationship Id="rId4" Type="http://schemas.openxmlformats.org/officeDocument/2006/relationships/image" Target="../media/image25.wmf"/><Relationship Id="rId9" Type="http://schemas.openxmlformats.org/officeDocument/2006/relationships/slide" Target="slide2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wmf"/><Relationship Id="rId3" Type="http://schemas.openxmlformats.org/officeDocument/2006/relationships/oleObject" Target="../embeddings/oleObject107.bin"/><Relationship Id="rId7" Type="http://schemas.openxmlformats.org/officeDocument/2006/relationships/oleObject" Target="../embeddings/oleObject109.bin"/><Relationship Id="rId12" Type="http://schemas.openxmlformats.org/officeDocument/2006/relationships/slide" Target="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0.vml"/><Relationship Id="rId6" Type="http://schemas.openxmlformats.org/officeDocument/2006/relationships/image" Target="../media/image91.wmf"/><Relationship Id="rId11" Type="http://schemas.openxmlformats.org/officeDocument/2006/relationships/slide" Target="slide2.xml"/><Relationship Id="rId5" Type="http://schemas.openxmlformats.org/officeDocument/2006/relationships/oleObject" Target="../embeddings/oleObject108.bin"/><Relationship Id="rId10" Type="http://schemas.openxmlformats.org/officeDocument/2006/relationships/image" Target="../media/image93.wmf"/><Relationship Id="rId4" Type="http://schemas.openxmlformats.org/officeDocument/2006/relationships/image" Target="../media/image90.wmf"/><Relationship Id="rId9" Type="http://schemas.openxmlformats.org/officeDocument/2006/relationships/oleObject" Target="../embeddings/oleObject110.bin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2.xml"/><Relationship Id="rId4" Type="http://schemas.openxmlformats.org/officeDocument/2006/relationships/slide" Target="slide2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wmf"/><Relationship Id="rId13" Type="http://schemas.openxmlformats.org/officeDocument/2006/relationships/oleObject" Target="../embeddings/oleObject116.bin"/><Relationship Id="rId18" Type="http://schemas.openxmlformats.org/officeDocument/2006/relationships/slide" Target="slide22.xml"/><Relationship Id="rId3" Type="http://schemas.openxmlformats.org/officeDocument/2006/relationships/oleObject" Target="../embeddings/oleObject111.bin"/><Relationship Id="rId7" Type="http://schemas.openxmlformats.org/officeDocument/2006/relationships/oleObject" Target="../embeddings/oleObject113.bin"/><Relationship Id="rId12" Type="http://schemas.openxmlformats.org/officeDocument/2006/relationships/image" Target="../media/image99.wmf"/><Relationship Id="rId17" Type="http://schemas.openxmlformats.org/officeDocument/2006/relationships/slide" Target="slide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1.wmf"/><Relationship Id="rId1" Type="http://schemas.openxmlformats.org/officeDocument/2006/relationships/vmlDrawing" Target="../drawings/vmlDrawing21.vml"/><Relationship Id="rId6" Type="http://schemas.openxmlformats.org/officeDocument/2006/relationships/image" Target="../media/image96.wmf"/><Relationship Id="rId11" Type="http://schemas.openxmlformats.org/officeDocument/2006/relationships/oleObject" Target="../embeddings/oleObject115.bin"/><Relationship Id="rId5" Type="http://schemas.openxmlformats.org/officeDocument/2006/relationships/oleObject" Target="../embeddings/oleObject112.bin"/><Relationship Id="rId15" Type="http://schemas.openxmlformats.org/officeDocument/2006/relationships/oleObject" Target="../embeddings/oleObject117.bin"/><Relationship Id="rId10" Type="http://schemas.openxmlformats.org/officeDocument/2006/relationships/image" Target="../media/image98.wmf"/><Relationship Id="rId4" Type="http://schemas.openxmlformats.org/officeDocument/2006/relationships/image" Target="../media/image95.wmf"/><Relationship Id="rId9" Type="http://schemas.openxmlformats.org/officeDocument/2006/relationships/oleObject" Target="../embeddings/oleObject114.bin"/><Relationship Id="rId14" Type="http://schemas.openxmlformats.org/officeDocument/2006/relationships/image" Target="../media/image100.wmf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1.bin"/><Relationship Id="rId13" Type="http://schemas.openxmlformats.org/officeDocument/2006/relationships/slide" Target="slide22.xml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12" Type="http://schemas.openxmlformats.org/officeDocument/2006/relationships/slide" Target="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2.vml"/><Relationship Id="rId6" Type="http://schemas.openxmlformats.org/officeDocument/2006/relationships/image" Target="../media/image103.wmf"/><Relationship Id="rId11" Type="http://schemas.openxmlformats.org/officeDocument/2006/relationships/image" Target="../media/image105.wmf"/><Relationship Id="rId5" Type="http://schemas.openxmlformats.org/officeDocument/2006/relationships/oleObject" Target="../embeddings/oleObject119.bin"/><Relationship Id="rId10" Type="http://schemas.openxmlformats.org/officeDocument/2006/relationships/oleObject" Target="../embeddings/oleObject122.bin"/><Relationship Id="rId4" Type="http://schemas.openxmlformats.org/officeDocument/2006/relationships/image" Target="../media/image102.wmf"/><Relationship Id="rId9" Type="http://schemas.openxmlformats.org/officeDocument/2006/relationships/image" Target="../media/image104.wmf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wmf"/><Relationship Id="rId13" Type="http://schemas.openxmlformats.org/officeDocument/2006/relationships/oleObject" Target="../embeddings/oleObject128.bin"/><Relationship Id="rId3" Type="http://schemas.openxmlformats.org/officeDocument/2006/relationships/oleObject" Target="../embeddings/oleObject123.bin"/><Relationship Id="rId7" Type="http://schemas.openxmlformats.org/officeDocument/2006/relationships/oleObject" Target="../embeddings/oleObject125.bin"/><Relationship Id="rId12" Type="http://schemas.openxmlformats.org/officeDocument/2006/relationships/image" Target="../media/image108.wmf"/><Relationship Id="rId2" Type="http://schemas.openxmlformats.org/officeDocument/2006/relationships/slideLayout" Target="../slideLayouts/slideLayout2.xml"/><Relationship Id="rId16" Type="http://schemas.openxmlformats.org/officeDocument/2006/relationships/slide" Target="slide22.xml"/><Relationship Id="rId1" Type="http://schemas.openxmlformats.org/officeDocument/2006/relationships/vmlDrawing" Target="../drawings/vmlDrawing23.vml"/><Relationship Id="rId6" Type="http://schemas.openxmlformats.org/officeDocument/2006/relationships/image" Target="../media/image107.wmf"/><Relationship Id="rId11" Type="http://schemas.openxmlformats.org/officeDocument/2006/relationships/oleObject" Target="../embeddings/oleObject127.bin"/><Relationship Id="rId5" Type="http://schemas.openxmlformats.org/officeDocument/2006/relationships/oleObject" Target="../embeddings/oleObject124.bin"/><Relationship Id="rId15" Type="http://schemas.openxmlformats.org/officeDocument/2006/relationships/slide" Target="slide2.xml"/><Relationship Id="rId10" Type="http://schemas.openxmlformats.org/officeDocument/2006/relationships/image" Target="../media/image104.wmf"/><Relationship Id="rId4" Type="http://schemas.openxmlformats.org/officeDocument/2006/relationships/image" Target="../media/image106.wmf"/><Relationship Id="rId9" Type="http://schemas.openxmlformats.org/officeDocument/2006/relationships/oleObject" Target="../embeddings/oleObject126.bin"/><Relationship Id="rId14" Type="http://schemas.openxmlformats.org/officeDocument/2006/relationships/image" Target="../media/image109.wmf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wmf"/><Relationship Id="rId3" Type="http://schemas.openxmlformats.org/officeDocument/2006/relationships/oleObject" Target="../embeddings/oleObject129.bin"/><Relationship Id="rId7" Type="http://schemas.openxmlformats.org/officeDocument/2006/relationships/oleObject" Target="../embeddings/oleObject131.bin"/><Relationship Id="rId12" Type="http://schemas.openxmlformats.org/officeDocument/2006/relationships/slide" Target="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4.vml"/><Relationship Id="rId6" Type="http://schemas.openxmlformats.org/officeDocument/2006/relationships/image" Target="../media/image111.wmf"/><Relationship Id="rId11" Type="http://schemas.openxmlformats.org/officeDocument/2006/relationships/slide" Target="slide2.xml"/><Relationship Id="rId5" Type="http://schemas.openxmlformats.org/officeDocument/2006/relationships/oleObject" Target="../embeddings/oleObject130.bin"/><Relationship Id="rId10" Type="http://schemas.openxmlformats.org/officeDocument/2006/relationships/image" Target="../media/image113.wmf"/><Relationship Id="rId4" Type="http://schemas.openxmlformats.org/officeDocument/2006/relationships/image" Target="../media/image110.wmf"/><Relationship Id="rId9" Type="http://schemas.openxmlformats.org/officeDocument/2006/relationships/oleObject" Target="../embeddings/oleObject132.bin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wmf"/><Relationship Id="rId13" Type="http://schemas.openxmlformats.org/officeDocument/2006/relationships/slide" Target="slide2.xml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12" Type="http://schemas.openxmlformats.org/officeDocument/2006/relationships/image" Target="../media/image11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5.vml"/><Relationship Id="rId6" Type="http://schemas.openxmlformats.org/officeDocument/2006/relationships/image" Target="../media/image115.wmf"/><Relationship Id="rId11" Type="http://schemas.openxmlformats.org/officeDocument/2006/relationships/oleObject" Target="../embeddings/oleObject137.bin"/><Relationship Id="rId5" Type="http://schemas.openxmlformats.org/officeDocument/2006/relationships/oleObject" Target="../embeddings/oleObject134.bin"/><Relationship Id="rId10" Type="http://schemas.openxmlformats.org/officeDocument/2006/relationships/image" Target="../media/image117.wmf"/><Relationship Id="rId4" Type="http://schemas.openxmlformats.org/officeDocument/2006/relationships/image" Target="../media/image114.wmf"/><Relationship Id="rId9" Type="http://schemas.openxmlformats.org/officeDocument/2006/relationships/oleObject" Target="../embeddings/oleObject136.bin"/><Relationship Id="rId14" Type="http://schemas.openxmlformats.org/officeDocument/2006/relationships/slide" Target="slide2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wmf"/><Relationship Id="rId3" Type="http://schemas.openxmlformats.org/officeDocument/2006/relationships/oleObject" Target="../embeddings/oleObject138.bin"/><Relationship Id="rId7" Type="http://schemas.openxmlformats.org/officeDocument/2006/relationships/oleObject" Target="../embeddings/oleObject140.bin"/><Relationship Id="rId12" Type="http://schemas.openxmlformats.org/officeDocument/2006/relationships/slide" Target="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6.vml"/><Relationship Id="rId6" Type="http://schemas.openxmlformats.org/officeDocument/2006/relationships/image" Target="../media/image120.wmf"/><Relationship Id="rId11" Type="http://schemas.openxmlformats.org/officeDocument/2006/relationships/slide" Target="slide2.xml"/><Relationship Id="rId5" Type="http://schemas.openxmlformats.org/officeDocument/2006/relationships/oleObject" Target="../embeddings/oleObject139.bin"/><Relationship Id="rId10" Type="http://schemas.openxmlformats.org/officeDocument/2006/relationships/image" Target="../media/image122.wmf"/><Relationship Id="rId4" Type="http://schemas.openxmlformats.org/officeDocument/2006/relationships/image" Target="../media/image119.wmf"/><Relationship Id="rId9" Type="http://schemas.openxmlformats.org/officeDocument/2006/relationships/oleObject" Target="../embeddings/oleObject141.bin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4.wmf"/><Relationship Id="rId13" Type="http://schemas.openxmlformats.org/officeDocument/2006/relationships/slide" Target="slide2.xml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26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7.vml"/><Relationship Id="rId6" Type="http://schemas.openxmlformats.org/officeDocument/2006/relationships/image" Target="../media/image123.wmf"/><Relationship Id="rId11" Type="http://schemas.openxmlformats.org/officeDocument/2006/relationships/oleObject" Target="../embeddings/oleObject146.bin"/><Relationship Id="rId5" Type="http://schemas.openxmlformats.org/officeDocument/2006/relationships/oleObject" Target="../embeddings/oleObject143.bin"/><Relationship Id="rId10" Type="http://schemas.openxmlformats.org/officeDocument/2006/relationships/image" Target="../media/image125.w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145.bin"/><Relationship Id="rId14" Type="http://schemas.openxmlformats.org/officeDocument/2006/relationships/slide" Target="slide22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0.bin"/><Relationship Id="rId13" Type="http://schemas.openxmlformats.org/officeDocument/2006/relationships/image" Target="../media/image130.wmf"/><Relationship Id="rId18" Type="http://schemas.openxmlformats.org/officeDocument/2006/relationships/oleObject" Target="../embeddings/oleObject156.bin"/><Relationship Id="rId3" Type="http://schemas.openxmlformats.org/officeDocument/2006/relationships/oleObject" Target="../embeddings/oleObject147.bin"/><Relationship Id="rId21" Type="http://schemas.openxmlformats.org/officeDocument/2006/relationships/image" Target="../media/image131.wmf"/><Relationship Id="rId7" Type="http://schemas.openxmlformats.org/officeDocument/2006/relationships/oleObject" Target="../embeddings/oleObject149.bin"/><Relationship Id="rId12" Type="http://schemas.openxmlformats.org/officeDocument/2006/relationships/oleObject" Target="../embeddings/oleObject152.bin"/><Relationship Id="rId17" Type="http://schemas.openxmlformats.org/officeDocument/2006/relationships/image" Target="../media/image123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155.bin"/><Relationship Id="rId20" Type="http://schemas.openxmlformats.org/officeDocument/2006/relationships/oleObject" Target="../embeddings/oleObject158.bin"/><Relationship Id="rId1" Type="http://schemas.openxmlformats.org/officeDocument/2006/relationships/vmlDrawing" Target="../drawings/vmlDrawing28.vml"/><Relationship Id="rId6" Type="http://schemas.openxmlformats.org/officeDocument/2006/relationships/image" Target="../media/image83.wmf"/><Relationship Id="rId11" Type="http://schemas.openxmlformats.org/officeDocument/2006/relationships/image" Target="../media/image129.wmf"/><Relationship Id="rId24" Type="http://schemas.openxmlformats.org/officeDocument/2006/relationships/slide" Target="slide22.xml"/><Relationship Id="rId5" Type="http://schemas.openxmlformats.org/officeDocument/2006/relationships/oleObject" Target="../embeddings/oleObject148.bin"/><Relationship Id="rId15" Type="http://schemas.openxmlformats.org/officeDocument/2006/relationships/oleObject" Target="../embeddings/oleObject154.bin"/><Relationship Id="rId23" Type="http://schemas.openxmlformats.org/officeDocument/2006/relationships/slide" Target="slide2.xml"/><Relationship Id="rId10" Type="http://schemas.openxmlformats.org/officeDocument/2006/relationships/oleObject" Target="../embeddings/oleObject151.bin"/><Relationship Id="rId19" Type="http://schemas.openxmlformats.org/officeDocument/2006/relationships/oleObject" Target="../embeddings/oleObject157.bin"/><Relationship Id="rId4" Type="http://schemas.openxmlformats.org/officeDocument/2006/relationships/image" Target="../media/image127.wmf"/><Relationship Id="rId9" Type="http://schemas.openxmlformats.org/officeDocument/2006/relationships/image" Target="../media/image128.wmf"/><Relationship Id="rId14" Type="http://schemas.openxmlformats.org/officeDocument/2006/relationships/oleObject" Target="../embeddings/oleObject153.bin"/><Relationship Id="rId22" Type="http://schemas.openxmlformats.org/officeDocument/2006/relationships/oleObject" Target="../embeddings/oleObject159.bin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4.wmf"/><Relationship Id="rId13" Type="http://schemas.openxmlformats.org/officeDocument/2006/relationships/oleObject" Target="../embeddings/oleObject165.bin"/><Relationship Id="rId18" Type="http://schemas.openxmlformats.org/officeDocument/2006/relationships/slide" Target="slide22.xml"/><Relationship Id="rId3" Type="http://schemas.openxmlformats.org/officeDocument/2006/relationships/oleObject" Target="../embeddings/oleObject160.bin"/><Relationship Id="rId7" Type="http://schemas.openxmlformats.org/officeDocument/2006/relationships/oleObject" Target="../embeddings/oleObject162.bin"/><Relationship Id="rId12" Type="http://schemas.openxmlformats.org/officeDocument/2006/relationships/image" Target="../media/image136.wmf"/><Relationship Id="rId17" Type="http://schemas.openxmlformats.org/officeDocument/2006/relationships/slide" Target="slide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38.wmf"/><Relationship Id="rId1" Type="http://schemas.openxmlformats.org/officeDocument/2006/relationships/vmlDrawing" Target="../drawings/vmlDrawing29.vml"/><Relationship Id="rId6" Type="http://schemas.openxmlformats.org/officeDocument/2006/relationships/image" Target="../media/image133.wmf"/><Relationship Id="rId11" Type="http://schemas.openxmlformats.org/officeDocument/2006/relationships/oleObject" Target="../embeddings/oleObject164.bin"/><Relationship Id="rId5" Type="http://schemas.openxmlformats.org/officeDocument/2006/relationships/oleObject" Target="../embeddings/oleObject161.bin"/><Relationship Id="rId15" Type="http://schemas.openxmlformats.org/officeDocument/2006/relationships/oleObject" Target="../embeddings/oleObject166.bin"/><Relationship Id="rId10" Type="http://schemas.openxmlformats.org/officeDocument/2006/relationships/image" Target="../media/image135.wmf"/><Relationship Id="rId4" Type="http://schemas.openxmlformats.org/officeDocument/2006/relationships/image" Target="../media/image132.wmf"/><Relationship Id="rId9" Type="http://schemas.openxmlformats.org/officeDocument/2006/relationships/oleObject" Target="../embeddings/oleObject163.bin"/><Relationship Id="rId14" Type="http://schemas.openxmlformats.org/officeDocument/2006/relationships/image" Target="../media/image137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wmf"/><Relationship Id="rId3" Type="http://schemas.openxmlformats.org/officeDocument/2006/relationships/oleObject" Target="../embeddings/oleObject167.bin"/><Relationship Id="rId7" Type="http://schemas.openxmlformats.org/officeDocument/2006/relationships/oleObject" Target="../embeddings/oleObject16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0.vml"/><Relationship Id="rId6" Type="http://schemas.openxmlformats.org/officeDocument/2006/relationships/image" Target="../media/image140.wmf"/><Relationship Id="rId5" Type="http://schemas.openxmlformats.org/officeDocument/2006/relationships/oleObject" Target="../embeddings/oleObject168.bin"/><Relationship Id="rId10" Type="http://schemas.openxmlformats.org/officeDocument/2006/relationships/slide" Target="slide22.xml"/><Relationship Id="rId4" Type="http://schemas.openxmlformats.org/officeDocument/2006/relationships/image" Target="../media/image139.wmf"/><Relationship Id="rId9" Type="http://schemas.openxmlformats.org/officeDocument/2006/relationships/slide" Target="slide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1.vml"/><Relationship Id="rId6" Type="http://schemas.openxmlformats.org/officeDocument/2006/relationships/slide" Target="slide22.xml"/><Relationship Id="rId5" Type="http://schemas.openxmlformats.org/officeDocument/2006/relationships/slide" Target="slide2.xml"/><Relationship Id="rId4" Type="http://schemas.openxmlformats.org/officeDocument/2006/relationships/image" Target="../media/image142.wmf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4.wmf"/><Relationship Id="rId3" Type="http://schemas.openxmlformats.org/officeDocument/2006/relationships/oleObject" Target="../embeddings/oleObject171.bin"/><Relationship Id="rId7" Type="http://schemas.openxmlformats.org/officeDocument/2006/relationships/oleObject" Target="../embeddings/oleObject173.bin"/><Relationship Id="rId12" Type="http://schemas.openxmlformats.org/officeDocument/2006/relationships/slide" Target="slide2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2.vml"/><Relationship Id="rId6" Type="http://schemas.openxmlformats.org/officeDocument/2006/relationships/image" Target="../media/image140.wmf"/><Relationship Id="rId11" Type="http://schemas.openxmlformats.org/officeDocument/2006/relationships/slide" Target="slide2.xml"/><Relationship Id="rId5" Type="http://schemas.openxmlformats.org/officeDocument/2006/relationships/oleObject" Target="../embeddings/oleObject172.bin"/><Relationship Id="rId10" Type="http://schemas.openxmlformats.org/officeDocument/2006/relationships/image" Target="../media/image145.wmf"/><Relationship Id="rId4" Type="http://schemas.openxmlformats.org/officeDocument/2006/relationships/image" Target="../media/image143.wmf"/><Relationship Id="rId9" Type="http://schemas.openxmlformats.org/officeDocument/2006/relationships/oleObject" Target="../embeddings/oleObject174.bin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6.wmf"/><Relationship Id="rId3" Type="http://schemas.openxmlformats.org/officeDocument/2006/relationships/oleObject" Target="../embeddings/oleObject175.bin"/><Relationship Id="rId7" Type="http://schemas.openxmlformats.org/officeDocument/2006/relationships/oleObject" Target="../embeddings/oleObject17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3.vml"/><Relationship Id="rId6" Type="http://schemas.openxmlformats.org/officeDocument/2006/relationships/image" Target="../media/image144.wmf"/><Relationship Id="rId5" Type="http://schemas.openxmlformats.org/officeDocument/2006/relationships/oleObject" Target="../embeddings/oleObject176.bin"/><Relationship Id="rId10" Type="http://schemas.openxmlformats.org/officeDocument/2006/relationships/slide" Target="slide22.xml"/><Relationship Id="rId4" Type="http://schemas.openxmlformats.org/officeDocument/2006/relationships/image" Target="../media/image140.wmf"/><Relationship Id="rId9" Type="http://schemas.openxmlformats.org/officeDocument/2006/relationships/slide" Target="slide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wmf"/><Relationship Id="rId3" Type="http://schemas.openxmlformats.org/officeDocument/2006/relationships/oleObject" Target="../embeddings/oleObject178.bin"/><Relationship Id="rId7" Type="http://schemas.openxmlformats.org/officeDocument/2006/relationships/oleObject" Target="../embeddings/oleObject18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4.vml"/><Relationship Id="rId6" Type="http://schemas.openxmlformats.org/officeDocument/2006/relationships/image" Target="../media/image147.wmf"/><Relationship Id="rId11" Type="http://schemas.openxmlformats.org/officeDocument/2006/relationships/slide" Target="slide22.xml"/><Relationship Id="rId5" Type="http://schemas.openxmlformats.org/officeDocument/2006/relationships/oleObject" Target="../embeddings/oleObject179.bin"/><Relationship Id="rId10" Type="http://schemas.openxmlformats.org/officeDocument/2006/relationships/slide" Target="slide2.xml"/><Relationship Id="rId4" Type="http://schemas.openxmlformats.org/officeDocument/2006/relationships/image" Target="../media/image140.wmf"/><Relationship Id="rId9" Type="http://schemas.openxmlformats.org/officeDocument/2006/relationships/image" Target="../media/image149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2.wmf"/><Relationship Id="rId13" Type="http://schemas.openxmlformats.org/officeDocument/2006/relationships/oleObject" Target="../embeddings/oleObject186.bin"/><Relationship Id="rId3" Type="http://schemas.openxmlformats.org/officeDocument/2006/relationships/oleObject" Target="../embeddings/oleObject181.bin"/><Relationship Id="rId7" Type="http://schemas.openxmlformats.org/officeDocument/2006/relationships/oleObject" Target="../embeddings/oleObject183.bin"/><Relationship Id="rId12" Type="http://schemas.openxmlformats.org/officeDocument/2006/relationships/image" Target="../media/image154.wmf"/><Relationship Id="rId2" Type="http://schemas.openxmlformats.org/officeDocument/2006/relationships/slideLayout" Target="../slideLayouts/slideLayout2.xml"/><Relationship Id="rId16" Type="http://schemas.openxmlformats.org/officeDocument/2006/relationships/slide" Target="slide22.xml"/><Relationship Id="rId1" Type="http://schemas.openxmlformats.org/officeDocument/2006/relationships/vmlDrawing" Target="../drawings/vmlDrawing35.vml"/><Relationship Id="rId6" Type="http://schemas.openxmlformats.org/officeDocument/2006/relationships/image" Target="../media/image151.wmf"/><Relationship Id="rId11" Type="http://schemas.openxmlformats.org/officeDocument/2006/relationships/oleObject" Target="../embeddings/oleObject185.bin"/><Relationship Id="rId5" Type="http://schemas.openxmlformats.org/officeDocument/2006/relationships/oleObject" Target="../embeddings/oleObject182.bin"/><Relationship Id="rId15" Type="http://schemas.openxmlformats.org/officeDocument/2006/relationships/slide" Target="slide2.xml"/><Relationship Id="rId10" Type="http://schemas.openxmlformats.org/officeDocument/2006/relationships/image" Target="../media/image153.wmf"/><Relationship Id="rId4" Type="http://schemas.openxmlformats.org/officeDocument/2006/relationships/image" Target="../media/image150.wmf"/><Relationship Id="rId9" Type="http://schemas.openxmlformats.org/officeDocument/2006/relationships/oleObject" Target="../embeddings/oleObject184.bin"/><Relationship Id="rId14" Type="http://schemas.openxmlformats.org/officeDocument/2006/relationships/image" Target="../media/image155.wmf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wmf"/><Relationship Id="rId13" Type="http://schemas.openxmlformats.org/officeDocument/2006/relationships/slide" Target="slide2.xml"/><Relationship Id="rId3" Type="http://schemas.openxmlformats.org/officeDocument/2006/relationships/oleObject" Target="../embeddings/oleObject187.bin"/><Relationship Id="rId7" Type="http://schemas.openxmlformats.org/officeDocument/2006/relationships/oleObject" Target="../embeddings/oleObject189.bin"/><Relationship Id="rId12" Type="http://schemas.openxmlformats.org/officeDocument/2006/relationships/oleObject" Target="../embeddings/oleObject19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6.vml"/><Relationship Id="rId6" Type="http://schemas.openxmlformats.org/officeDocument/2006/relationships/image" Target="../media/image157.wmf"/><Relationship Id="rId11" Type="http://schemas.openxmlformats.org/officeDocument/2006/relationships/image" Target="../media/image159.wmf"/><Relationship Id="rId5" Type="http://schemas.openxmlformats.org/officeDocument/2006/relationships/oleObject" Target="../embeddings/oleObject188.bin"/><Relationship Id="rId10" Type="http://schemas.openxmlformats.org/officeDocument/2006/relationships/oleObject" Target="../embeddings/oleObject191.bin"/><Relationship Id="rId4" Type="http://schemas.openxmlformats.org/officeDocument/2006/relationships/image" Target="../media/image156.wmf"/><Relationship Id="rId9" Type="http://schemas.openxmlformats.org/officeDocument/2006/relationships/oleObject" Target="../embeddings/oleObject190.bin"/><Relationship Id="rId14" Type="http://schemas.openxmlformats.org/officeDocument/2006/relationships/slide" Target="slide4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0.wmf"/><Relationship Id="rId13" Type="http://schemas.openxmlformats.org/officeDocument/2006/relationships/oleObject" Target="../embeddings/oleObject200.bin"/><Relationship Id="rId18" Type="http://schemas.openxmlformats.org/officeDocument/2006/relationships/oleObject" Target="../embeddings/oleObject203.bin"/><Relationship Id="rId3" Type="http://schemas.openxmlformats.org/officeDocument/2006/relationships/oleObject" Target="../embeddings/oleObject193.bin"/><Relationship Id="rId21" Type="http://schemas.openxmlformats.org/officeDocument/2006/relationships/oleObject" Target="../embeddings/oleObject205.bin"/><Relationship Id="rId7" Type="http://schemas.openxmlformats.org/officeDocument/2006/relationships/oleObject" Target="../embeddings/oleObject195.bin"/><Relationship Id="rId12" Type="http://schemas.openxmlformats.org/officeDocument/2006/relationships/oleObject" Target="../embeddings/oleObject199.bin"/><Relationship Id="rId17" Type="http://schemas.openxmlformats.org/officeDocument/2006/relationships/oleObject" Target="../embeddings/oleObject202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2.wmf"/><Relationship Id="rId20" Type="http://schemas.openxmlformats.org/officeDocument/2006/relationships/image" Target="../media/image163.wmf"/><Relationship Id="rId1" Type="http://schemas.openxmlformats.org/officeDocument/2006/relationships/vmlDrawing" Target="../drawings/vmlDrawing37.vml"/><Relationship Id="rId6" Type="http://schemas.openxmlformats.org/officeDocument/2006/relationships/image" Target="../media/image70.wmf"/><Relationship Id="rId11" Type="http://schemas.openxmlformats.org/officeDocument/2006/relationships/oleObject" Target="../embeddings/oleObject198.bin"/><Relationship Id="rId24" Type="http://schemas.openxmlformats.org/officeDocument/2006/relationships/slide" Target="slide42.xml"/><Relationship Id="rId5" Type="http://schemas.openxmlformats.org/officeDocument/2006/relationships/oleObject" Target="../embeddings/oleObject194.bin"/><Relationship Id="rId15" Type="http://schemas.openxmlformats.org/officeDocument/2006/relationships/oleObject" Target="../embeddings/oleObject201.bin"/><Relationship Id="rId23" Type="http://schemas.openxmlformats.org/officeDocument/2006/relationships/slide" Target="slide2.xml"/><Relationship Id="rId10" Type="http://schemas.openxmlformats.org/officeDocument/2006/relationships/oleObject" Target="../embeddings/oleObject197.bin"/><Relationship Id="rId19" Type="http://schemas.openxmlformats.org/officeDocument/2006/relationships/oleObject" Target="../embeddings/oleObject204.bin"/><Relationship Id="rId4" Type="http://schemas.openxmlformats.org/officeDocument/2006/relationships/image" Target="../media/image158.wmf"/><Relationship Id="rId9" Type="http://schemas.openxmlformats.org/officeDocument/2006/relationships/oleObject" Target="../embeddings/oleObject196.bin"/><Relationship Id="rId14" Type="http://schemas.openxmlformats.org/officeDocument/2006/relationships/image" Target="../media/image161.wmf"/><Relationship Id="rId22" Type="http://schemas.openxmlformats.org/officeDocument/2006/relationships/image" Target="../media/image164.wmf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9.bin"/><Relationship Id="rId13" Type="http://schemas.openxmlformats.org/officeDocument/2006/relationships/oleObject" Target="../embeddings/oleObject212.bin"/><Relationship Id="rId18" Type="http://schemas.openxmlformats.org/officeDocument/2006/relationships/image" Target="../media/image168.wmf"/><Relationship Id="rId3" Type="http://schemas.openxmlformats.org/officeDocument/2006/relationships/oleObject" Target="../embeddings/oleObject206.bin"/><Relationship Id="rId21" Type="http://schemas.openxmlformats.org/officeDocument/2006/relationships/slide" Target="slide42.xml"/><Relationship Id="rId7" Type="http://schemas.openxmlformats.org/officeDocument/2006/relationships/oleObject" Target="../embeddings/oleObject208.bin"/><Relationship Id="rId12" Type="http://schemas.openxmlformats.org/officeDocument/2006/relationships/oleObject" Target="../embeddings/oleObject211.bin"/><Relationship Id="rId17" Type="http://schemas.openxmlformats.org/officeDocument/2006/relationships/oleObject" Target="../embeddings/oleObject214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67.wmf"/><Relationship Id="rId20" Type="http://schemas.openxmlformats.org/officeDocument/2006/relationships/slide" Target="slide2.xml"/><Relationship Id="rId1" Type="http://schemas.openxmlformats.org/officeDocument/2006/relationships/vmlDrawing" Target="../drawings/vmlDrawing38.vml"/><Relationship Id="rId6" Type="http://schemas.openxmlformats.org/officeDocument/2006/relationships/image" Target="../media/image158.wmf"/><Relationship Id="rId11" Type="http://schemas.openxmlformats.org/officeDocument/2006/relationships/image" Target="../media/image165.wmf"/><Relationship Id="rId5" Type="http://schemas.openxmlformats.org/officeDocument/2006/relationships/oleObject" Target="../embeddings/oleObject207.bin"/><Relationship Id="rId15" Type="http://schemas.openxmlformats.org/officeDocument/2006/relationships/oleObject" Target="../embeddings/oleObject213.bin"/><Relationship Id="rId10" Type="http://schemas.openxmlformats.org/officeDocument/2006/relationships/oleObject" Target="../embeddings/oleObject210.bin"/><Relationship Id="rId19" Type="http://schemas.openxmlformats.org/officeDocument/2006/relationships/oleObject" Target="../embeddings/oleObject215.bin"/><Relationship Id="rId4" Type="http://schemas.openxmlformats.org/officeDocument/2006/relationships/image" Target="../media/image159.wmf"/><Relationship Id="rId9" Type="http://schemas.openxmlformats.org/officeDocument/2006/relationships/image" Target="../media/image70.wmf"/><Relationship Id="rId14" Type="http://schemas.openxmlformats.org/officeDocument/2006/relationships/image" Target="../media/image166.w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2.xml"/><Relationship Id="rId4" Type="http://schemas.openxmlformats.org/officeDocument/2006/relationships/slide" Target="slide42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0.wmf"/><Relationship Id="rId13" Type="http://schemas.openxmlformats.org/officeDocument/2006/relationships/slide" Target="slide2.xml"/><Relationship Id="rId3" Type="http://schemas.openxmlformats.org/officeDocument/2006/relationships/oleObject" Target="../embeddings/oleObject216.bin"/><Relationship Id="rId7" Type="http://schemas.openxmlformats.org/officeDocument/2006/relationships/oleObject" Target="../embeddings/oleObject218.bin"/><Relationship Id="rId12" Type="http://schemas.openxmlformats.org/officeDocument/2006/relationships/image" Target="../media/image17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9.vml"/><Relationship Id="rId6" Type="http://schemas.openxmlformats.org/officeDocument/2006/relationships/image" Target="../media/image159.wmf"/><Relationship Id="rId11" Type="http://schemas.openxmlformats.org/officeDocument/2006/relationships/oleObject" Target="../embeddings/oleObject220.bin"/><Relationship Id="rId5" Type="http://schemas.openxmlformats.org/officeDocument/2006/relationships/oleObject" Target="../embeddings/oleObject217.bin"/><Relationship Id="rId10" Type="http://schemas.openxmlformats.org/officeDocument/2006/relationships/image" Target="../media/image171.wmf"/><Relationship Id="rId4" Type="http://schemas.openxmlformats.org/officeDocument/2006/relationships/image" Target="../media/image153.wmf"/><Relationship Id="rId9" Type="http://schemas.openxmlformats.org/officeDocument/2006/relationships/oleObject" Target="../embeddings/oleObject219.bin"/><Relationship Id="rId14" Type="http://schemas.openxmlformats.org/officeDocument/2006/relationships/slide" Target="slide4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5.wmf"/><Relationship Id="rId13" Type="http://schemas.openxmlformats.org/officeDocument/2006/relationships/oleObject" Target="../embeddings/oleObject226.bin"/><Relationship Id="rId3" Type="http://schemas.openxmlformats.org/officeDocument/2006/relationships/oleObject" Target="../embeddings/oleObject221.bin"/><Relationship Id="rId7" Type="http://schemas.openxmlformats.org/officeDocument/2006/relationships/oleObject" Target="../embeddings/oleObject223.bin"/><Relationship Id="rId12" Type="http://schemas.openxmlformats.org/officeDocument/2006/relationships/image" Target="../media/image177.wmf"/><Relationship Id="rId2" Type="http://schemas.openxmlformats.org/officeDocument/2006/relationships/slideLayout" Target="../slideLayouts/slideLayout2.xml"/><Relationship Id="rId16" Type="http://schemas.openxmlformats.org/officeDocument/2006/relationships/slide" Target="slide42.xml"/><Relationship Id="rId1" Type="http://schemas.openxmlformats.org/officeDocument/2006/relationships/vmlDrawing" Target="../drawings/vmlDrawing40.vml"/><Relationship Id="rId6" Type="http://schemas.openxmlformats.org/officeDocument/2006/relationships/image" Target="../media/image174.wmf"/><Relationship Id="rId11" Type="http://schemas.openxmlformats.org/officeDocument/2006/relationships/oleObject" Target="../embeddings/oleObject225.bin"/><Relationship Id="rId5" Type="http://schemas.openxmlformats.org/officeDocument/2006/relationships/oleObject" Target="../embeddings/oleObject222.bin"/><Relationship Id="rId15" Type="http://schemas.openxmlformats.org/officeDocument/2006/relationships/slide" Target="slide2.xml"/><Relationship Id="rId10" Type="http://schemas.openxmlformats.org/officeDocument/2006/relationships/image" Target="../media/image176.wmf"/><Relationship Id="rId4" Type="http://schemas.openxmlformats.org/officeDocument/2006/relationships/image" Target="../media/image173.wmf"/><Relationship Id="rId9" Type="http://schemas.openxmlformats.org/officeDocument/2006/relationships/oleObject" Target="../embeddings/oleObject224.bin"/><Relationship Id="rId14" Type="http://schemas.openxmlformats.org/officeDocument/2006/relationships/image" Target="../media/image178.wmf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wmf"/><Relationship Id="rId13" Type="http://schemas.openxmlformats.org/officeDocument/2006/relationships/oleObject" Target="../embeddings/oleObject232.bin"/><Relationship Id="rId18" Type="http://schemas.openxmlformats.org/officeDocument/2006/relationships/slide" Target="slide2.xml"/><Relationship Id="rId3" Type="http://schemas.openxmlformats.org/officeDocument/2006/relationships/oleObject" Target="../embeddings/oleObject227.bin"/><Relationship Id="rId7" Type="http://schemas.openxmlformats.org/officeDocument/2006/relationships/oleObject" Target="../embeddings/oleObject229.bin"/><Relationship Id="rId12" Type="http://schemas.openxmlformats.org/officeDocument/2006/relationships/image" Target="../media/image159.wmf"/><Relationship Id="rId17" Type="http://schemas.openxmlformats.org/officeDocument/2006/relationships/image" Target="../media/image183.w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234.bin"/><Relationship Id="rId1" Type="http://schemas.openxmlformats.org/officeDocument/2006/relationships/vmlDrawing" Target="../drawings/vmlDrawing41.vml"/><Relationship Id="rId6" Type="http://schemas.openxmlformats.org/officeDocument/2006/relationships/image" Target="../media/image179.wmf"/><Relationship Id="rId11" Type="http://schemas.openxmlformats.org/officeDocument/2006/relationships/oleObject" Target="../embeddings/oleObject231.bin"/><Relationship Id="rId5" Type="http://schemas.openxmlformats.org/officeDocument/2006/relationships/oleObject" Target="../embeddings/oleObject228.bin"/><Relationship Id="rId15" Type="http://schemas.openxmlformats.org/officeDocument/2006/relationships/image" Target="../media/image182.wmf"/><Relationship Id="rId10" Type="http://schemas.openxmlformats.org/officeDocument/2006/relationships/image" Target="../media/image181.wmf"/><Relationship Id="rId19" Type="http://schemas.openxmlformats.org/officeDocument/2006/relationships/slide" Target="slide42.xml"/><Relationship Id="rId4" Type="http://schemas.openxmlformats.org/officeDocument/2006/relationships/image" Target="../media/image153.wmf"/><Relationship Id="rId9" Type="http://schemas.openxmlformats.org/officeDocument/2006/relationships/oleObject" Target="../embeddings/oleObject230.bin"/><Relationship Id="rId14" Type="http://schemas.openxmlformats.org/officeDocument/2006/relationships/oleObject" Target="../embeddings/oleObject233.bin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oleObject" Target="../embeddings/oleObject235.bin"/><Relationship Id="rId7" Type="http://schemas.openxmlformats.org/officeDocument/2006/relationships/image" Target="../media/image186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2.vml"/><Relationship Id="rId6" Type="http://schemas.openxmlformats.org/officeDocument/2006/relationships/image" Target="../media/image185.wmf"/><Relationship Id="rId5" Type="http://schemas.openxmlformats.org/officeDocument/2006/relationships/oleObject" Target="../embeddings/oleObject236.bin"/><Relationship Id="rId4" Type="http://schemas.openxmlformats.org/officeDocument/2006/relationships/image" Target="../media/image184.wmf"/><Relationship Id="rId9" Type="http://schemas.openxmlformats.org/officeDocument/2006/relationships/slide" Target="slide4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slide" Target="slide51.xml"/><Relationship Id="rId3" Type="http://schemas.openxmlformats.org/officeDocument/2006/relationships/oleObject" Target="../embeddings/oleObject237.bin"/><Relationship Id="rId7" Type="http://schemas.openxmlformats.org/officeDocument/2006/relationships/slide" Target="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3.vml"/><Relationship Id="rId6" Type="http://schemas.openxmlformats.org/officeDocument/2006/relationships/image" Target="../media/image188.wmf"/><Relationship Id="rId5" Type="http://schemas.openxmlformats.org/officeDocument/2006/relationships/oleObject" Target="../embeddings/oleObject238.bin"/><Relationship Id="rId4" Type="http://schemas.openxmlformats.org/officeDocument/2006/relationships/image" Target="../media/image187.wmf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wmf"/><Relationship Id="rId13" Type="http://schemas.openxmlformats.org/officeDocument/2006/relationships/slide" Target="slide42.xml"/><Relationship Id="rId3" Type="http://schemas.openxmlformats.org/officeDocument/2006/relationships/oleObject" Target="../embeddings/oleObject239.bin"/><Relationship Id="rId7" Type="http://schemas.openxmlformats.org/officeDocument/2006/relationships/oleObject" Target="../embeddings/oleObject241.bin"/><Relationship Id="rId12" Type="http://schemas.openxmlformats.org/officeDocument/2006/relationships/slide" Target="slide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4.vml"/><Relationship Id="rId6" Type="http://schemas.openxmlformats.org/officeDocument/2006/relationships/image" Target="../media/image190.wmf"/><Relationship Id="rId11" Type="http://schemas.openxmlformats.org/officeDocument/2006/relationships/image" Target="../media/image192.wmf"/><Relationship Id="rId5" Type="http://schemas.openxmlformats.org/officeDocument/2006/relationships/oleObject" Target="../embeddings/oleObject240.bin"/><Relationship Id="rId10" Type="http://schemas.openxmlformats.org/officeDocument/2006/relationships/oleObject" Target="../embeddings/oleObject243.bin"/><Relationship Id="rId4" Type="http://schemas.openxmlformats.org/officeDocument/2006/relationships/image" Target="../media/image189.wmf"/><Relationship Id="rId9" Type="http://schemas.openxmlformats.org/officeDocument/2006/relationships/oleObject" Target="../embeddings/oleObject242.bin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4.wmf"/><Relationship Id="rId3" Type="http://schemas.openxmlformats.org/officeDocument/2006/relationships/oleObject" Target="../embeddings/oleObject244.bin"/><Relationship Id="rId7" Type="http://schemas.openxmlformats.org/officeDocument/2006/relationships/oleObject" Target="../embeddings/oleObject246.bin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45.vml"/><Relationship Id="rId6" Type="http://schemas.openxmlformats.org/officeDocument/2006/relationships/image" Target="../media/image189.wmf"/><Relationship Id="rId5" Type="http://schemas.openxmlformats.org/officeDocument/2006/relationships/oleObject" Target="../embeddings/oleObject245.bin"/><Relationship Id="rId10" Type="http://schemas.openxmlformats.org/officeDocument/2006/relationships/slide" Target="slide42.xml"/><Relationship Id="rId4" Type="http://schemas.openxmlformats.org/officeDocument/2006/relationships/image" Target="../media/image193.wmf"/><Relationship Id="rId9" Type="http://schemas.openxmlformats.org/officeDocument/2006/relationships/slide" Target="slide2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slide" Target="slide42.xml"/><Relationship Id="rId3" Type="http://schemas.openxmlformats.org/officeDocument/2006/relationships/oleObject" Target="../embeddings/oleObject247.bin"/><Relationship Id="rId7" Type="http://schemas.openxmlformats.org/officeDocument/2006/relationships/slide" Target="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6.vml"/><Relationship Id="rId6" Type="http://schemas.openxmlformats.org/officeDocument/2006/relationships/image" Target="../media/image196.wmf"/><Relationship Id="rId5" Type="http://schemas.openxmlformats.org/officeDocument/2006/relationships/oleObject" Target="../embeddings/oleObject248.bin"/><Relationship Id="rId4" Type="http://schemas.openxmlformats.org/officeDocument/2006/relationships/image" Target="../media/image195.wmf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9.wmf"/><Relationship Id="rId3" Type="http://schemas.openxmlformats.org/officeDocument/2006/relationships/oleObject" Target="../embeddings/oleObject249.bin"/><Relationship Id="rId7" Type="http://schemas.openxmlformats.org/officeDocument/2006/relationships/oleObject" Target="../embeddings/oleObject25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7.vml"/><Relationship Id="rId6" Type="http://schemas.openxmlformats.org/officeDocument/2006/relationships/image" Target="../media/image198.wmf"/><Relationship Id="rId5" Type="http://schemas.openxmlformats.org/officeDocument/2006/relationships/oleObject" Target="../embeddings/oleObject250.bin"/><Relationship Id="rId10" Type="http://schemas.openxmlformats.org/officeDocument/2006/relationships/slide" Target="slide42.xml"/><Relationship Id="rId4" Type="http://schemas.openxmlformats.org/officeDocument/2006/relationships/image" Target="../media/image197.wmf"/><Relationship Id="rId9" Type="http://schemas.openxmlformats.org/officeDocument/2006/relationships/slide" Target="slide2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2.wmf"/><Relationship Id="rId3" Type="http://schemas.openxmlformats.org/officeDocument/2006/relationships/oleObject" Target="../embeddings/oleObject252.bin"/><Relationship Id="rId7" Type="http://schemas.openxmlformats.org/officeDocument/2006/relationships/oleObject" Target="../embeddings/oleObject25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8.vml"/><Relationship Id="rId6" Type="http://schemas.openxmlformats.org/officeDocument/2006/relationships/image" Target="../media/image201.wmf"/><Relationship Id="rId5" Type="http://schemas.openxmlformats.org/officeDocument/2006/relationships/oleObject" Target="../embeddings/oleObject253.bin"/><Relationship Id="rId10" Type="http://schemas.openxmlformats.org/officeDocument/2006/relationships/slide" Target="slide42.xml"/><Relationship Id="rId4" Type="http://schemas.openxmlformats.org/officeDocument/2006/relationships/image" Target="../media/image200.wmf"/><Relationship Id="rId9" Type="http://schemas.openxmlformats.org/officeDocument/2006/relationships/slide" Target="slide2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4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42.xml"/><Relationship Id="rId5" Type="http://schemas.openxmlformats.org/officeDocument/2006/relationships/slide" Target="slide2.xml"/><Relationship Id="rId4" Type="http://schemas.openxmlformats.org/officeDocument/2006/relationships/image" Target="../media/image205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7.png"/><Relationship Id="rId7" Type="http://schemas.openxmlformats.org/officeDocument/2006/relationships/slide" Target="slide42.xml"/><Relationship Id="rId2" Type="http://schemas.openxmlformats.org/officeDocument/2006/relationships/image" Target="../media/image206.png"/><Relationship Id="rId1" Type="http://schemas.openxmlformats.org/officeDocument/2006/relationships/slideLayout" Target="../slideLayouts/slideLayout2.xml"/><Relationship Id="rId6" Type="http://schemas.openxmlformats.org/officeDocument/2006/relationships/slide" Target="slide2.xml"/><Relationship Id="rId5" Type="http://schemas.openxmlformats.org/officeDocument/2006/relationships/image" Target="../media/image209.png"/><Relationship Id="rId4" Type="http://schemas.openxmlformats.org/officeDocument/2006/relationships/image" Target="../media/image208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4" Type="http://schemas.openxmlformats.org/officeDocument/2006/relationships/slide" Target="slide4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slide" Target="slide42.xml"/><Relationship Id="rId3" Type="http://schemas.openxmlformats.org/officeDocument/2006/relationships/oleObject" Target="../embeddings/oleObject255.bin"/><Relationship Id="rId7" Type="http://schemas.openxmlformats.org/officeDocument/2006/relationships/slide" Target="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9.vml"/><Relationship Id="rId6" Type="http://schemas.openxmlformats.org/officeDocument/2006/relationships/image" Target="../media/image212.wmf"/><Relationship Id="rId5" Type="http://schemas.openxmlformats.org/officeDocument/2006/relationships/oleObject" Target="../embeddings/oleObject256.bin"/><Relationship Id="rId4" Type="http://schemas.openxmlformats.org/officeDocument/2006/relationships/image" Target="../media/image211.wmf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slide" Target="slide42.xml"/><Relationship Id="rId3" Type="http://schemas.openxmlformats.org/officeDocument/2006/relationships/oleObject" Target="../embeddings/oleObject257.bin"/><Relationship Id="rId7" Type="http://schemas.openxmlformats.org/officeDocument/2006/relationships/slide" Target="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0.vml"/><Relationship Id="rId6" Type="http://schemas.openxmlformats.org/officeDocument/2006/relationships/image" Target="../media/image214.wmf"/><Relationship Id="rId5" Type="http://schemas.openxmlformats.org/officeDocument/2006/relationships/oleObject" Target="../embeddings/oleObject258.bin"/><Relationship Id="rId4" Type="http://schemas.openxmlformats.org/officeDocument/2006/relationships/image" Target="../media/image213.wmf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slide" Target="slide42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9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1.vml"/><Relationship Id="rId6" Type="http://schemas.openxmlformats.org/officeDocument/2006/relationships/slide" Target="slide42.xml"/><Relationship Id="rId5" Type="http://schemas.openxmlformats.org/officeDocument/2006/relationships/slide" Target="slide2.xml"/><Relationship Id="rId4" Type="http://schemas.openxmlformats.org/officeDocument/2006/relationships/image" Target="../media/image215.emf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slide" Target="slide42.xml"/><Relationship Id="rId3" Type="http://schemas.openxmlformats.org/officeDocument/2006/relationships/oleObject" Target="../embeddings/oleObject260.bin"/><Relationship Id="rId7" Type="http://schemas.openxmlformats.org/officeDocument/2006/relationships/slide" Target="slide2.xml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52.vml"/><Relationship Id="rId6" Type="http://schemas.openxmlformats.org/officeDocument/2006/relationships/image" Target="../media/image217.emf"/><Relationship Id="rId5" Type="http://schemas.openxmlformats.org/officeDocument/2006/relationships/oleObject" Target="../embeddings/oleObject261.bin"/><Relationship Id="rId4" Type="http://schemas.openxmlformats.org/officeDocument/2006/relationships/image" Target="../media/image216.wmf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0.wmf"/><Relationship Id="rId3" Type="http://schemas.openxmlformats.org/officeDocument/2006/relationships/oleObject" Target="../embeddings/oleObject262.bin"/><Relationship Id="rId7" Type="http://schemas.openxmlformats.org/officeDocument/2006/relationships/oleObject" Target="../embeddings/oleObject264.bin"/><Relationship Id="rId12" Type="http://schemas.openxmlformats.org/officeDocument/2006/relationships/slide" Target="slide42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53.vml"/><Relationship Id="rId6" Type="http://schemas.openxmlformats.org/officeDocument/2006/relationships/image" Target="../media/image219.wmf"/><Relationship Id="rId11" Type="http://schemas.openxmlformats.org/officeDocument/2006/relationships/slide" Target="slide2.xml"/><Relationship Id="rId5" Type="http://schemas.openxmlformats.org/officeDocument/2006/relationships/oleObject" Target="../embeddings/oleObject263.bin"/><Relationship Id="rId10" Type="http://schemas.openxmlformats.org/officeDocument/2006/relationships/image" Target="../media/image221.wmf"/><Relationship Id="rId4" Type="http://schemas.openxmlformats.org/officeDocument/2006/relationships/image" Target="../media/image218.wmf"/><Relationship Id="rId9" Type="http://schemas.openxmlformats.org/officeDocument/2006/relationships/oleObject" Target="../embeddings/oleObject265.bin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4.wmf"/><Relationship Id="rId3" Type="http://schemas.openxmlformats.org/officeDocument/2006/relationships/oleObject" Target="../embeddings/oleObject266.bin"/><Relationship Id="rId7" Type="http://schemas.openxmlformats.org/officeDocument/2006/relationships/oleObject" Target="../embeddings/oleObject26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4.vml"/><Relationship Id="rId6" Type="http://schemas.openxmlformats.org/officeDocument/2006/relationships/image" Target="../media/image223.wmf"/><Relationship Id="rId5" Type="http://schemas.openxmlformats.org/officeDocument/2006/relationships/oleObject" Target="../embeddings/oleObject267.bin"/><Relationship Id="rId10" Type="http://schemas.openxmlformats.org/officeDocument/2006/relationships/slide" Target="slide42.xml"/><Relationship Id="rId4" Type="http://schemas.openxmlformats.org/officeDocument/2006/relationships/image" Target="../media/image222.wmf"/><Relationship Id="rId9" Type="http://schemas.openxmlformats.org/officeDocument/2006/relationships/slide" Target="slide2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7.wmf"/><Relationship Id="rId3" Type="http://schemas.openxmlformats.org/officeDocument/2006/relationships/oleObject" Target="../embeddings/oleObject269.bin"/><Relationship Id="rId7" Type="http://schemas.openxmlformats.org/officeDocument/2006/relationships/oleObject" Target="../embeddings/oleObject27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5.vml"/><Relationship Id="rId6" Type="http://schemas.openxmlformats.org/officeDocument/2006/relationships/image" Target="../media/image226.wmf"/><Relationship Id="rId5" Type="http://schemas.openxmlformats.org/officeDocument/2006/relationships/oleObject" Target="../embeddings/oleObject270.bin"/><Relationship Id="rId10" Type="http://schemas.openxmlformats.org/officeDocument/2006/relationships/slide" Target="slide42.xml"/><Relationship Id="rId4" Type="http://schemas.openxmlformats.org/officeDocument/2006/relationships/image" Target="../media/image225.wmf"/><Relationship Id="rId9" Type="http://schemas.openxmlformats.org/officeDocument/2006/relationships/slide" Target="slide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wmf"/><Relationship Id="rId13" Type="http://schemas.openxmlformats.org/officeDocument/2006/relationships/oleObject" Target="../embeddings/oleObject277.bin"/><Relationship Id="rId18" Type="http://schemas.openxmlformats.org/officeDocument/2006/relationships/slide" Target="slide42.xml"/><Relationship Id="rId3" Type="http://schemas.openxmlformats.org/officeDocument/2006/relationships/oleObject" Target="../embeddings/oleObject272.bin"/><Relationship Id="rId7" Type="http://schemas.openxmlformats.org/officeDocument/2006/relationships/oleObject" Target="../embeddings/oleObject274.bin"/><Relationship Id="rId12" Type="http://schemas.openxmlformats.org/officeDocument/2006/relationships/image" Target="../media/image232.wmf"/><Relationship Id="rId17" Type="http://schemas.openxmlformats.org/officeDocument/2006/relationships/slide" Target="slide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34.wmf"/><Relationship Id="rId1" Type="http://schemas.openxmlformats.org/officeDocument/2006/relationships/vmlDrawing" Target="../drawings/vmlDrawing56.vml"/><Relationship Id="rId6" Type="http://schemas.openxmlformats.org/officeDocument/2006/relationships/image" Target="../media/image229.wmf"/><Relationship Id="rId11" Type="http://schemas.openxmlformats.org/officeDocument/2006/relationships/oleObject" Target="../embeddings/oleObject276.bin"/><Relationship Id="rId5" Type="http://schemas.openxmlformats.org/officeDocument/2006/relationships/oleObject" Target="../embeddings/oleObject273.bin"/><Relationship Id="rId15" Type="http://schemas.openxmlformats.org/officeDocument/2006/relationships/oleObject" Target="../embeddings/oleObject278.bin"/><Relationship Id="rId10" Type="http://schemas.openxmlformats.org/officeDocument/2006/relationships/image" Target="../media/image231.wmf"/><Relationship Id="rId4" Type="http://schemas.openxmlformats.org/officeDocument/2006/relationships/image" Target="../media/image228.wmf"/><Relationship Id="rId9" Type="http://schemas.openxmlformats.org/officeDocument/2006/relationships/oleObject" Target="../embeddings/oleObject275.bin"/><Relationship Id="rId14" Type="http://schemas.openxmlformats.org/officeDocument/2006/relationships/image" Target="../media/image233.wmf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35.png"/><Relationship Id="rId1" Type="http://schemas.openxmlformats.org/officeDocument/2006/relationships/slideLayout" Target="../slideLayouts/slideLayout2.xml"/><Relationship Id="rId4" Type="http://schemas.openxmlformats.org/officeDocument/2006/relationships/slide" Target="slide42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slide" Target="slide42.xml"/><Relationship Id="rId3" Type="http://schemas.openxmlformats.org/officeDocument/2006/relationships/oleObject" Target="../embeddings/oleObject279.bin"/><Relationship Id="rId7" Type="http://schemas.openxmlformats.org/officeDocument/2006/relationships/slide" Target="slide2.xml"/><Relationship Id="rId2" Type="http://schemas.openxmlformats.org/officeDocument/2006/relationships/slideLayout" Target="../slideLayouts/slideLayout14.xml"/><Relationship Id="rId1" Type="http://schemas.openxmlformats.org/officeDocument/2006/relationships/vmlDrawing" Target="../drawings/vmlDrawing57.vml"/><Relationship Id="rId6" Type="http://schemas.openxmlformats.org/officeDocument/2006/relationships/image" Target="../media/image237.wmf"/><Relationship Id="rId5" Type="http://schemas.openxmlformats.org/officeDocument/2006/relationships/oleObject" Target="../embeddings/oleObject280.bin"/><Relationship Id="rId4" Type="http://schemas.openxmlformats.org/officeDocument/2006/relationships/image" Target="../media/image236.wmf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image" Target="../media/image238.png"/><Relationship Id="rId1" Type="http://schemas.openxmlformats.org/officeDocument/2006/relationships/slideLayout" Target="../slideLayouts/slideLayout2.xml"/><Relationship Id="rId4" Type="http://schemas.openxmlformats.org/officeDocument/2006/relationships/slide" Target="slide42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7" Type="http://schemas.openxmlformats.org/officeDocument/2006/relationships/slide" Target="slide4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8.vml"/><Relationship Id="rId6" Type="http://schemas.openxmlformats.org/officeDocument/2006/relationships/slide" Target="slide2.xml"/><Relationship Id="rId5" Type="http://schemas.openxmlformats.org/officeDocument/2006/relationships/image" Target="../media/image239.wmf"/><Relationship Id="rId4" Type="http://schemas.openxmlformats.org/officeDocument/2006/relationships/oleObject" Target="../embeddings/oleObject281.bin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3.wmf"/><Relationship Id="rId3" Type="http://schemas.openxmlformats.org/officeDocument/2006/relationships/oleObject" Target="../embeddings/oleObject282.bin"/><Relationship Id="rId7" Type="http://schemas.openxmlformats.org/officeDocument/2006/relationships/oleObject" Target="../embeddings/oleObject28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9.vml"/><Relationship Id="rId6" Type="http://schemas.openxmlformats.org/officeDocument/2006/relationships/image" Target="../media/image242.wmf"/><Relationship Id="rId5" Type="http://schemas.openxmlformats.org/officeDocument/2006/relationships/oleObject" Target="../embeddings/oleObject283.bin"/><Relationship Id="rId10" Type="http://schemas.openxmlformats.org/officeDocument/2006/relationships/slide" Target="slide42.xml"/><Relationship Id="rId4" Type="http://schemas.openxmlformats.org/officeDocument/2006/relationships/image" Target="../media/image241.wmf"/><Relationship Id="rId9" Type="http://schemas.openxmlformats.org/officeDocument/2006/relationships/slide" Target="slide2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slide" Target="slide76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Relationship Id="rId5" Type="http://schemas.openxmlformats.org/officeDocument/2006/relationships/slide" Target="slide86.xml"/><Relationship Id="rId4" Type="http://schemas.openxmlformats.org/officeDocument/2006/relationships/slide" Target="slide81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5.wmf"/><Relationship Id="rId3" Type="http://schemas.openxmlformats.org/officeDocument/2006/relationships/oleObject" Target="../embeddings/oleObject285.bin"/><Relationship Id="rId7" Type="http://schemas.openxmlformats.org/officeDocument/2006/relationships/oleObject" Target="../embeddings/oleObject287.bin"/><Relationship Id="rId12" Type="http://schemas.openxmlformats.org/officeDocument/2006/relationships/slide" Target="slide7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0.vml"/><Relationship Id="rId6" Type="http://schemas.openxmlformats.org/officeDocument/2006/relationships/image" Target="../media/image140.wmf"/><Relationship Id="rId11" Type="http://schemas.openxmlformats.org/officeDocument/2006/relationships/slide" Target="slide2.xml"/><Relationship Id="rId5" Type="http://schemas.openxmlformats.org/officeDocument/2006/relationships/oleObject" Target="../embeddings/oleObject286.bin"/><Relationship Id="rId10" Type="http://schemas.openxmlformats.org/officeDocument/2006/relationships/image" Target="../media/image246.wmf"/><Relationship Id="rId4" Type="http://schemas.openxmlformats.org/officeDocument/2006/relationships/image" Target="../media/image244.wmf"/><Relationship Id="rId9" Type="http://schemas.openxmlformats.org/officeDocument/2006/relationships/oleObject" Target="../embeddings/oleObject288.bin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9.wmf"/><Relationship Id="rId13" Type="http://schemas.openxmlformats.org/officeDocument/2006/relationships/slide" Target="slide2.xml"/><Relationship Id="rId3" Type="http://schemas.openxmlformats.org/officeDocument/2006/relationships/oleObject" Target="../embeddings/oleObject289.bin"/><Relationship Id="rId7" Type="http://schemas.openxmlformats.org/officeDocument/2006/relationships/oleObject" Target="../embeddings/oleObject291.bin"/><Relationship Id="rId12" Type="http://schemas.openxmlformats.org/officeDocument/2006/relationships/image" Target="../media/image25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1.vml"/><Relationship Id="rId6" Type="http://schemas.openxmlformats.org/officeDocument/2006/relationships/image" Target="../media/image248.wmf"/><Relationship Id="rId11" Type="http://schemas.openxmlformats.org/officeDocument/2006/relationships/oleObject" Target="../embeddings/oleObject293.bin"/><Relationship Id="rId5" Type="http://schemas.openxmlformats.org/officeDocument/2006/relationships/oleObject" Target="../embeddings/oleObject290.bin"/><Relationship Id="rId10" Type="http://schemas.openxmlformats.org/officeDocument/2006/relationships/image" Target="../media/image250.wmf"/><Relationship Id="rId4" Type="http://schemas.openxmlformats.org/officeDocument/2006/relationships/image" Target="../media/image247.wmf"/><Relationship Id="rId9" Type="http://schemas.openxmlformats.org/officeDocument/2006/relationships/oleObject" Target="../embeddings/oleObject292.bin"/><Relationship Id="rId14" Type="http://schemas.openxmlformats.org/officeDocument/2006/relationships/slide" Target="slide75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4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62.vml"/><Relationship Id="rId6" Type="http://schemas.openxmlformats.org/officeDocument/2006/relationships/slide" Target="slide75.xml"/><Relationship Id="rId5" Type="http://schemas.openxmlformats.org/officeDocument/2006/relationships/slide" Target="slide2.xml"/><Relationship Id="rId4" Type="http://schemas.openxmlformats.org/officeDocument/2006/relationships/image" Target="../media/image252.emf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5.wmf"/><Relationship Id="rId3" Type="http://schemas.openxmlformats.org/officeDocument/2006/relationships/oleObject" Target="../embeddings/oleObject295.bin"/><Relationship Id="rId7" Type="http://schemas.openxmlformats.org/officeDocument/2006/relationships/oleObject" Target="../embeddings/oleObject29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3.vml"/><Relationship Id="rId6" Type="http://schemas.openxmlformats.org/officeDocument/2006/relationships/image" Target="../media/image254.wmf"/><Relationship Id="rId5" Type="http://schemas.openxmlformats.org/officeDocument/2006/relationships/oleObject" Target="../embeddings/oleObject296.bin"/><Relationship Id="rId10" Type="http://schemas.openxmlformats.org/officeDocument/2006/relationships/slide" Target="slide75.xml"/><Relationship Id="rId4" Type="http://schemas.openxmlformats.org/officeDocument/2006/relationships/image" Target="../media/image253.wmf"/><Relationship Id="rId9" Type="http://schemas.openxmlformats.org/officeDocument/2006/relationships/slide" Target="slide2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oleObject" Target="../embeddings/oleObject298.bin"/><Relationship Id="rId7" Type="http://schemas.openxmlformats.org/officeDocument/2006/relationships/image" Target="../media/image258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4.vml"/><Relationship Id="rId6" Type="http://schemas.openxmlformats.org/officeDocument/2006/relationships/image" Target="../media/image257.wmf"/><Relationship Id="rId5" Type="http://schemas.openxmlformats.org/officeDocument/2006/relationships/oleObject" Target="../embeddings/oleObject299.bin"/><Relationship Id="rId4" Type="http://schemas.openxmlformats.org/officeDocument/2006/relationships/image" Target="../media/image256.wmf"/><Relationship Id="rId9" Type="http://schemas.openxmlformats.org/officeDocument/2006/relationships/slide" Target="slide75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slide" Target="slide7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wmf"/><Relationship Id="rId13" Type="http://schemas.openxmlformats.org/officeDocument/2006/relationships/oleObject" Target="../embeddings/oleObject305.bin"/><Relationship Id="rId18" Type="http://schemas.openxmlformats.org/officeDocument/2006/relationships/slide" Target="slide75.xml"/><Relationship Id="rId3" Type="http://schemas.openxmlformats.org/officeDocument/2006/relationships/oleObject" Target="../embeddings/oleObject300.bin"/><Relationship Id="rId7" Type="http://schemas.openxmlformats.org/officeDocument/2006/relationships/oleObject" Target="../embeddings/oleObject302.bin"/><Relationship Id="rId12" Type="http://schemas.openxmlformats.org/officeDocument/2006/relationships/image" Target="../media/image263.wmf"/><Relationship Id="rId17" Type="http://schemas.openxmlformats.org/officeDocument/2006/relationships/slide" Target="slide2.xml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07.bin"/><Relationship Id="rId1" Type="http://schemas.openxmlformats.org/officeDocument/2006/relationships/vmlDrawing" Target="../drawings/vmlDrawing65.vml"/><Relationship Id="rId6" Type="http://schemas.openxmlformats.org/officeDocument/2006/relationships/image" Target="../media/image260.wmf"/><Relationship Id="rId11" Type="http://schemas.openxmlformats.org/officeDocument/2006/relationships/oleObject" Target="../embeddings/oleObject304.bin"/><Relationship Id="rId5" Type="http://schemas.openxmlformats.org/officeDocument/2006/relationships/oleObject" Target="../embeddings/oleObject301.bin"/><Relationship Id="rId15" Type="http://schemas.openxmlformats.org/officeDocument/2006/relationships/oleObject" Target="../embeddings/oleObject306.bin"/><Relationship Id="rId10" Type="http://schemas.openxmlformats.org/officeDocument/2006/relationships/image" Target="../media/image262.wmf"/><Relationship Id="rId4" Type="http://schemas.openxmlformats.org/officeDocument/2006/relationships/image" Target="../media/image259.wmf"/><Relationship Id="rId9" Type="http://schemas.openxmlformats.org/officeDocument/2006/relationships/oleObject" Target="../embeddings/oleObject303.bin"/><Relationship Id="rId14" Type="http://schemas.openxmlformats.org/officeDocument/2006/relationships/image" Target="../media/image264.wmf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wmf"/><Relationship Id="rId13" Type="http://schemas.openxmlformats.org/officeDocument/2006/relationships/oleObject" Target="../embeddings/oleObject313.bin"/><Relationship Id="rId3" Type="http://schemas.openxmlformats.org/officeDocument/2006/relationships/oleObject" Target="../embeddings/oleObject308.bin"/><Relationship Id="rId7" Type="http://schemas.openxmlformats.org/officeDocument/2006/relationships/oleObject" Target="../embeddings/oleObject310.bin"/><Relationship Id="rId12" Type="http://schemas.openxmlformats.org/officeDocument/2006/relationships/image" Target="../media/image269.wmf"/><Relationship Id="rId2" Type="http://schemas.openxmlformats.org/officeDocument/2006/relationships/slideLayout" Target="../slideLayouts/slideLayout2.xml"/><Relationship Id="rId16" Type="http://schemas.openxmlformats.org/officeDocument/2006/relationships/slide" Target="slide75.xml"/><Relationship Id="rId1" Type="http://schemas.openxmlformats.org/officeDocument/2006/relationships/vmlDrawing" Target="../drawings/vmlDrawing66.vml"/><Relationship Id="rId6" Type="http://schemas.openxmlformats.org/officeDocument/2006/relationships/image" Target="../media/image266.wmf"/><Relationship Id="rId11" Type="http://schemas.openxmlformats.org/officeDocument/2006/relationships/oleObject" Target="../embeddings/oleObject312.bin"/><Relationship Id="rId5" Type="http://schemas.openxmlformats.org/officeDocument/2006/relationships/oleObject" Target="../embeddings/oleObject309.bin"/><Relationship Id="rId15" Type="http://schemas.openxmlformats.org/officeDocument/2006/relationships/slide" Target="slide2.xml"/><Relationship Id="rId10" Type="http://schemas.openxmlformats.org/officeDocument/2006/relationships/image" Target="../media/image268.wmf"/><Relationship Id="rId4" Type="http://schemas.openxmlformats.org/officeDocument/2006/relationships/image" Target="../media/image265.wmf"/><Relationship Id="rId9" Type="http://schemas.openxmlformats.org/officeDocument/2006/relationships/oleObject" Target="../embeddings/oleObject311.bin"/><Relationship Id="rId14" Type="http://schemas.openxmlformats.org/officeDocument/2006/relationships/image" Target="../media/image270.wmf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slide" Target="slide75.xml"/><Relationship Id="rId2" Type="http://schemas.openxmlformats.org/officeDocument/2006/relationships/slide" Target="slide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71.jpeg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slide" Target="slide75.xml"/><Relationship Id="rId2" Type="http://schemas.openxmlformats.org/officeDocument/2006/relationships/image" Target="../media/image272.jpeg"/><Relationship Id="rId1" Type="http://schemas.openxmlformats.org/officeDocument/2006/relationships/slideLayout" Target="../slideLayouts/slideLayout6.xml"/><Relationship Id="rId4" Type="http://schemas.openxmlformats.org/officeDocument/2006/relationships/slide" Target="slide2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5.wmf"/><Relationship Id="rId3" Type="http://schemas.openxmlformats.org/officeDocument/2006/relationships/oleObject" Target="../embeddings/oleObject314.bin"/><Relationship Id="rId7" Type="http://schemas.openxmlformats.org/officeDocument/2006/relationships/oleObject" Target="../embeddings/oleObject316.bin"/><Relationship Id="rId12" Type="http://schemas.openxmlformats.org/officeDocument/2006/relationships/slide" Target="slide75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67.vml"/><Relationship Id="rId6" Type="http://schemas.openxmlformats.org/officeDocument/2006/relationships/image" Target="../media/image274.wmf"/><Relationship Id="rId11" Type="http://schemas.openxmlformats.org/officeDocument/2006/relationships/slide" Target="slide2.xml"/><Relationship Id="rId5" Type="http://schemas.openxmlformats.org/officeDocument/2006/relationships/oleObject" Target="../embeddings/oleObject315.bin"/><Relationship Id="rId10" Type="http://schemas.openxmlformats.org/officeDocument/2006/relationships/image" Target="../media/image276.wmf"/><Relationship Id="rId4" Type="http://schemas.openxmlformats.org/officeDocument/2006/relationships/image" Target="../media/image273.wmf"/><Relationship Id="rId9" Type="http://schemas.openxmlformats.org/officeDocument/2006/relationships/oleObject" Target="../embeddings/oleObject317.bin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slide" Target="slide75.xml"/><Relationship Id="rId3" Type="http://schemas.openxmlformats.org/officeDocument/2006/relationships/oleObject" Target="../embeddings/oleObject318.bin"/><Relationship Id="rId7" Type="http://schemas.openxmlformats.org/officeDocument/2006/relationships/slide" Target="slide2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8.vml"/><Relationship Id="rId6" Type="http://schemas.openxmlformats.org/officeDocument/2006/relationships/image" Target="../media/image278.wmf"/><Relationship Id="rId5" Type="http://schemas.openxmlformats.org/officeDocument/2006/relationships/oleObject" Target="../embeddings/oleObject319.bin"/><Relationship Id="rId4" Type="http://schemas.openxmlformats.org/officeDocument/2006/relationships/image" Target="../media/image277.wmf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0.png"/><Relationship Id="rId7" Type="http://schemas.openxmlformats.org/officeDocument/2006/relationships/slide" Target="slide75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9.vml"/><Relationship Id="rId6" Type="http://schemas.openxmlformats.org/officeDocument/2006/relationships/slide" Target="slide2.xml"/><Relationship Id="rId5" Type="http://schemas.openxmlformats.org/officeDocument/2006/relationships/image" Target="../media/image279.wmf"/><Relationship Id="rId4" Type="http://schemas.openxmlformats.org/officeDocument/2006/relationships/oleObject" Target="../embeddings/oleObject32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250825" y="2492375"/>
            <a:ext cx="8675688" cy="1655763"/>
          </a:xfrm>
        </p:spPr>
        <p:txBody>
          <a:bodyPr/>
          <a:lstStyle/>
          <a:p>
            <a:pPr algn="ctr" eaLnBrk="1" hangingPunct="1"/>
            <a:r>
              <a:rPr lang="zh-CN" altLang="en-US" sz="4800" smtClean="0"/>
              <a:t>第三章 离散傅里叶变换</a:t>
            </a:r>
            <a:r>
              <a:rPr lang="en-US" altLang="zh-CN" sz="4800" smtClean="0"/>
              <a:t>(DFT)</a:t>
            </a:r>
            <a:r>
              <a:rPr lang="zh-CN" altLang="en-US" sz="4800" smtClean="0"/>
              <a:t>及其快速算法</a:t>
            </a:r>
            <a:r>
              <a:rPr lang="en-US" altLang="zh-CN" sz="4800" smtClean="0"/>
              <a:t>(FFT)</a:t>
            </a:r>
            <a:endParaRPr lang="zh-CN" altLang="en-US" sz="48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4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1042988" y="2276475"/>
            <a:ext cx="55911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>
                <a:latin typeface="Arial" panose="020B0604020202020204" pitchFamily="34" charset="0"/>
              </a:rPr>
              <a:t> 3.1 </a:t>
            </a:r>
            <a:r>
              <a:rPr lang="zh-CN" altLang="en-US">
                <a:latin typeface="Arial" panose="020B0604020202020204" pitchFamily="34" charset="0"/>
              </a:rPr>
              <a:t>离散傅里叶变换的定义及物理意义</a:t>
            </a:r>
          </a:p>
        </p:txBody>
      </p:sp>
      <p:sp>
        <p:nvSpPr>
          <p:cNvPr id="5123" name="Rectangle 5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042988" y="2924175"/>
            <a:ext cx="3135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>
                <a:latin typeface="Arial" panose="020B0604020202020204" pitchFamily="34" charset="0"/>
              </a:rPr>
              <a:t> 3.2 DFT</a:t>
            </a:r>
            <a:r>
              <a:rPr lang="zh-CN" altLang="en-US">
                <a:latin typeface="Arial" panose="020B0604020202020204" pitchFamily="34" charset="0"/>
              </a:rPr>
              <a:t>的主要性质</a:t>
            </a:r>
          </a:p>
        </p:txBody>
      </p:sp>
      <p:sp>
        <p:nvSpPr>
          <p:cNvPr id="5124" name="Rectangle 6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1042988" y="3571875"/>
            <a:ext cx="2238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buFont typeface="Wingdings" panose="05000000000000000000" pitchFamily="2" charset="2"/>
              <a:buChar char="Ø"/>
            </a:pPr>
            <a:r>
              <a:rPr lang="en-US" altLang="zh-CN">
                <a:latin typeface="Arial" panose="020B0604020202020204" pitchFamily="34" charset="0"/>
              </a:rPr>
              <a:t> 3.3 </a:t>
            </a:r>
            <a:r>
              <a:rPr lang="zh-CN" altLang="en-US">
                <a:latin typeface="Arial" panose="020B0604020202020204" pitchFamily="34" charset="0"/>
              </a:rPr>
              <a:t>频域采样</a:t>
            </a:r>
          </a:p>
        </p:txBody>
      </p:sp>
      <p:sp>
        <p:nvSpPr>
          <p:cNvPr id="5125" name="Rectangle 7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1042988" y="4940300"/>
            <a:ext cx="3590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>
                <a:latin typeface="Arial" panose="020B0604020202020204" pitchFamily="34" charset="0"/>
              </a:rPr>
              <a:t> 3.5 DFT(FFT)</a:t>
            </a:r>
            <a:r>
              <a:rPr lang="zh-CN" altLang="en-US">
                <a:latin typeface="Arial" panose="020B0604020202020204" pitchFamily="34" charset="0"/>
              </a:rPr>
              <a:t>应用举例</a:t>
            </a:r>
          </a:p>
        </p:txBody>
      </p:sp>
      <p:sp>
        <p:nvSpPr>
          <p:cNvPr id="5126" name="Rectangle 8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1042988" y="4221163"/>
            <a:ext cx="6638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altLang="zh-CN">
                <a:latin typeface="Arial" panose="020B0604020202020204" pitchFamily="34" charset="0"/>
              </a:rPr>
              <a:t> 3.4 DFT</a:t>
            </a:r>
            <a:r>
              <a:rPr lang="zh-CN" altLang="en-US">
                <a:latin typeface="Arial" panose="020B0604020202020204" pitchFamily="34" charset="0"/>
              </a:rPr>
              <a:t>的快速算法</a:t>
            </a:r>
            <a:r>
              <a:rPr lang="en-US" altLang="zh-CN">
                <a:latin typeface="Arial" panose="020B0604020202020204" pitchFamily="34" charset="0"/>
              </a:rPr>
              <a:t>——</a:t>
            </a:r>
            <a:r>
              <a:rPr lang="zh-CN" altLang="en-US">
                <a:latin typeface="Arial" panose="020B0604020202020204" pitchFamily="34" charset="0"/>
              </a:rPr>
              <a:t>快速傅里叶变换</a:t>
            </a:r>
            <a:r>
              <a:rPr lang="en-US" altLang="zh-CN">
                <a:latin typeface="Arial" panose="020B0604020202020204" pitchFamily="34" charset="0"/>
              </a:rPr>
              <a:t>(FFT)</a:t>
            </a:r>
            <a:endParaRPr lang="zh-CN" altLang="en-US">
              <a:latin typeface="Arial" panose="020B0604020202020204" pitchFamily="34" charset="0"/>
            </a:endParaRPr>
          </a:p>
        </p:txBody>
      </p:sp>
      <p:sp>
        <p:nvSpPr>
          <p:cNvPr id="5127" name="WordArt 9"/>
          <p:cNvSpPr>
            <a:spLocks noChangeArrowheads="1" noChangeShapeType="1" noTextEdit="1"/>
          </p:cNvSpPr>
          <p:nvPr/>
        </p:nvSpPr>
        <p:spPr bwMode="auto">
          <a:xfrm>
            <a:off x="1114425" y="1555750"/>
            <a:ext cx="1584325" cy="431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zh-CN" altLang="en-US" sz="3600" kern="10">
                <a:ln w="9525">
                  <a:solidFill>
                    <a:schemeClr val="folHlink"/>
                  </a:solidFill>
                  <a:round/>
                  <a:headEnd/>
                  <a:tailEnd/>
                </a:ln>
                <a:solidFill>
                  <a:srgbClr val="CC3300"/>
                </a:solidFill>
                <a:latin typeface="宋体" panose="02010600030101010101" pitchFamily="2" charset="-122"/>
              </a:rPr>
              <a:t>本章主要讲述：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476250"/>
            <a:ext cx="7305675" cy="687388"/>
          </a:xfrm>
        </p:spPr>
        <p:txBody>
          <a:bodyPr/>
          <a:lstStyle/>
          <a:p>
            <a:pPr algn="ctr" eaLnBrk="1" hangingPunct="1"/>
            <a:r>
              <a:rPr lang="en-US" altLang="zh-CN" smtClean="0"/>
              <a:t>3.1 </a:t>
            </a:r>
            <a:r>
              <a:rPr lang="zh-CN" altLang="en-US" smtClean="0"/>
              <a:t>离散傅里叶变换的定义及物理意义 </a:t>
            </a:r>
          </a:p>
        </p:txBody>
      </p:sp>
      <p:sp>
        <p:nvSpPr>
          <p:cNvPr id="6318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412875"/>
            <a:ext cx="7993062" cy="42672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zh-CN" altLang="en-US" dirty="0" smtClean="0"/>
          </a:p>
          <a:p>
            <a:pPr eaLnBrk="1" hangingPunct="1">
              <a:buFontTx/>
              <a:buNone/>
            </a:pPr>
            <a:r>
              <a:rPr lang="zh-CN" altLang="en-US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              模拟域</a:t>
            </a:r>
          </a:p>
          <a:p>
            <a:pPr eaLnBrk="1" hangingPunct="1">
              <a:buFontTx/>
              <a:buNone/>
            </a:pPr>
            <a:r>
              <a:rPr lang="en-US" altLang="zh-CN" dirty="0" smtClean="0">
                <a:latin typeface="Bodoni MT Black" panose="02070A03080606020203" pitchFamily="18" charset="0"/>
              </a:rPr>
              <a:t>                              </a:t>
            </a:r>
            <a:r>
              <a:rPr lang="en-US" altLang="zh-CN" dirty="0" smtClean="0">
                <a:latin typeface="Arial Black" panose="020B0A04020102020204" pitchFamily="34" charset="0"/>
              </a:rPr>
              <a:t>FT</a:t>
            </a:r>
            <a:r>
              <a:rPr lang="zh-CN" altLang="en-US" dirty="0" smtClean="0">
                <a:latin typeface="Arial Black" panose="020B0A04020102020204" pitchFamily="34" charset="0"/>
              </a:rPr>
              <a:t>、</a:t>
            </a:r>
            <a:r>
              <a:rPr lang="en-US" altLang="zh-CN" dirty="0" smtClean="0">
                <a:latin typeface="Arial Black" panose="020B0A04020102020204" pitchFamily="34" charset="0"/>
              </a:rPr>
              <a:t>LT</a:t>
            </a:r>
          </a:p>
          <a:p>
            <a:pPr eaLnBrk="1" hangingPunct="1">
              <a:buFontTx/>
              <a:buNone/>
            </a:pPr>
            <a:endParaRPr lang="zh-CN" altLang="en-US" dirty="0" smtClean="0"/>
          </a:p>
          <a:p>
            <a:pPr eaLnBrk="1" hangingPunct="1">
              <a:buFontTx/>
              <a:buNone/>
            </a:pPr>
            <a:endParaRPr lang="zh-CN" altLang="en-US" dirty="0" smtClean="0"/>
          </a:p>
          <a:p>
            <a:pPr eaLnBrk="1" hangingPunct="1">
              <a:buFontTx/>
              <a:buNone/>
            </a:pPr>
            <a:r>
              <a:rPr lang="en-US" altLang="zh-CN" dirty="0" smtClean="0"/>
              <a:t>                     </a:t>
            </a:r>
            <a:r>
              <a:rPr lang="zh-CN" altLang="en-US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数字域</a:t>
            </a:r>
          </a:p>
          <a:p>
            <a:pPr eaLnBrk="1" hangingPunct="1">
              <a:buFontTx/>
              <a:buNone/>
            </a:pPr>
            <a:r>
              <a:rPr lang="zh-CN" altLang="en-US" dirty="0" smtClean="0"/>
              <a:t>                    </a:t>
            </a:r>
            <a:r>
              <a:rPr lang="en-US" altLang="zh-CN" dirty="0" smtClean="0">
                <a:latin typeface="Arial Black" panose="020B0A04020102020204" pitchFamily="34" charset="0"/>
              </a:rPr>
              <a:t>FT</a:t>
            </a:r>
            <a:r>
              <a:rPr lang="zh-CN" altLang="en-US" dirty="0" smtClean="0">
                <a:latin typeface="Arial Black" panose="020B0A04020102020204" pitchFamily="34" charset="0"/>
              </a:rPr>
              <a:t>、</a:t>
            </a:r>
            <a:r>
              <a:rPr lang="en-US" altLang="zh-CN" dirty="0" smtClean="0">
                <a:latin typeface="Arial Black" panose="020B0A04020102020204" pitchFamily="34" charset="0"/>
              </a:rPr>
              <a:t>ZT</a:t>
            </a:r>
          </a:p>
          <a:p>
            <a:pPr eaLnBrk="1" hangingPunct="1">
              <a:buFontTx/>
              <a:buNone/>
            </a:pPr>
            <a:r>
              <a:rPr lang="zh-CN" altLang="en-US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                       </a:t>
            </a:r>
          </a:p>
          <a:p>
            <a:pPr eaLnBrk="1" hangingPunct="1">
              <a:buFontTx/>
              <a:buNone/>
            </a:pPr>
            <a:r>
              <a:rPr lang="zh-CN" altLang="en-US" dirty="0" smtClean="0">
                <a:latin typeface="华文新魏" panose="02010800040101010101" pitchFamily="2" charset="-122"/>
                <a:ea typeface="华文新魏" panose="02010800040101010101" pitchFamily="2" charset="-122"/>
              </a:rPr>
              <a:t>                                                  数字域</a:t>
            </a:r>
            <a:endParaRPr lang="en-US" altLang="zh-CN" dirty="0" smtClean="0">
              <a:latin typeface="Arial Black" panose="020B0A04020102020204" pitchFamily="34" charset="0"/>
            </a:endParaRPr>
          </a:p>
          <a:p>
            <a:pPr eaLnBrk="1" hangingPunct="1">
              <a:buFontTx/>
              <a:buNone/>
            </a:pPr>
            <a:r>
              <a:rPr lang="en-US" altLang="zh-CN" dirty="0" smtClean="0">
                <a:latin typeface="Arial Black" panose="020B0A04020102020204" pitchFamily="34" charset="0"/>
              </a:rPr>
              <a:t>                              DFT</a:t>
            </a:r>
          </a:p>
          <a:p>
            <a:pPr eaLnBrk="1" hangingPunct="1"/>
            <a:endParaRPr lang="zh-CN" altLang="en-US" dirty="0" smtClean="0"/>
          </a:p>
        </p:txBody>
      </p:sp>
      <p:sp>
        <p:nvSpPr>
          <p:cNvPr id="631813" name="Cloud"/>
          <p:cNvSpPr>
            <a:spLocks noChangeAspect="1" noEditPoints="1" noChangeArrowheads="1"/>
          </p:cNvSpPr>
          <p:nvPr/>
        </p:nvSpPr>
        <p:spPr bwMode="auto">
          <a:xfrm>
            <a:off x="827088" y="1557338"/>
            <a:ext cx="2376487" cy="1254125"/>
          </a:xfrm>
          <a:custGeom>
            <a:avLst/>
            <a:gdLst>
              <a:gd name="T0" fmla="*/ 89237747 w 21600"/>
              <a:gd name="T1" fmla="*/ 2113904328 h 21600"/>
              <a:gd name="T2" fmla="*/ 2147483646 w 21600"/>
              <a:gd name="T3" fmla="*/ 2147483646 h 21600"/>
              <a:gd name="T4" fmla="*/ 2147483646 w 21600"/>
              <a:gd name="T5" fmla="*/ 2113904328 h 21600"/>
              <a:gd name="T6" fmla="*/ 2147483646 w 21600"/>
              <a:gd name="T7" fmla="*/ 241729516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1"/>
                </a:solidFill>
                <a:latin typeface="华文彩云" panose="02010800040101010101" pitchFamily="2" charset="-122"/>
                <a:ea typeface="华文彩云" panose="02010800040101010101" pitchFamily="2" charset="-122"/>
              </a:rPr>
              <a:t>  </a:t>
            </a:r>
            <a:r>
              <a:rPr lang="zh-CN" altLang="en-US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时间域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  <a:r>
              <a:rPr lang="en-US" altLang="zh-CN" sz="2000">
                <a:solidFill>
                  <a:schemeClr val="tx1"/>
                </a:solidFill>
                <a:latin typeface="Arial Black" panose="020B0A04020102020204" pitchFamily="34" charset="0"/>
                <a:ea typeface="隶书" panose="02010509060101010101" pitchFamily="49" charset="-122"/>
              </a:rPr>
              <a:t>t</a:t>
            </a:r>
            <a:r>
              <a:rPr lang="en-US" altLang="zh-CN" sz="20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  <a:r>
              <a:rPr lang="zh-CN" altLang="en-US" sz="20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连续</a:t>
            </a:r>
          </a:p>
        </p:txBody>
      </p:sp>
      <p:sp>
        <p:nvSpPr>
          <p:cNvPr id="631814" name="Cloud"/>
          <p:cNvSpPr>
            <a:spLocks noChangeAspect="1" noEditPoints="1" noChangeArrowheads="1"/>
          </p:cNvSpPr>
          <p:nvPr/>
        </p:nvSpPr>
        <p:spPr bwMode="auto">
          <a:xfrm>
            <a:off x="5435600" y="1557338"/>
            <a:ext cx="2449513" cy="1223962"/>
          </a:xfrm>
          <a:custGeom>
            <a:avLst/>
            <a:gdLst>
              <a:gd name="T0" fmla="*/ 97712775 w 21600"/>
              <a:gd name="T1" fmla="*/ 1965016989 h 21600"/>
              <a:gd name="T2" fmla="*/ 2147483646 w 21600"/>
              <a:gd name="T3" fmla="*/ 2147483646 h 21600"/>
              <a:gd name="T4" fmla="*/ 2147483646 w 21600"/>
              <a:gd name="T5" fmla="*/ 1965016989 h 21600"/>
              <a:gd name="T6" fmla="*/ 2147483646 w 21600"/>
              <a:gd name="T7" fmla="*/ 22470282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频率域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Ω</a:t>
            </a:r>
            <a:r>
              <a:rPr lang="zh-CN" altLang="en-US" sz="1800" b="1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、</a:t>
            </a:r>
            <a:r>
              <a:rPr lang="en-US" altLang="zh-CN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s:</a:t>
            </a:r>
            <a:r>
              <a:rPr lang="zh-CN" altLang="en-US" dirty="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连续</a:t>
            </a:r>
          </a:p>
        </p:txBody>
      </p:sp>
      <p:sp>
        <p:nvSpPr>
          <p:cNvPr id="631815" name="Cloud"/>
          <p:cNvSpPr>
            <a:spLocks noChangeAspect="1" noEditPoints="1" noChangeArrowheads="1"/>
          </p:cNvSpPr>
          <p:nvPr/>
        </p:nvSpPr>
        <p:spPr bwMode="auto">
          <a:xfrm>
            <a:off x="755650" y="3500438"/>
            <a:ext cx="2520950" cy="1223962"/>
          </a:xfrm>
          <a:custGeom>
            <a:avLst/>
            <a:gdLst>
              <a:gd name="T0" fmla="*/ 106519124 w 21600"/>
              <a:gd name="T1" fmla="*/ 1965016989 h 21600"/>
              <a:gd name="T2" fmla="*/ 2147483646 w 21600"/>
              <a:gd name="T3" fmla="*/ 2147483646 h 21600"/>
              <a:gd name="T4" fmla="*/ 2147483646 w 21600"/>
              <a:gd name="T5" fmla="*/ 1965016989 h 21600"/>
              <a:gd name="T6" fmla="*/ 2147483646 w 21600"/>
              <a:gd name="T7" fmla="*/ 22470282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   时间域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solidFill>
                  <a:schemeClr val="tx1"/>
                </a:solidFill>
                <a:latin typeface="Arial" panose="020B0604020202020204" pitchFamily="34" charset="0"/>
              </a:rPr>
              <a:t>   </a:t>
            </a:r>
            <a:r>
              <a:rPr lang="en-US" altLang="zh-CN" sz="2000">
                <a:solidFill>
                  <a:schemeClr val="tx1"/>
                </a:solidFill>
                <a:latin typeface="Arial Black" panose="020B0A04020102020204" pitchFamily="34" charset="0"/>
                <a:ea typeface="隶书" panose="02010509060101010101" pitchFamily="49" charset="-122"/>
              </a:rPr>
              <a:t>n</a:t>
            </a:r>
            <a:r>
              <a:rPr lang="en-US" altLang="zh-CN" sz="20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:</a:t>
            </a:r>
            <a:r>
              <a:rPr lang="zh-CN" altLang="en-US" sz="2000">
                <a:solidFill>
                  <a:schemeClr val="tx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离散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>
              <a:solidFill>
                <a:schemeClr val="tx1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</p:txBody>
      </p:sp>
      <p:sp>
        <p:nvSpPr>
          <p:cNvPr id="631816" name="Cloud"/>
          <p:cNvSpPr>
            <a:spLocks noChangeAspect="1" noEditPoints="1" noChangeArrowheads="1"/>
          </p:cNvSpPr>
          <p:nvPr/>
        </p:nvSpPr>
        <p:spPr bwMode="auto">
          <a:xfrm>
            <a:off x="5292725" y="5373688"/>
            <a:ext cx="2449513" cy="1223962"/>
          </a:xfrm>
          <a:custGeom>
            <a:avLst/>
            <a:gdLst>
              <a:gd name="T0" fmla="*/ 97712775 w 21600"/>
              <a:gd name="T1" fmla="*/ 1965016989 h 21600"/>
              <a:gd name="T2" fmla="*/ 2147483646 w 21600"/>
              <a:gd name="T3" fmla="*/ 2147483646 h 21600"/>
              <a:gd name="T4" fmla="*/ 2147483646 w 21600"/>
              <a:gd name="T5" fmla="*/ 1965016989 h 21600"/>
              <a:gd name="T6" fmla="*/ 2147483646 w 21600"/>
              <a:gd name="T7" fmla="*/ 224702820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频率域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    k</a:t>
            </a:r>
            <a:r>
              <a:rPr lang="zh-CN" altLang="en-US" sz="2000" b="1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：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离散</a:t>
            </a:r>
          </a:p>
        </p:txBody>
      </p:sp>
      <p:sp>
        <p:nvSpPr>
          <p:cNvPr id="631818" name="AutoShape 10"/>
          <p:cNvSpPr>
            <a:spLocks noChangeArrowheads="1"/>
          </p:cNvSpPr>
          <p:nvPr/>
        </p:nvSpPr>
        <p:spPr bwMode="auto">
          <a:xfrm>
            <a:off x="3563938" y="3933825"/>
            <a:ext cx="1727200" cy="215900"/>
          </a:xfrm>
          <a:prstGeom prst="leftRightArrow">
            <a:avLst>
              <a:gd name="adj1" fmla="val 50000"/>
              <a:gd name="adj2" fmla="val 16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31819" name="AutoShape 11"/>
          <p:cNvSpPr>
            <a:spLocks noChangeArrowheads="1"/>
          </p:cNvSpPr>
          <p:nvPr/>
        </p:nvSpPr>
        <p:spPr bwMode="auto">
          <a:xfrm>
            <a:off x="3338513" y="2170113"/>
            <a:ext cx="1800225" cy="215900"/>
          </a:xfrm>
          <a:prstGeom prst="leftRightArrow">
            <a:avLst>
              <a:gd name="adj1" fmla="val 50000"/>
              <a:gd name="adj2" fmla="val 16676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31821" name="AutoShape 13"/>
          <p:cNvSpPr>
            <a:spLocks noChangeArrowheads="1"/>
          </p:cNvSpPr>
          <p:nvPr/>
        </p:nvSpPr>
        <p:spPr bwMode="auto">
          <a:xfrm rot="1060789">
            <a:off x="3419475" y="5157788"/>
            <a:ext cx="1727200" cy="215900"/>
          </a:xfrm>
          <a:prstGeom prst="leftRightArrow">
            <a:avLst>
              <a:gd name="adj1" fmla="val 50000"/>
              <a:gd name="adj2" fmla="val 160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31822" name="Cloud"/>
          <p:cNvSpPr>
            <a:spLocks noChangeAspect="1" noEditPoints="1" noChangeArrowheads="1"/>
          </p:cNvSpPr>
          <p:nvPr/>
        </p:nvSpPr>
        <p:spPr bwMode="auto">
          <a:xfrm>
            <a:off x="5580063" y="3429000"/>
            <a:ext cx="2449512" cy="1223963"/>
          </a:xfrm>
          <a:custGeom>
            <a:avLst/>
            <a:gdLst>
              <a:gd name="T0" fmla="*/ 97712735 w 21600"/>
              <a:gd name="T1" fmla="*/ 1965023411 h 21600"/>
              <a:gd name="T2" fmla="*/ 2147483646 w 21600"/>
              <a:gd name="T3" fmla="*/ 2147483646 h 21600"/>
              <a:gd name="T4" fmla="*/ 2147483646 w 21600"/>
              <a:gd name="T5" fmla="*/ 1965023411 h 21600"/>
              <a:gd name="T6" fmla="*/ 2147483646 w 21600"/>
              <a:gd name="T7" fmla="*/ 224703174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0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1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300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7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7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0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0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50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2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10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rgbClr val="FFBE7D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/>
            </a:outerShdw>
          </a:effec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   </a:t>
            </a: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频率域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ω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、</a:t>
            </a: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z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华文新魏" panose="02010800040101010101" pitchFamily="2" charset="-122"/>
              </a:rPr>
              <a:t>：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  <a:ea typeface="隶书" panose="02010509060101010101" pitchFamily="49" charset="-122"/>
              </a:rPr>
              <a:t>连续</a:t>
            </a:r>
          </a:p>
        </p:txBody>
      </p:sp>
      <p:sp>
        <p:nvSpPr>
          <p:cNvPr id="6156" name="AutoShape 15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6157" name="Rectangle 1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318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18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31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31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31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318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8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318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3181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1813" grpId="0" animBg="1"/>
      <p:bldP spid="631814" grpId="0" animBg="1"/>
      <p:bldP spid="631815" grpId="0" animBg="1"/>
      <p:bldP spid="631816" grpId="0" animBg="1"/>
      <p:bldP spid="631819" grpId="0" animBg="1"/>
      <p:bldP spid="63182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908050"/>
            <a:ext cx="7258050" cy="36734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    离散傅立叶变换（</a:t>
            </a:r>
            <a:r>
              <a:rPr lang="en-US" altLang="zh-CN" smtClean="0"/>
              <a:t>DFT</a:t>
            </a:r>
            <a:r>
              <a:rPr lang="zh-CN" altLang="en-US" smtClean="0"/>
              <a:t>）实现了信号首次在频域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表示的离散化，使得频域也能够用计算机进行处理。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并且这种</a:t>
            </a:r>
            <a:r>
              <a:rPr lang="en-US" altLang="zh-CN" smtClean="0"/>
              <a:t>DFT</a:t>
            </a:r>
            <a:r>
              <a:rPr lang="zh-CN" altLang="en-US" smtClean="0"/>
              <a:t>变换可以有多种实用的快速算法。使信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号处理在时、频域的处理和转换均可离散化和快速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化。因而</a:t>
            </a:r>
            <a:r>
              <a:rPr lang="zh-CN" altLang="en-US" smtClean="0">
                <a:solidFill>
                  <a:srgbClr val="FF0000"/>
                </a:solidFill>
              </a:rPr>
              <a:t>具有重要的理论意义和应用价值，是本课程</a:t>
            </a:r>
          </a:p>
          <a:p>
            <a:pPr eaLnBrk="1" hangingPunct="1">
              <a:buFontTx/>
              <a:buNone/>
            </a:pPr>
            <a:r>
              <a:rPr lang="zh-CN" altLang="en-US" smtClean="0">
                <a:solidFill>
                  <a:srgbClr val="FF0000"/>
                </a:solidFill>
              </a:rPr>
              <a:t>学习的一大重点</a:t>
            </a:r>
            <a:r>
              <a:rPr lang="zh-CN" altLang="en-US" smtClean="0"/>
              <a:t>。</a:t>
            </a:r>
          </a:p>
          <a:p>
            <a:pPr eaLnBrk="1" hangingPunct="1"/>
            <a:endParaRPr lang="en-US" altLang="zh-CN" smtClean="0"/>
          </a:p>
          <a:p>
            <a:pPr eaLnBrk="1" hangingPunct="1">
              <a:buFontTx/>
              <a:buNone/>
            </a:pPr>
            <a:r>
              <a:rPr lang="zh-CN" altLang="en-US" b="1" smtClean="0"/>
              <a:t>  本节主要介绍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/>
            <a:endParaRPr lang="zh-CN" altLang="en-US" smtClean="0"/>
          </a:p>
        </p:txBody>
      </p:sp>
      <p:sp>
        <p:nvSpPr>
          <p:cNvPr id="7171" name="AutoShape 5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7172" name="Rectangle 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7173" name="Rectangl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187450" y="4581525"/>
            <a:ext cx="2508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SzPct val="70000"/>
              <a:buFont typeface="Wingdings" panose="05000000000000000000" pitchFamily="2" charset="2"/>
              <a:buChar char="p"/>
            </a:pPr>
            <a:r>
              <a:rPr lang="en-US" altLang="zh-CN">
                <a:latin typeface="Arial" panose="020B0604020202020204" pitchFamily="34" charset="0"/>
              </a:rPr>
              <a:t>  3.1.1 DFT</a:t>
            </a:r>
            <a:r>
              <a:rPr lang="zh-CN" altLang="en-US">
                <a:latin typeface="Arial" panose="020B0604020202020204" pitchFamily="34" charset="0"/>
              </a:rPr>
              <a:t>定义</a:t>
            </a:r>
          </a:p>
        </p:txBody>
      </p:sp>
      <p:sp>
        <p:nvSpPr>
          <p:cNvPr id="7174" name="Rectangle 8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1187450" y="5157788"/>
            <a:ext cx="508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p"/>
            </a:pPr>
            <a:r>
              <a:rPr lang="en-US" altLang="zh-CN">
                <a:latin typeface="Arial" panose="020B0604020202020204" pitchFamily="34" charset="0"/>
              </a:rPr>
              <a:t>  3.1.2 DFT</a:t>
            </a:r>
            <a:r>
              <a:rPr lang="zh-CN" altLang="en-US">
                <a:latin typeface="Arial" panose="020B0604020202020204" pitchFamily="34" charset="0"/>
              </a:rPr>
              <a:t>与</a:t>
            </a:r>
            <a:r>
              <a:rPr lang="en-US" altLang="zh-CN">
                <a:latin typeface="Arial" panose="020B0604020202020204" pitchFamily="34" charset="0"/>
              </a:rPr>
              <a:t>ZT</a:t>
            </a:r>
            <a:r>
              <a:rPr lang="zh-CN" altLang="en-US">
                <a:latin typeface="Arial" panose="020B0604020202020204" pitchFamily="34" charset="0"/>
              </a:rPr>
              <a:t>、</a:t>
            </a:r>
            <a:r>
              <a:rPr lang="en-US" altLang="zh-CN">
                <a:latin typeface="Arial" panose="020B0604020202020204" pitchFamily="34" charset="0"/>
              </a:rPr>
              <a:t>FT</a:t>
            </a:r>
            <a:r>
              <a:rPr lang="zh-CN" altLang="en-US">
                <a:latin typeface="Arial" panose="020B0604020202020204" pitchFamily="34" charset="0"/>
              </a:rPr>
              <a:t>、</a:t>
            </a:r>
            <a:r>
              <a:rPr lang="en-US" altLang="zh-CN">
                <a:latin typeface="Arial" panose="020B0604020202020204" pitchFamily="34" charset="0"/>
              </a:rPr>
              <a:t>DFS</a:t>
            </a:r>
            <a:r>
              <a:rPr lang="zh-CN" altLang="en-US">
                <a:latin typeface="Arial" panose="020B0604020202020204" pitchFamily="34" charset="0"/>
              </a:rPr>
              <a:t>的关系</a:t>
            </a:r>
          </a:p>
        </p:txBody>
      </p:sp>
      <p:sp>
        <p:nvSpPr>
          <p:cNvPr id="7175" name="Rectangle 9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1187450" y="5734050"/>
            <a:ext cx="34226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p"/>
            </a:pPr>
            <a:r>
              <a:rPr lang="en-US" altLang="zh-CN">
                <a:latin typeface="Arial" panose="020B0604020202020204" pitchFamily="34" charset="0"/>
              </a:rPr>
              <a:t>  3.1.3 DFT</a:t>
            </a:r>
            <a:r>
              <a:rPr lang="zh-CN" altLang="en-US">
                <a:latin typeface="Arial" panose="020B0604020202020204" pitchFamily="34" charset="0"/>
              </a:rPr>
              <a:t>的矩阵表示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549275"/>
            <a:ext cx="6859587" cy="542925"/>
          </a:xfrm>
        </p:spPr>
        <p:txBody>
          <a:bodyPr/>
          <a:lstStyle/>
          <a:p>
            <a:pPr eaLnBrk="1" hangingPunct="1"/>
            <a:r>
              <a:rPr lang="en-US" altLang="zh-CN" sz="2800" smtClean="0"/>
              <a:t>3.1.1 DFT</a:t>
            </a:r>
            <a:r>
              <a:rPr lang="zh-CN" altLang="en-US" sz="2800" smtClean="0"/>
              <a:t>定义</a:t>
            </a:r>
          </a:p>
        </p:txBody>
      </p:sp>
      <p:sp>
        <p:nvSpPr>
          <p:cNvPr id="6328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196975"/>
            <a:ext cx="7848600" cy="49688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设序列</a:t>
            </a:r>
            <a:r>
              <a:rPr lang="en-US" altLang="zh-CN" smtClean="0"/>
              <a:t>x(n)</a:t>
            </a:r>
            <a:r>
              <a:rPr lang="zh-CN" altLang="en-US" smtClean="0"/>
              <a:t>长度为</a:t>
            </a:r>
            <a:r>
              <a:rPr lang="en-US" altLang="zh-CN" smtClean="0"/>
              <a:t>M</a:t>
            </a:r>
            <a:r>
              <a:rPr lang="zh-CN" altLang="en-US" smtClean="0"/>
              <a:t>，</a:t>
            </a:r>
            <a:r>
              <a:rPr lang="zh-CN" altLang="en-US" b="1" smtClean="0"/>
              <a:t>定义</a:t>
            </a:r>
            <a:r>
              <a:rPr lang="en-US" altLang="zh-CN" smtClean="0"/>
              <a:t>x(n)</a:t>
            </a:r>
            <a:r>
              <a:rPr lang="zh-CN" altLang="en-US" smtClean="0"/>
              <a:t>的</a:t>
            </a:r>
            <a:r>
              <a:rPr lang="en-US" altLang="zh-CN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为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式中，</a:t>
            </a:r>
            <a:r>
              <a:rPr lang="en-US" altLang="zh-CN" smtClean="0"/>
              <a:t>N</a:t>
            </a:r>
            <a:r>
              <a:rPr lang="zh-CN" altLang="en-US" smtClean="0"/>
              <a:t>称为离散傅里叶变换区间长度，要求</a:t>
            </a:r>
            <a:r>
              <a:rPr lang="en-US" altLang="zh-CN" smtClean="0"/>
              <a:t>N ≥ M</a:t>
            </a:r>
            <a:r>
              <a:rPr lang="zh-CN" altLang="en-US" smtClean="0"/>
              <a:t>。为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书写简单，</a:t>
            </a:r>
            <a:r>
              <a:rPr lang="zh-CN" altLang="en-US" b="1" smtClean="0"/>
              <a:t>令</a:t>
            </a:r>
            <a:r>
              <a:rPr lang="zh-CN" altLang="en-US" smtClean="0"/>
              <a:t>       ，因此通常将</a:t>
            </a:r>
            <a:r>
              <a:rPr lang="en-US" altLang="zh-CN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表示为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b="1" smtClean="0"/>
              <a:t>定义</a:t>
            </a:r>
            <a:r>
              <a:rPr lang="en-US" altLang="zh-CN" smtClean="0"/>
              <a:t>X(k)</a:t>
            </a:r>
            <a:r>
              <a:rPr lang="zh-CN" altLang="en-US" smtClean="0"/>
              <a:t>的</a:t>
            </a:r>
            <a:r>
              <a:rPr lang="en-US" altLang="zh-CN" smtClean="0"/>
              <a:t>N</a:t>
            </a:r>
            <a:r>
              <a:rPr lang="zh-CN" altLang="en-US" smtClean="0"/>
              <a:t>点离散傅里叶逆变换</a:t>
            </a:r>
            <a:r>
              <a:rPr lang="en-US" altLang="zh-CN" smtClean="0"/>
              <a:t>(IDFT)</a:t>
            </a:r>
            <a:r>
              <a:rPr lang="zh-CN" altLang="en-US" smtClean="0"/>
              <a:t>为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</p:txBody>
      </p:sp>
      <p:graphicFrame>
        <p:nvGraphicFramePr>
          <p:cNvPr id="632836" name="Object 4"/>
          <p:cNvGraphicFramePr>
            <a:graphicFrameLocks noChangeAspect="1"/>
          </p:cNvGraphicFramePr>
          <p:nvPr/>
        </p:nvGraphicFramePr>
        <p:xfrm>
          <a:off x="1476375" y="1700213"/>
          <a:ext cx="6192838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6" r:id="rId3" imgW="3225800" imgH="431800" progId="Equation.3">
                  <p:embed/>
                </p:oleObj>
              </mc:Choice>
              <mc:Fallback>
                <p:oleObj r:id="rId3" imgW="3225800" imgH="4318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700213"/>
                        <a:ext cx="6192838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2838" name="Object 6"/>
          <p:cNvGraphicFramePr>
            <a:graphicFrameLocks noChangeAspect="1"/>
          </p:cNvGraphicFramePr>
          <p:nvPr/>
        </p:nvGraphicFramePr>
        <p:xfrm>
          <a:off x="1403350" y="3502025"/>
          <a:ext cx="5905500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7" r:id="rId5" imgW="3086100" imgH="419100" progId="Equation.3">
                  <p:embed/>
                </p:oleObj>
              </mc:Choice>
              <mc:Fallback>
                <p:oleObj r:id="rId5" imgW="30861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502025"/>
                        <a:ext cx="5905500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2840" name="Object 8"/>
          <p:cNvGraphicFramePr>
            <a:graphicFrameLocks noChangeAspect="1"/>
          </p:cNvGraphicFramePr>
          <p:nvPr/>
        </p:nvGraphicFramePr>
        <p:xfrm>
          <a:off x="2411413" y="2924175"/>
          <a:ext cx="10795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8" r:id="rId7" imgW="609336" imgH="317362" progId="Equation.3">
                  <p:embed/>
                </p:oleObj>
              </mc:Choice>
              <mc:Fallback>
                <p:oleObj r:id="rId7" imgW="609336" imgH="31736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924175"/>
                        <a:ext cx="107950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2842" name="Object 10"/>
          <p:cNvGraphicFramePr>
            <a:graphicFrameLocks noChangeAspect="1"/>
          </p:cNvGraphicFramePr>
          <p:nvPr/>
        </p:nvGraphicFramePr>
        <p:xfrm>
          <a:off x="1331913" y="4797425"/>
          <a:ext cx="6119812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49" r:id="rId9" imgW="3314700" imgH="419100" progId="Equation.3">
                  <p:embed/>
                </p:oleObj>
              </mc:Choice>
              <mc:Fallback>
                <p:oleObj r:id="rId9" imgW="3314700" imgH="419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797425"/>
                        <a:ext cx="6119812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2844" name="AutoShape 12"/>
          <p:cNvSpPr>
            <a:spLocks/>
          </p:cNvSpPr>
          <p:nvPr/>
        </p:nvSpPr>
        <p:spPr bwMode="auto">
          <a:xfrm>
            <a:off x="7596188" y="3862388"/>
            <a:ext cx="71437" cy="1439862"/>
          </a:xfrm>
          <a:prstGeom prst="rightBrace">
            <a:avLst>
              <a:gd name="adj1" fmla="val 167964"/>
              <a:gd name="adj2" fmla="val 50000"/>
            </a:avLst>
          </a:prstGeom>
          <a:noFill/>
          <a:ln w="9525">
            <a:solidFill>
              <a:srgbClr val="0033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32845" name="Text Box 13"/>
          <p:cNvSpPr txBox="1">
            <a:spLocks noChangeArrowheads="1"/>
          </p:cNvSpPr>
          <p:nvPr/>
        </p:nvSpPr>
        <p:spPr bwMode="auto">
          <a:xfrm>
            <a:off x="7740650" y="4078288"/>
            <a:ext cx="94615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33CC"/>
                </a:solidFill>
                <a:latin typeface="Arial" panose="020B0604020202020204" pitchFamily="34" charset="0"/>
              </a:rPr>
              <a:t>长度为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solidFill>
                  <a:srgbClr val="0033CC"/>
                </a:solidFill>
                <a:latin typeface="Arial" panose="020B0604020202020204" pitchFamily="34" charset="0"/>
              </a:rPr>
              <a:t>N</a:t>
            </a:r>
            <a:r>
              <a:rPr lang="zh-CN" altLang="en-US" sz="2000">
                <a:solidFill>
                  <a:srgbClr val="0033CC"/>
                </a:solidFill>
                <a:latin typeface="Arial" panose="020B0604020202020204" pitchFamily="34" charset="0"/>
              </a:rPr>
              <a:t>的离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solidFill>
                  <a:srgbClr val="0033CC"/>
                </a:solidFill>
                <a:latin typeface="Arial" panose="020B0604020202020204" pitchFamily="34" charset="0"/>
              </a:rPr>
              <a:t>散序列</a:t>
            </a:r>
          </a:p>
        </p:txBody>
      </p:sp>
      <p:sp>
        <p:nvSpPr>
          <p:cNvPr id="8202" name="AutoShape 16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8203" name="Rectangle 17">
            <a:hlinkClick r:id="rId11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8204" name="AutoShape 18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8205" name="Rectangle 19">
            <a:hlinkClick r:id="rId12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6328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0" dur="500"/>
                                        <p:tgtEl>
                                          <p:spTgt spid="632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2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328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2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328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28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28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328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328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32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32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32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328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8" presetClass="entr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3284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328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328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328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32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32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328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328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2844" grpId="0" animBg="1"/>
      <p:bldP spid="6328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981075"/>
            <a:ext cx="7777163" cy="4267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例</a:t>
            </a:r>
            <a:r>
              <a:rPr lang="en-US" altLang="zh-CN" smtClean="0"/>
              <a:t>3.1</a:t>
            </a:r>
            <a:r>
              <a:rPr lang="zh-CN" altLang="en-US" smtClean="0"/>
              <a:t>：         ，分别计算</a:t>
            </a:r>
            <a:r>
              <a:rPr lang="en-US" altLang="zh-CN" smtClean="0"/>
              <a:t>x(n)</a:t>
            </a:r>
            <a:r>
              <a:rPr lang="zh-CN" altLang="en-US" smtClean="0"/>
              <a:t>的</a:t>
            </a:r>
            <a:r>
              <a:rPr lang="en-US" altLang="zh-CN" smtClean="0"/>
              <a:t>8</a:t>
            </a:r>
            <a:r>
              <a:rPr lang="zh-CN" altLang="en-US" smtClean="0"/>
              <a:t>点、</a:t>
            </a:r>
            <a:r>
              <a:rPr lang="en-US" altLang="zh-CN" smtClean="0"/>
              <a:t>16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。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解</a:t>
            </a:r>
            <a:r>
              <a:rPr lang="en-US" altLang="zh-CN" b="1" smtClean="0"/>
              <a:t>:</a:t>
            </a:r>
            <a:r>
              <a:rPr lang="en-US" altLang="zh-CN" smtClean="0"/>
              <a:t> x(n)</a:t>
            </a:r>
            <a:r>
              <a:rPr lang="zh-CN" altLang="en-US" smtClean="0"/>
              <a:t>的</a:t>
            </a:r>
            <a:r>
              <a:rPr lang="en-US" altLang="zh-CN" smtClean="0"/>
              <a:t>8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为</a:t>
            </a:r>
          </a:p>
          <a:p>
            <a:pPr eaLnBrk="1" hangingPunct="1">
              <a:buFontTx/>
              <a:buNone/>
            </a:pPr>
            <a:endParaRPr lang="en-US" altLang="zh-CN" smtClean="0"/>
          </a:p>
          <a:p>
            <a:pPr eaLnBrk="1" hangingPunct="1">
              <a:buFontTx/>
              <a:buNone/>
            </a:pPr>
            <a:endParaRPr lang="en-US" altLang="zh-CN" smtClean="0"/>
          </a:p>
          <a:p>
            <a:pPr eaLnBrk="1" hangingPunct="1">
              <a:buFontTx/>
              <a:buNone/>
            </a:pPr>
            <a:r>
              <a:rPr lang="en-US" altLang="zh-CN" smtClean="0"/>
              <a:t>  x(n)</a:t>
            </a:r>
            <a:r>
              <a:rPr lang="zh-CN" altLang="en-US" smtClean="0"/>
              <a:t>的</a:t>
            </a:r>
            <a:r>
              <a:rPr lang="en-US" altLang="zh-CN" smtClean="0"/>
              <a:t>16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为</a:t>
            </a:r>
          </a:p>
        </p:txBody>
      </p:sp>
      <p:graphicFrame>
        <p:nvGraphicFramePr>
          <p:cNvPr id="9219" name="Object 4"/>
          <p:cNvGraphicFramePr>
            <a:graphicFrameLocks noChangeAspect="1"/>
          </p:cNvGraphicFramePr>
          <p:nvPr/>
        </p:nvGraphicFramePr>
        <p:xfrm>
          <a:off x="1908175" y="1052513"/>
          <a:ext cx="143986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7" r:id="rId3" imgW="710891" imgH="203112" progId="Equation.3">
                  <p:embed/>
                </p:oleObj>
              </mc:Choice>
              <mc:Fallback>
                <p:oleObj r:id="rId3" imgW="710891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052513"/>
                        <a:ext cx="1439863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3734" name="Object 6"/>
          <p:cNvGraphicFramePr>
            <a:graphicFrameLocks noChangeAspect="1"/>
          </p:cNvGraphicFramePr>
          <p:nvPr/>
        </p:nvGraphicFramePr>
        <p:xfrm>
          <a:off x="1116013" y="1844675"/>
          <a:ext cx="7056437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8" r:id="rId5" imgW="3454400" imgH="431800" progId="Equation.3">
                  <p:embed/>
                </p:oleObj>
              </mc:Choice>
              <mc:Fallback>
                <p:oleObj r:id="rId5" imgW="34544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844675"/>
                        <a:ext cx="7056437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3736" name="Object 8"/>
          <p:cNvGraphicFramePr>
            <a:graphicFrameLocks noChangeAspect="1"/>
          </p:cNvGraphicFramePr>
          <p:nvPr/>
        </p:nvGraphicFramePr>
        <p:xfrm>
          <a:off x="1835150" y="3068638"/>
          <a:ext cx="4681538" cy="127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69" r:id="rId7" imgW="2095500" imgH="571500" progId="Equation.3">
                  <p:embed/>
                </p:oleObj>
              </mc:Choice>
              <mc:Fallback>
                <p:oleObj r:id="rId7" imgW="2095500" imgH="571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068638"/>
                        <a:ext cx="4681538" cy="12763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3738" name="Object 10"/>
          <p:cNvGraphicFramePr>
            <a:graphicFrameLocks noChangeAspect="1"/>
          </p:cNvGraphicFramePr>
          <p:nvPr/>
        </p:nvGraphicFramePr>
        <p:xfrm>
          <a:off x="2484438" y="4292600"/>
          <a:ext cx="4464050" cy="1495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70" r:id="rId9" imgW="2019300" imgH="673100" progId="Equation.DSMT4">
                  <p:embed/>
                </p:oleObj>
              </mc:Choice>
              <mc:Fallback>
                <p:oleObj r:id="rId9" imgW="2019300" imgH="673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4292600"/>
                        <a:ext cx="4464050" cy="1495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AutoShape 14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9224" name="Rectangle 15">
            <a:hlinkClick r:id="rId11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9225" name="AutoShape 16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9226" name="Rectangle 17">
            <a:hlinkClick r:id="rId12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137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13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1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1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1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137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137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137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13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13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137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137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137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137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1331913" y="5084763"/>
            <a:ext cx="6480175" cy="431800"/>
          </a:xfrm>
        </p:spPr>
        <p:txBody>
          <a:bodyPr/>
          <a:lstStyle/>
          <a:p>
            <a:pPr eaLnBrk="1" hangingPunct="1"/>
            <a:r>
              <a:rPr lang="zh-CN" altLang="en-US" sz="2400" smtClean="0"/>
              <a:t>        是      在频率区间上的等间隔采样</a:t>
            </a:r>
          </a:p>
        </p:txBody>
      </p:sp>
      <p:graphicFrame>
        <p:nvGraphicFramePr>
          <p:cNvPr id="10243" name="Object 5"/>
          <p:cNvGraphicFramePr>
            <a:graphicFrameLocks noGrp="1" noChangeAspect="1"/>
          </p:cNvGraphicFramePr>
          <p:nvPr>
            <p:ph sz="half" idx="1"/>
          </p:nvPr>
        </p:nvGraphicFramePr>
        <p:xfrm>
          <a:off x="1979613" y="5084763"/>
          <a:ext cx="72072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0" name="Equation" r:id="rId3" imgW="418918" imgH="253890" progId="Equation.DSMT4">
                  <p:embed/>
                </p:oleObj>
              </mc:Choice>
              <mc:Fallback>
                <p:oleObj name="Equation" r:id="rId3" imgW="418918" imgH="25389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084763"/>
                        <a:ext cx="720725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4" name="Picture 4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71550" y="1052513"/>
            <a:ext cx="7200900" cy="388937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0245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2987675" y="5084763"/>
          <a:ext cx="936625" cy="492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1" name="Equation" r:id="rId6" imgW="533169" imgH="279279" progId="Equation.DSMT4">
                  <p:embed/>
                </p:oleObj>
              </mc:Choice>
              <mc:Fallback>
                <p:oleObj name="Equation" r:id="rId6" imgW="533169" imgH="279279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5084763"/>
                        <a:ext cx="936625" cy="492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246" name="AutoShape 15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10247" name="Rectangle 16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10248" name="AutoShape 17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10249" name="Rectangle 18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404813"/>
            <a:ext cx="6859587" cy="542925"/>
          </a:xfrm>
        </p:spPr>
        <p:txBody>
          <a:bodyPr/>
          <a:lstStyle/>
          <a:p>
            <a:pPr eaLnBrk="1" hangingPunct="1"/>
            <a:r>
              <a:rPr lang="en-US" altLang="zh-CN" sz="2800" smtClean="0"/>
              <a:t>3.1.2 DFT</a:t>
            </a:r>
            <a:r>
              <a:rPr lang="zh-CN" altLang="en-US" sz="2800" smtClean="0"/>
              <a:t>与</a:t>
            </a:r>
            <a:r>
              <a:rPr lang="en-US" altLang="zh-CN" sz="2800" smtClean="0"/>
              <a:t>ZT</a:t>
            </a:r>
            <a:r>
              <a:rPr lang="zh-CN" altLang="en-US" sz="2800" smtClean="0"/>
              <a:t>、</a:t>
            </a:r>
            <a:r>
              <a:rPr lang="en-US" altLang="zh-CN" sz="2800" smtClean="0"/>
              <a:t>FT</a:t>
            </a:r>
            <a:r>
              <a:rPr lang="zh-CN" altLang="en-US" sz="2800" smtClean="0"/>
              <a:t>、</a:t>
            </a:r>
            <a:r>
              <a:rPr lang="en-US" altLang="zh-CN" sz="2800" smtClean="0"/>
              <a:t>DFS</a:t>
            </a:r>
            <a:r>
              <a:rPr lang="zh-CN" altLang="en-US" sz="2800" smtClean="0"/>
              <a:t>的关系</a:t>
            </a:r>
            <a:r>
              <a:rPr lang="zh-CN" altLang="en-US" smtClean="0"/>
              <a:t> </a:t>
            </a:r>
          </a:p>
        </p:txBody>
      </p:sp>
      <p:sp>
        <p:nvSpPr>
          <p:cNvPr id="6338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908050"/>
            <a:ext cx="8208962" cy="4267200"/>
          </a:xfrm>
        </p:spPr>
        <p:txBody>
          <a:bodyPr/>
          <a:lstStyle/>
          <a:p>
            <a:pPr marL="0" indent="0" eaLnBrk="1" hangingPunct="1">
              <a:buFontTx/>
              <a:buNone/>
            </a:pPr>
            <a:r>
              <a:rPr lang="en-US" altLang="zh-CN" dirty="0" smtClean="0"/>
              <a:t>DFT</a:t>
            </a:r>
            <a:r>
              <a:rPr lang="zh-CN" altLang="en-US" dirty="0" smtClean="0"/>
              <a:t>有明确的物理意义</a:t>
            </a:r>
            <a:r>
              <a:rPr lang="zh-CN" altLang="en-US" dirty="0" smtClean="0"/>
              <a:t>，通过</a:t>
            </a:r>
            <a:r>
              <a:rPr lang="zh-CN" altLang="en-US" dirty="0" smtClean="0"/>
              <a:t>比较序列的</a:t>
            </a:r>
            <a:r>
              <a:rPr lang="en-US" altLang="zh-CN" dirty="0" smtClean="0"/>
              <a:t>DFT</a:t>
            </a:r>
            <a:r>
              <a:rPr lang="zh-CN" altLang="en-US" dirty="0" smtClean="0"/>
              <a:t>、</a:t>
            </a:r>
            <a:r>
              <a:rPr lang="en-US" altLang="zh-CN" dirty="0" smtClean="0"/>
              <a:t>FT</a:t>
            </a:r>
            <a:r>
              <a:rPr lang="zh-CN" altLang="en-US" dirty="0" smtClean="0"/>
              <a:t>、</a:t>
            </a:r>
            <a:r>
              <a:rPr lang="en-US" altLang="zh-CN" dirty="0" smtClean="0"/>
              <a:t>ZT</a:t>
            </a:r>
            <a:r>
              <a:rPr lang="zh-CN" altLang="en-US" dirty="0" smtClean="0"/>
              <a:t>，并将</a:t>
            </a:r>
            <a:r>
              <a:rPr lang="en-US" altLang="zh-CN" dirty="0" smtClean="0"/>
              <a:t>DFT</a:t>
            </a:r>
            <a:r>
              <a:rPr lang="zh-CN" altLang="en-US" dirty="0" smtClean="0"/>
              <a:t>与周期序列的</a:t>
            </a:r>
            <a:r>
              <a:rPr lang="en-US" altLang="zh-CN" dirty="0" smtClean="0"/>
              <a:t>DFS</a:t>
            </a:r>
            <a:r>
              <a:rPr lang="zh-CN" altLang="en-US" dirty="0" smtClean="0"/>
              <a:t>联系起来，得到</a:t>
            </a:r>
            <a:r>
              <a:rPr lang="en-US" altLang="zh-CN" dirty="0" smtClean="0"/>
              <a:t>DFT</a:t>
            </a:r>
            <a:r>
              <a:rPr lang="zh-CN" altLang="en-US" dirty="0" smtClean="0"/>
              <a:t>的物理</a:t>
            </a:r>
            <a:r>
              <a:rPr lang="zh-CN" altLang="en-US" dirty="0" smtClean="0"/>
              <a:t>意义</a:t>
            </a:r>
            <a:r>
              <a:rPr lang="zh-CN" altLang="en-US" dirty="0" smtClean="0"/>
              <a:t>。 </a:t>
            </a:r>
          </a:p>
          <a:p>
            <a:pPr eaLnBrk="1" hangingPunct="1">
              <a:buFontTx/>
              <a:buNone/>
            </a:pPr>
            <a:endParaRPr lang="zh-CN" altLang="en-US" dirty="0" smtClean="0"/>
          </a:p>
          <a:p>
            <a:pPr eaLnBrk="1" hangingPunct="1">
              <a:buFontTx/>
              <a:buNone/>
            </a:pPr>
            <a:r>
              <a:rPr lang="en-US" altLang="zh-CN" b="1" dirty="0" smtClean="0"/>
              <a:t>DFT</a:t>
            </a:r>
            <a:r>
              <a:rPr lang="zh-CN" altLang="en-US" b="1" dirty="0" smtClean="0"/>
              <a:t>和</a:t>
            </a:r>
            <a:r>
              <a:rPr lang="en-US" altLang="zh-CN" b="1" dirty="0" smtClean="0"/>
              <a:t>FT</a:t>
            </a:r>
            <a:r>
              <a:rPr lang="zh-CN" altLang="en-US" b="1" dirty="0" smtClean="0"/>
              <a:t>、</a:t>
            </a:r>
            <a:r>
              <a:rPr lang="en-US" altLang="zh-CN" b="1" dirty="0" smtClean="0"/>
              <a:t>ZT</a:t>
            </a:r>
            <a:r>
              <a:rPr lang="zh-CN" altLang="en-US" b="1" dirty="0" smtClean="0"/>
              <a:t>之间的关系</a:t>
            </a:r>
            <a:r>
              <a:rPr lang="zh-CN" altLang="en-US" dirty="0" smtClean="0"/>
              <a:t> </a:t>
            </a:r>
          </a:p>
          <a:p>
            <a:pPr eaLnBrk="1" hangingPunct="1">
              <a:buFontTx/>
              <a:buNone/>
            </a:pPr>
            <a:r>
              <a:rPr lang="zh-CN" altLang="en-US" dirty="0" smtClean="0"/>
              <a:t>假设序列的长度为</a:t>
            </a:r>
            <a:r>
              <a:rPr lang="en-US" altLang="zh-CN" dirty="0" smtClean="0"/>
              <a:t>M</a:t>
            </a:r>
            <a:r>
              <a:rPr lang="zh-CN" altLang="en-US" dirty="0" smtClean="0"/>
              <a:t>，</a:t>
            </a:r>
            <a:r>
              <a:rPr lang="en-US" altLang="zh-CN" dirty="0" smtClean="0"/>
              <a:t>N≥M</a:t>
            </a:r>
          </a:p>
          <a:p>
            <a:pPr eaLnBrk="1" hangingPunct="1">
              <a:buFontTx/>
              <a:buNone/>
            </a:pPr>
            <a:r>
              <a:rPr lang="zh-CN" altLang="en-US" dirty="0" smtClean="0"/>
              <a:t>将</a:t>
            </a:r>
            <a:r>
              <a:rPr lang="en-US" altLang="zh-CN" i="1" dirty="0" smtClean="0"/>
              <a:t>N</a:t>
            </a:r>
            <a:r>
              <a:rPr lang="zh-CN" altLang="en-US" dirty="0" smtClean="0"/>
              <a:t>点</a:t>
            </a:r>
            <a:r>
              <a:rPr lang="en-US" altLang="zh-CN" dirty="0" smtClean="0"/>
              <a:t>DFT</a:t>
            </a:r>
            <a:r>
              <a:rPr lang="zh-CN" altLang="en-US" dirty="0" smtClean="0"/>
              <a:t>和</a:t>
            </a:r>
            <a:r>
              <a:rPr lang="en-US" altLang="zh-CN" dirty="0" smtClean="0"/>
              <a:t>FT</a:t>
            </a:r>
            <a:r>
              <a:rPr lang="zh-CN" altLang="en-US" dirty="0" smtClean="0"/>
              <a:t>、</a:t>
            </a:r>
            <a:r>
              <a:rPr lang="en-US" altLang="zh-CN" dirty="0" smtClean="0"/>
              <a:t>ZT</a:t>
            </a:r>
            <a:r>
              <a:rPr lang="zh-CN" altLang="en-US" dirty="0" smtClean="0"/>
              <a:t>的定义重写如下 </a:t>
            </a:r>
          </a:p>
        </p:txBody>
      </p:sp>
      <p:graphicFrame>
        <p:nvGraphicFramePr>
          <p:cNvPr id="6338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8585676"/>
              </p:ext>
            </p:extLst>
          </p:nvPr>
        </p:nvGraphicFramePr>
        <p:xfrm>
          <a:off x="1664493" y="3573016"/>
          <a:ext cx="6048375" cy="247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83" r:id="rId3" imgW="3098800" imgH="1270000" progId="Equation.3">
                  <p:embed/>
                </p:oleObj>
              </mc:Choice>
              <mc:Fallback>
                <p:oleObj r:id="rId3" imgW="3098800" imgH="1270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4493" y="3573016"/>
                        <a:ext cx="6048375" cy="2474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269" name="AutoShape 8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11270" name="Rectangle 9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11271" name="AutoShape 10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11272" name="Rectangle 11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38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338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500"/>
                                        <p:tgtEl>
                                          <p:spTgt spid="6338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338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338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338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908050"/>
            <a:ext cx="7777163" cy="54737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dirty="0" smtClean="0"/>
              <a:t>比较前面三式，得到</a:t>
            </a:r>
          </a:p>
          <a:p>
            <a:pPr eaLnBrk="1" hangingPunct="1">
              <a:buFontTx/>
              <a:buNone/>
            </a:pPr>
            <a:endParaRPr lang="zh-CN" altLang="en-US" dirty="0" smtClean="0"/>
          </a:p>
          <a:p>
            <a:pPr eaLnBrk="1" hangingPunct="1">
              <a:buFontTx/>
              <a:buNone/>
            </a:pPr>
            <a:r>
              <a:rPr lang="zh-CN" altLang="en-US" dirty="0" smtClean="0"/>
              <a:t>                       ，</a:t>
            </a:r>
            <a:r>
              <a:rPr lang="en-US" altLang="zh-CN" dirty="0" smtClean="0"/>
              <a:t>k=0, 1, 2, …, N-1 </a:t>
            </a:r>
            <a:endParaRPr lang="zh-CN" altLang="en-US" dirty="0" smtClean="0"/>
          </a:p>
          <a:p>
            <a:pPr eaLnBrk="1" hangingPunct="1">
              <a:buFontTx/>
              <a:buNone/>
            </a:pPr>
            <a:endParaRPr lang="zh-CN" altLang="en-US" dirty="0" smtClean="0"/>
          </a:p>
          <a:p>
            <a:pPr eaLnBrk="1" hangingPunct="1">
              <a:buFontTx/>
              <a:buNone/>
            </a:pPr>
            <a:r>
              <a:rPr lang="zh-CN" altLang="en-US" dirty="0" smtClean="0"/>
              <a:t>                       ，</a:t>
            </a:r>
            <a:r>
              <a:rPr lang="en-US" altLang="zh-CN" dirty="0" smtClean="0"/>
              <a:t>k=0, 1, 2, …, N-1 </a:t>
            </a:r>
            <a:endParaRPr lang="zh-CN" altLang="en-US" dirty="0" smtClean="0"/>
          </a:p>
          <a:p>
            <a:pPr eaLnBrk="1" hangingPunct="1">
              <a:buFontTx/>
              <a:buNone/>
            </a:pPr>
            <a:endParaRPr lang="zh-CN" altLang="en-US" dirty="0" smtClean="0"/>
          </a:p>
          <a:p>
            <a:pPr eaLnBrk="1" hangingPunct="1">
              <a:buFontTx/>
              <a:buNone/>
            </a:pPr>
            <a:r>
              <a:rPr lang="zh-CN" altLang="en-US" b="1" dirty="0" smtClean="0"/>
              <a:t>结论：</a:t>
            </a:r>
          </a:p>
          <a:p>
            <a:pPr eaLnBrk="1" hangingPunct="1">
              <a:buFontTx/>
              <a:buNone/>
            </a:pPr>
            <a:r>
              <a:rPr lang="en-US" altLang="zh-CN" dirty="0" smtClean="0"/>
              <a:t>(1)</a:t>
            </a:r>
            <a:r>
              <a:rPr lang="zh-CN" altLang="en-US" dirty="0" smtClean="0"/>
              <a:t>序列的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点</a:t>
            </a:r>
            <a:r>
              <a:rPr lang="en-US" altLang="zh-CN" dirty="0" smtClean="0"/>
              <a:t>DFT</a:t>
            </a:r>
            <a:r>
              <a:rPr lang="zh-CN" altLang="en-US" dirty="0" smtClean="0"/>
              <a:t>是序列傅里叶变换在频率区间</a:t>
            </a:r>
            <a:r>
              <a:rPr lang="en-US" altLang="zh-CN" dirty="0" smtClean="0"/>
              <a:t>[0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</a:t>
            </a:r>
            <a:r>
              <a:rPr lang="en-US" altLang="zh-CN" dirty="0" smtClean="0">
                <a:sym typeface="Symbol" panose="05050102010706020507" pitchFamily="18" charset="2"/>
              </a:rPr>
              <a:t></a:t>
            </a:r>
            <a:r>
              <a:rPr lang="en-US" altLang="zh-CN" dirty="0" smtClean="0"/>
              <a:t>]</a:t>
            </a:r>
          </a:p>
          <a:p>
            <a:pPr eaLnBrk="1" hangingPunct="1">
              <a:buFontTx/>
              <a:buNone/>
            </a:pPr>
            <a:r>
              <a:rPr lang="zh-CN" altLang="en-US" dirty="0" smtClean="0"/>
              <a:t>上的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点等间隔采样，采样间隔为</a:t>
            </a:r>
            <a:r>
              <a:rPr lang="en-US" altLang="zh-CN" dirty="0" smtClean="0"/>
              <a:t>2</a:t>
            </a:r>
            <a:r>
              <a:rPr lang="en-US" altLang="zh-CN" dirty="0" smtClean="0">
                <a:sym typeface="Symbol" panose="05050102010706020507" pitchFamily="18" charset="2"/>
              </a:rPr>
              <a:t></a:t>
            </a:r>
            <a:r>
              <a:rPr lang="en-US" altLang="zh-CN" dirty="0" smtClean="0"/>
              <a:t> /N</a:t>
            </a:r>
            <a:r>
              <a:rPr lang="zh-CN" altLang="en-US" dirty="0" smtClean="0"/>
              <a:t>。 </a:t>
            </a:r>
          </a:p>
          <a:p>
            <a:pPr eaLnBrk="1" hangingPunct="1">
              <a:buFontTx/>
              <a:buNone/>
            </a:pPr>
            <a:r>
              <a:rPr lang="en-US" altLang="zh-CN" dirty="0" smtClean="0"/>
              <a:t>(2)</a:t>
            </a:r>
            <a:r>
              <a:rPr lang="zh-CN" altLang="en-US" dirty="0" smtClean="0"/>
              <a:t>序列的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点</a:t>
            </a:r>
            <a:r>
              <a:rPr lang="en-US" altLang="zh-CN" dirty="0" smtClean="0"/>
              <a:t>DFT</a:t>
            </a:r>
            <a:r>
              <a:rPr lang="zh-CN" altLang="en-US" dirty="0" smtClean="0"/>
              <a:t>是序列的</a:t>
            </a:r>
            <a:r>
              <a:rPr lang="en-US" altLang="zh-CN" dirty="0" smtClean="0"/>
              <a:t>Z</a:t>
            </a:r>
            <a:r>
              <a:rPr lang="zh-CN" altLang="en-US" dirty="0" smtClean="0"/>
              <a:t>变换在单位圆上的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点等间隔</a:t>
            </a:r>
          </a:p>
          <a:p>
            <a:pPr eaLnBrk="1" hangingPunct="1">
              <a:buFontTx/>
              <a:buNone/>
            </a:pPr>
            <a:r>
              <a:rPr lang="zh-CN" altLang="en-US" dirty="0" smtClean="0"/>
              <a:t>采样，频率采样间隔为</a:t>
            </a:r>
            <a:r>
              <a:rPr lang="en-US" altLang="zh-CN" dirty="0" smtClean="0"/>
              <a:t>2</a:t>
            </a:r>
            <a:r>
              <a:rPr lang="en-US" altLang="zh-CN" dirty="0" smtClean="0">
                <a:sym typeface="Symbol" panose="05050102010706020507" pitchFamily="18" charset="2"/>
              </a:rPr>
              <a:t></a:t>
            </a:r>
            <a:r>
              <a:rPr lang="en-US" altLang="zh-CN" dirty="0" smtClean="0"/>
              <a:t> /N</a:t>
            </a:r>
            <a:r>
              <a:rPr lang="zh-CN" altLang="en-US" dirty="0" smtClean="0"/>
              <a:t>。 </a:t>
            </a:r>
          </a:p>
          <a:p>
            <a:pPr eaLnBrk="1" hangingPunct="1">
              <a:buFontTx/>
              <a:buNone/>
            </a:pPr>
            <a:r>
              <a:rPr lang="zh-CN" altLang="en-US" dirty="0" smtClean="0"/>
              <a:t> </a:t>
            </a:r>
          </a:p>
        </p:txBody>
      </p:sp>
      <p:graphicFrame>
        <p:nvGraphicFramePr>
          <p:cNvPr id="655364" name="Object 4"/>
          <p:cNvGraphicFramePr>
            <a:graphicFrameLocks noChangeAspect="1"/>
          </p:cNvGraphicFramePr>
          <p:nvPr/>
        </p:nvGraphicFramePr>
        <p:xfrm>
          <a:off x="1692275" y="1628775"/>
          <a:ext cx="2519363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19" r:id="rId3" imgW="1054100" imgH="368300" progId="Equation.3">
                  <p:embed/>
                </p:oleObj>
              </mc:Choice>
              <mc:Fallback>
                <p:oleObj r:id="rId3" imgW="1054100" imgH="3683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628775"/>
                        <a:ext cx="2519363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2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55366" name="Object 6"/>
          <p:cNvGraphicFramePr>
            <a:graphicFrameLocks noChangeAspect="1"/>
          </p:cNvGraphicFramePr>
          <p:nvPr/>
        </p:nvGraphicFramePr>
        <p:xfrm>
          <a:off x="1619250" y="2708275"/>
          <a:ext cx="2592388" cy="763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20" r:id="rId5" imgW="1129810" imgH="330057" progId="Equation.3">
                  <p:embed/>
                </p:oleObj>
              </mc:Choice>
              <mc:Fallback>
                <p:oleObj r:id="rId5" imgW="1129810" imgH="33005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708275"/>
                        <a:ext cx="2592388" cy="763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370" name="AutoShape 10"/>
          <p:cNvSpPr>
            <a:spLocks noChangeArrowheads="1"/>
          </p:cNvSpPr>
          <p:nvPr/>
        </p:nvSpPr>
        <p:spPr bwMode="auto">
          <a:xfrm>
            <a:off x="611188" y="3573463"/>
            <a:ext cx="7777162" cy="2232025"/>
          </a:xfrm>
          <a:prstGeom prst="roundRect">
            <a:avLst>
              <a:gd name="adj" fmla="val 16667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800">
              <a:solidFill>
                <a:srgbClr val="0033CC"/>
              </a:solidFill>
              <a:latin typeface="Arial" panose="020B0604020202020204" pitchFamily="34" charset="0"/>
            </a:endParaRPr>
          </a:p>
        </p:txBody>
      </p:sp>
      <p:sp>
        <p:nvSpPr>
          <p:cNvPr id="12295" name="AutoShape 11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12296" name="Rectangle 12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12297" name="AutoShape 13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12298" name="Rectangle 14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5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5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5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5536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553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553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553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553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25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6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65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65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65536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2" dur="80"/>
                                        <p:tgtEl>
                                          <p:spTgt spid="65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3" dur="80"/>
                                        <p:tgtEl>
                                          <p:spTgt spid="65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80"/>
                                        <p:tgtEl>
                                          <p:spTgt spid="65536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" dur="80"/>
                                        <p:tgtEl>
                                          <p:spTgt spid="65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" dur="80"/>
                                        <p:tgtEl>
                                          <p:spTgt spid="65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80"/>
                                        <p:tgtEl>
                                          <p:spTgt spid="6553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2" dur="80"/>
                                        <p:tgtEl>
                                          <p:spTgt spid="65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3" dur="80"/>
                                        <p:tgtEl>
                                          <p:spTgt spid="65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4" dur="80"/>
                                        <p:tgtEl>
                                          <p:spTgt spid="6553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7" dur="80"/>
                                        <p:tgtEl>
                                          <p:spTgt spid="65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8" dur="80"/>
                                        <p:tgtEl>
                                          <p:spTgt spid="65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80"/>
                                        <p:tgtEl>
                                          <p:spTgt spid="65536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7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5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2" dur="80"/>
                                        <p:tgtEl>
                                          <p:spTgt spid="65537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3" dur="80"/>
                                        <p:tgtEl>
                                          <p:spTgt spid="65537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80"/>
                                        <p:tgtEl>
                                          <p:spTgt spid="65537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537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1370013" y="381000"/>
            <a:ext cx="6859587" cy="76200"/>
          </a:xfrm>
        </p:spPr>
        <p:txBody>
          <a:bodyPr/>
          <a:lstStyle/>
          <a:p>
            <a:pPr eaLnBrk="1" hangingPunct="1"/>
            <a:endParaRPr lang="zh-CN" altLang="en-US" smtClean="0">
              <a:solidFill>
                <a:srgbClr val="333300"/>
              </a:solidFill>
            </a:endParaRPr>
          </a:p>
        </p:txBody>
      </p:sp>
      <p:sp>
        <p:nvSpPr>
          <p:cNvPr id="13315" name="Rectangle 3"/>
          <p:cNvSpPr>
            <a:spLocks noChangeArrowheads="1"/>
          </p:cNvSpPr>
          <p:nvPr/>
        </p:nvSpPr>
        <p:spPr bwMode="auto">
          <a:xfrm>
            <a:off x="1331913" y="6092825"/>
            <a:ext cx="2076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3333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b="1">
                <a:solidFill>
                  <a:schemeClr val="hlink"/>
                </a:solidFill>
                <a:latin typeface="Times New Roman" panose="02020603050405020304" pitchFamily="18" charset="0"/>
              </a:rPr>
              <a:t>DFT</a:t>
            </a:r>
            <a:r>
              <a:rPr kumimoji="1" lang="zh-CN" altLang="en-US" b="1">
                <a:solidFill>
                  <a:schemeClr val="hlink"/>
                </a:solidFill>
                <a:latin typeface="Times New Roman" panose="02020603050405020304" pitchFamily="18" charset="0"/>
              </a:rPr>
              <a:t>与</a:t>
            </a:r>
            <a:r>
              <a:rPr kumimoji="1" lang="en-US" altLang="zh-CN" b="1">
                <a:solidFill>
                  <a:schemeClr val="hlink"/>
                </a:solidFill>
                <a:latin typeface="Times New Roman" panose="02020603050405020304" pitchFamily="18" charset="0"/>
              </a:rPr>
              <a:t>z</a:t>
            </a:r>
            <a:r>
              <a:rPr kumimoji="1" lang="zh-CN" altLang="en-US" b="1">
                <a:solidFill>
                  <a:schemeClr val="hlink"/>
                </a:solidFill>
                <a:latin typeface="Times New Roman" panose="02020603050405020304" pitchFamily="18" charset="0"/>
              </a:rPr>
              <a:t>变换</a:t>
            </a:r>
          </a:p>
        </p:txBody>
      </p:sp>
      <p:grpSp>
        <p:nvGrpSpPr>
          <p:cNvPr id="794628" name="Group 4"/>
          <p:cNvGrpSpPr>
            <a:grpSpLocks/>
          </p:cNvGrpSpPr>
          <p:nvPr/>
        </p:nvGrpSpPr>
        <p:grpSpPr bwMode="auto">
          <a:xfrm>
            <a:off x="5148263" y="2852738"/>
            <a:ext cx="3479800" cy="2578100"/>
            <a:chOff x="3072" y="1440"/>
            <a:chExt cx="2192" cy="1624"/>
          </a:xfrm>
        </p:grpSpPr>
        <p:sp>
          <p:nvSpPr>
            <p:cNvPr id="13356" name="Line 5"/>
            <p:cNvSpPr>
              <a:spLocks noChangeShapeType="1"/>
            </p:cNvSpPr>
            <p:nvPr/>
          </p:nvSpPr>
          <p:spPr bwMode="auto">
            <a:xfrm>
              <a:off x="3168" y="2544"/>
              <a:ext cx="17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7" name="Line 6"/>
            <p:cNvSpPr>
              <a:spLocks noChangeShapeType="1"/>
            </p:cNvSpPr>
            <p:nvPr/>
          </p:nvSpPr>
          <p:spPr bwMode="auto">
            <a:xfrm>
              <a:off x="3216" y="1440"/>
              <a:ext cx="0" cy="1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58" name="Text Box 7"/>
            <p:cNvSpPr txBox="1">
              <a:spLocks noChangeArrowheads="1"/>
            </p:cNvSpPr>
            <p:nvPr/>
          </p:nvSpPr>
          <p:spPr bwMode="auto">
            <a:xfrm>
              <a:off x="4560" y="2640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Symbol" panose="05050102010706020507" pitchFamily="18" charset="2"/>
                <a:buChar char="p"/>
              </a:pPr>
              <a:endParaRPr kumimoji="1"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59" name="Text Box 8"/>
            <p:cNvSpPr txBox="1">
              <a:spLocks noChangeArrowheads="1"/>
            </p:cNvSpPr>
            <p:nvPr/>
          </p:nvSpPr>
          <p:spPr bwMode="auto">
            <a:xfrm>
              <a:off x="4656" y="2736"/>
              <a:ext cx="28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Symbol" panose="05050102010706020507" pitchFamily="18" charset="2"/>
                <a:buChar char="p"/>
              </a:pPr>
              <a:endParaRPr kumimoji="1"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3360" name="Line 9"/>
            <p:cNvSpPr>
              <a:spLocks noChangeShapeType="1"/>
            </p:cNvSpPr>
            <p:nvPr/>
          </p:nvSpPr>
          <p:spPr bwMode="auto">
            <a:xfrm>
              <a:off x="3408" y="2112"/>
              <a:ext cx="0" cy="43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1" name="Line 10"/>
            <p:cNvSpPr>
              <a:spLocks noChangeShapeType="1"/>
            </p:cNvSpPr>
            <p:nvPr/>
          </p:nvSpPr>
          <p:spPr bwMode="auto">
            <a:xfrm>
              <a:off x="3600" y="2208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2" name="Line 11"/>
            <p:cNvSpPr>
              <a:spLocks noChangeShapeType="1"/>
            </p:cNvSpPr>
            <p:nvPr/>
          </p:nvSpPr>
          <p:spPr bwMode="auto">
            <a:xfrm>
              <a:off x="3792" y="2352"/>
              <a:ext cx="0" cy="19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3" name="Line 12"/>
            <p:cNvSpPr>
              <a:spLocks noChangeShapeType="1"/>
            </p:cNvSpPr>
            <p:nvPr/>
          </p:nvSpPr>
          <p:spPr bwMode="auto">
            <a:xfrm>
              <a:off x="4080" y="2352"/>
              <a:ext cx="0" cy="192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4" name="Line 13"/>
            <p:cNvSpPr>
              <a:spLocks noChangeShapeType="1"/>
            </p:cNvSpPr>
            <p:nvPr/>
          </p:nvSpPr>
          <p:spPr bwMode="auto">
            <a:xfrm>
              <a:off x="4272" y="2208"/>
              <a:ext cx="0" cy="33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5" name="Line 14"/>
            <p:cNvSpPr>
              <a:spLocks noChangeShapeType="1"/>
            </p:cNvSpPr>
            <p:nvPr/>
          </p:nvSpPr>
          <p:spPr bwMode="auto">
            <a:xfrm>
              <a:off x="4464" y="2064"/>
              <a:ext cx="0" cy="480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6" name="Line 15"/>
            <p:cNvSpPr>
              <a:spLocks noChangeShapeType="1"/>
            </p:cNvSpPr>
            <p:nvPr/>
          </p:nvSpPr>
          <p:spPr bwMode="auto">
            <a:xfrm>
              <a:off x="4656" y="1968"/>
              <a:ext cx="0" cy="57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7" name="Line 16"/>
            <p:cNvSpPr>
              <a:spLocks noChangeShapeType="1"/>
            </p:cNvSpPr>
            <p:nvPr/>
          </p:nvSpPr>
          <p:spPr bwMode="auto">
            <a:xfrm>
              <a:off x="3216" y="1968"/>
              <a:ext cx="0" cy="576"/>
            </a:xfrm>
            <a:prstGeom prst="line">
              <a:avLst/>
            </a:prstGeom>
            <a:noFill/>
            <a:ln w="9525">
              <a:solidFill>
                <a:schemeClr val="tx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8" name="Line 17"/>
            <p:cNvSpPr>
              <a:spLocks noChangeShapeType="1"/>
            </p:cNvSpPr>
            <p:nvPr/>
          </p:nvSpPr>
          <p:spPr bwMode="auto">
            <a:xfrm>
              <a:off x="3216" y="1968"/>
              <a:ext cx="144" cy="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69" name="Freeform 18"/>
            <p:cNvSpPr>
              <a:spLocks/>
            </p:cNvSpPr>
            <p:nvPr/>
          </p:nvSpPr>
          <p:spPr bwMode="auto">
            <a:xfrm>
              <a:off x="3360" y="2064"/>
              <a:ext cx="576" cy="480"/>
            </a:xfrm>
            <a:custGeom>
              <a:avLst/>
              <a:gdLst>
                <a:gd name="T0" fmla="*/ 0 w 576"/>
                <a:gd name="T1" fmla="*/ 0 h 480"/>
                <a:gd name="T2" fmla="*/ 96 w 576"/>
                <a:gd name="T3" fmla="*/ 48 h 480"/>
                <a:gd name="T4" fmla="*/ 240 w 576"/>
                <a:gd name="T5" fmla="*/ 144 h 480"/>
                <a:gd name="T6" fmla="*/ 432 w 576"/>
                <a:gd name="T7" fmla="*/ 288 h 480"/>
                <a:gd name="T8" fmla="*/ 576 w 576"/>
                <a:gd name="T9" fmla="*/ 480 h 4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6" h="480">
                  <a:moveTo>
                    <a:pt x="0" y="0"/>
                  </a:moveTo>
                  <a:cubicBezTo>
                    <a:pt x="28" y="12"/>
                    <a:pt x="56" y="24"/>
                    <a:pt x="96" y="48"/>
                  </a:cubicBezTo>
                  <a:cubicBezTo>
                    <a:pt x="136" y="72"/>
                    <a:pt x="184" y="104"/>
                    <a:pt x="240" y="144"/>
                  </a:cubicBezTo>
                  <a:cubicBezTo>
                    <a:pt x="296" y="184"/>
                    <a:pt x="376" y="232"/>
                    <a:pt x="432" y="288"/>
                  </a:cubicBezTo>
                  <a:cubicBezTo>
                    <a:pt x="488" y="344"/>
                    <a:pt x="552" y="448"/>
                    <a:pt x="576" y="48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0" name="Freeform 19"/>
            <p:cNvSpPr>
              <a:spLocks/>
            </p:cNvSpPr>
            <p:nvPr/>
          </p:nvSpPr>
          <p:spPr bwMode="auto">
            <a:xfrm>
              <a:off x="3936" y="1968"/>
              <a:ext cx="720" cy="576"/>
            </a:xfrm>
            <a:custGeom>
              <a:avLst/>
              <a:gdLst>
                <a:gd name="T0" fmla="*/ 0 w 720"/>
                <a:gd name="T1" fmla="*/ 576 h 576"/>
                <a:gd name="T2" fmla="*/ 144 w 720"/>
                <a:gd name="T3" fmla="*/ 384 h 576"/>
                <a:gd name="T4" fmla="*/ 336 w 720"/>
                <a:gd name="T5" fmla="*/ 240 h 576"/>
                <a:gd name="T6" fmla="*/ 480 w 720"/>
                <a:gd name="T7" fmla="*/ 144 h 576"/>
                <a:gd name="T8" fmla="*/ 624 w 720"/>
                <a:gd name="T9" fmla="*/ 48 h 576"/>
                <a:gd name="T10" fmla="*/ 720 w 720"/>
                <a:gd name="T11" fmla="*/ 0 h 5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20" h="576">
                  <a:moveTo>
                    <a:pt x="0" y="576"/>
                  </a:moveTo>
                  <a:cubicBezTo>
                    <a:pt x="44" y="508"/>
                    <a:pt x="88" y="440"/>
                    <a:pt x="144" y="384"/>
                  </a:cubicBezTo>
                  <a:cubicBezTo>
                    <a:pt x="200" y="328"/>
                    <a:pt x="280" y="280"/>
                    <a:pt x="336" y="240"/>
                  </a:cubicBezTo>
                  <a:cubicBezTo>
                    <a:pt x="392" y="200"/>
                    <a:pt x="432" y="176"/>
                    <a:pt x="480" y="144"/>
                  </a:cubicBezTo>
                  <a:cubicBezTo>
                    <a:pt x="528" y="112"/>
                    <a:pt x="584" y="72"/>
                    <a:pt x="624" y="48"/>
                  </a:cubicBezTo>
                  <a:cubicBezTo>
                    <a:pt x="664" y="24"/>
                    <a:pt x="704" y="8"/>
                    <a:pt x="720" y="0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1" name="Text Box 20"/>
            <p:cNvSpPr txBox="1">
              <a:spLocks noChangeArrowheads="1"/>
            </p:cNvSpPr>
            <p:nvPr/>
          </p:nvSpPr>
          <p:spPr bwMode="auto">
            <a:xfrm>
              <a:off x="3792" y="2688"/>
              <a:ext cx="240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 typeface="Symbol" panose="05050102010706020507" pitchFamily="18" charset="2"/>
                <a:buNone/>
              </a:pPr>
              <a:endParaRPr kumimoji="1" lang="zh-CN" altLang="en-US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graphicFrame>
          <p:nvGraphicFramePr>
            <p:cNvPr id="13372" name="Object 21"/>
            <p:cNvGraphicFramePr>
              <a:graphicFrameLocks noChangeAspect="1"/>
            </p:cNvGraphicFramePr>
            <p:nvPr/>
          </p:nvGraphicFramePr>
          <p:xfrm>
            <a:off x="4512" y="2544"/>
            <a:ext cx="336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04" name="公式" r:id="rId3" imgW="152202" imgH="126835" progId="Equation.3">
                    <p:embed/>
                  </p:oleObj>
                </mc:Choice>
                <mc:Fallback>
                  <p:oleObj name="公式" r:id="rId3" imgW="152202" imgH="126835" progId="Equation.3">
                    <p:embed/>
                    <p:pic>
                      <p:nvPicPr>
                        <p:cNvPr id="0" name="Object 2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12" y="2544"/>
                          <a:ext cx="336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73" name="Object 22"/>
            <p:cNvGraphicFramePr>
              <a:graphicFrameLocks noChangeAspect="1"/>
            </p:cNvGraphicFramePr>
            <p:nvPr/>
          </p:nvGraphicFramePr>
          <p:xfrm>
            <a:off x="3792" y="2544"/>
            <a:ext cx="247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05" name="公式" r:id="rId5" imgW="101468" imgH="114151" progId="Equation.3">
                    <p:embed/>
                  </p:oleObj>
                </mc:Choice>
                <mc:Fallback>
                  <p:oleObj name="公式" r:id="rId5" imgW="101468" imgH="114151" progId="Equation.3">
                    <p:embed/>
                    <p:pic>
                      <p:nvPicPr>
                        <p:cNvPr id="0" name="Object 2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2544"/>
                          <a:ext cx="247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74" name="Rectangle 23"/>
            <p:cNvSpPr>
              <a:spLocks noChangeArrowheads="1"/>
            </p:cNvSpPr>
            <p:nvPr/>
          </p:nvSpPr>
          <p:spPr bwMode="auto">
            <a:xfrm>
              <a:off x="3360" y="1584"/>
              <a:ext cx="1017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>
                  <a:solidFill>
                    <a:schemeClr val="tx1"/>
                  </a:solidFill>
                  <a:latin typeface="Times New Roman" panose="02020603050405020304" pitchFamily="18" charset="0"/>
                </a:rPr>
                <a:t>X(e</a:t>
              </a:r>
              <a:r>
                <a:rPr kumimoji="1" lang="en-US" altLang="zh-CN" baseline="30000">
                  <a:solidFill>
                    <a:schemeClr val="tx1"/>
                  </a:solidFill>
                  <a:latin typeface="Times New Roman" panose="02020603050405020304" pitchFamily="18" charset="0"/>
                </a:rPr>
                <a:t>jω</a:t>
              </a:r>
              <a:r>
                <a:rPr kumimoji="1" lang="en-US" altLang="zh-CN">
                  <a:solidFill>
                    <a:schemeClr val="tx1"/>
                  </a:solidFill>
                  <a:latin typeface="Times New Roman" panose="02020603050405020304" pitchFamily="18" charset="0"/>
                </a:rPr>
                <a:t>)</a:t>
              </a:r>
            </a:p>
          </p:txBody>
        </p:sp>
        <p:sp>
          <p:nvSpPr>
            <p:cNvPr id="13375" name="Line 24"/>
            <p:cNvSpPr>
              <a:spLocks noChangeShapeType="1"/>
            </p:cNvSpPr>
            <p:nvPr/>
          </p:nvSpPr>
          <p:spPr bwMode="auto">
            <a:xfrm flipV="1">
              <a:off x="3360" y="1824"/>
              <a:ext cx="144" cy="2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6" name="Rectangle 25"/>
            <p:cNvSpPr>
              <a:spLocks noChangeArrowheads="1"/>
            </p:cNvSpPr>
            <p:nvPr/>
          </p:nvSpPr>
          <p:spPr bwMode="auto">
            <a:xfrm>
              <a:off x="4272" y="1536"/>
              <a:ext cx="87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>
                  <a:solidFill>
                    <a:schemeClr val="tx1"/>
                  </a:solidFill>
                  <a:latin typeface="Times New Roman" panose="02020603050405020304" pitchFamily="18" charset="0"/>
                </a:rPr>
                <a:t>X(k)</a:t>
              </a:r>
            </a:p>
          </p:txBody>
        </p:sp>
        <p:sp>
          <p:nvSpPr>
            <p:cNvPr id="13377" name="Line 26"/>
            <p:cNvSpPr>
              <a:spLocks noChangeShapeType="1"/>
            </p:cNvSpPr>
            <p:nvPr/>
          </p:nvSpPr>
          <p:spPr bwMode="auto">
            <a:xfrm flipV="1">
              <a:off x="4272" y="1824"/>
              <a:ext cx="192" cy="5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78" name="Rectangle 27"/>
            <p:cNvSpPr>
              <a:spLocks noChangeArrowheads="1"/>
            </p:cNvSpPr>
            <p:nvPr/>
          </p:nvSpPr>
          <p:spPr bwMode="auto">
            <a:xfrm>
              <a:off x="3840" y="2400"/>
              <a:ext cx="144" cy="23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1800">
                  <a:solidFill>
                    <a:schemeClr val="tx2"/>
                  </a:solidFill>
                  <a:latin typeface="Times New Roman" panose="02020603050405020304" pitchFamily="18" charset="0"/>
                </a:rPr>
                <a:t>o</a:t>
              </a:r>
            </a:p>
          </p:txBody>
        </p:sp>
        <p:graphicFrame>
          <p:nvGraphicFramePr>
            <p:cNvPr id="13379" name="Object 28"/>
            <p:cNvGraphicFramePr>
              <a:graphicFrameLocks noChangeAspect="1"/>
            </p:cNvGraphicFramePr>
            <p:nvPr/>
          </p:nvGraphicFramePr>
          <p:xfrm>
            <a:off x="4944" y="2448"/>
            <a:ext cx="278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06" name="公式" r:id="rId7" imgW="114102" imgH="114102" progId="Equation.3">
                    <p:embed/>
                  </p:oleObj>
                </mc:Choice>
                <mc:Fallback>
                  <p:oleObj name="公式" r:id="rId7" imgW="114102" imgH="114102" progId="Equation.3">
                    <p:embed/>
                    <p:pic>
                      <p:nvPicPr>
                        <p:cNvPr id="0" name="Object 2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44" y="2448"/>
                          <a:ext cx="278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80" name="Object 29"/>
            <p:cNvGraphicFramePr>
              <a:graphicFrameLocks noChangeAspect="1"/>
            </p:cNvGraphicFramePr>
            <p:nvPr/>
          </p:nvGraphicFramePr>
          <p:xfrm>
            <a:off x="5040" y="2784"/>
            <a:ext cx="224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07" name="公式" r:id="rId9" imgW="101424" imgH="126780" progId="Equation.3">
                    <p:embed/>
                  </p:oleObj>
                </mc:Choice>
                <mc:Fallback>
                  <p:oleObj name="公式" r:id="rId9" imgW="101424" imgH="126780" progId="Equation.3">
                    <p:embed/>
                    <p:pic>
                      <p:nvPicPr>
                        <p:cNvPr id="0" name="Object 2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2784"/>
                          <a:ext cx="224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81" name="Object 30"/>
            <p:cNvGraphicFramePr>
              <a:graphicFrameLocks noChangeAspect="1"/>
            </p:cNvGraphicFramePr>
            <p:nvPr/>
          </p:nvGraphicFramePr>
          <p:xfrm>
            <a:off x="4416" y="2832"/>
            <a:ext cx="456" cy="2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08" name="公式" r:id="rId11" imgW="253670" imgH="126835" progId="Equation.3">
                    <p:embed/>
                  </p:oleObj>
                </mc:Choice>
                <mc:Fallback>
                  <p:oleObj name="公式" r:id="rId11" imgW="253670" imgH="126835" progId="Equation.3">
                    <p:embed/>
                    <p:pic>
                      <p:nvPicPr>
                        <p:cNvPr id="0" name="Object 3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2832"/>
                          <a:ext cx="456" cy="2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82" name="Object 31"/>
            <p:cNvGraphicFramePr>
              <a:graphicFrameLocks noChangeAspect="1"/>
            </p:cNvGraphicFramePr>
            <p:nvPr/>
          </p:nvGraphicFramePr>
          <p:xfrm>
            <a:off x="3072" y="2736"/>
            <a:ext cx="196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09" name="公式" r:id="rId13" imgW="88631" imgH="126615" progId="Equation.3">
                    <p:embed/>
                  </p:oleObj>
                </mc:Choice>
                <mc:Fallback>
                  <p:oleObj name="公式" r:id="rId13" imgW="88631" imgH="126615" progId="Equation.3">
                    <p:embed/>
                    <p:pic>
                      <p:nvPicPr>
                        <p:cNvPr id="0" name="Object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2736"/>
                          <a:ext cx="196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83" name="Object 32"/>
            <p:cNvGraphicFramePr>
              <a:graphicFrameLocks noChangeAspect="1"/>
            </p:cNvGraphicFramePr>
            <p:nvPr/>
          </p:nvGraphicFramePr>
          <p:xfrm>
            <a:off x="3072" y="2496"/>
            <a:ext cx="196" cy="28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10" name="公式" r:id="rId15" imgW="88631" imgH="126615" progId="Equation.3">
                    <p:embed/>
                  </p:oleObj>
                </mc:Choice>
                <mc:Fallback>
                  <p:oleObj name="公式" r:id="rId15" imgW="88631" imgH="126615" progId="Equation.3">
                    <p:embed/>
                    <p:pic>
                      <p:nvPicPr>
                        <p:cNvPr id="0" name="Object 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72" y="2496"/>
                          <a:ext cx="196" cy="28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3317" name="Group 33"/>
          <p:cNvGrpSpPr>
            <a:grpSpLocks/>
          </p:cNvGrpSpPr>
          <p:nvPr/>
        </p:nvGrpSpPr>
        <p:grpSpPr bwMode="auto">
          <a:xfrm>
            <a:off x="827088" y="2420938"/>
            <a:ext cx="3924300" cy="3470275"/>
            <a:chOff x="204" y="274"/>
            <a:chExt cx="2472" cy="2186"/>
          </a:xfrm>
        </p:grpSpPr>
        <p:sp>
          <p:nvSpPr>
            <p:cNvPr id="13322" name="Oval 34"/>
            <p:cNvSpPr>
              <a:spLocks noChangeArrowheads="1"/>
            </p:cNvSpPr>
            <p:nvPr/>
          </p:nvSpPr>
          <p:spPr bwMode="auto">
            <a:xfrm>
              <a:off x="521" y="1117"/>
              <a:ext cx="1056" cy="1056"/>
            </a:xfrm>
            <a:prstGeom prst="ellips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23" name="Line 35"/>
            <p:cNvSpPr>
              <a:spLocks noChangeShapeType="1"/>
            </p:cNvSpPr>
            <p:nvPr/>
          </p:nvSpPr>
          <p:spPr bwMode="auto">
            <a:xfrm>
              <a:off x="204" y="1644"/>
              <a:ext cx="1968" cy="0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4" name="Line 36"/>
            <p:cNvSpPr>
              <a:spLocks noChangeShapeType="1"/>
            </p:cNvSpPr>
            <p:nvPr/>
          </p:nvSpPr>
          <p:spPr bwMode="auto">
            <a:xfrm flipH="1">
              <a:off x="1068" y="588"/>
              <a:ext cx="0" cy="1872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5" name="Line 37"/>
            <p:cNvSpPr>
              <a:spLocks noChangeShapeType="1"/>
            </p:cNvSpPr>
            <p:nvPr/>
          </p:nvSpPr>
          <p:spPr bwMode="auto">
            <a:xfrm flipV="1">
              <a:off x="1068" y="1012"/>
              <a:ext cx="624" cy="624"/>
            </a:xfrm>
            <a:prstGeom prst="line">
              <a:avLst/>
            </a:prstGeom>
            <a:noFill/>
            <a:ln w="28575">
              <a:solidFill>
                <a:schemeClr val="bg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6" name="Line 38"/>
            <p:cNvSpPr>
              <a:spLocks noChangeShapeType="1"/>
            </p:cNvSpPr>
            <p:nvPr/>
          </p:nvSpPr>
          <p:spPr bwMode="auto">
            <a:xfrm>
              <a:off x="1068" y="1636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7" name="Line 39"/>
            <p:cNvSpPr>
              <a:spLocks noChangeShapeType="1"/>
            </p:cNvSpPr>
            <p:nvPr/>
          </p:nvSpPr>
          <p:spPr bwMode="auto">
            <a:xfrm>
              <a:off x="1452" y="1252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8" name="Line 40"/>
            <p:cNvSpPr>
              <a:spLocks noChangeShapeType="1"/>
            </p:cNvSpPr>
            <p:nvPr/>
          </p:nvSpPr>
          <p:spPr bwMode="auto">
            <a:xfrm>
              <a:off x="1068" y="1108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29" name="Line 41"/>
            <p:cNvSpPr>
              <a:spLocks noChangeShapeType="1"/>
            </p:cNvSpPr>
            <p:nvPr/>
          </p:nvSpPr>
          <p:spPr bwMode="auto">
            <a:xfrm>
              <a:off x="1596" y="1636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0" name="Line 42"/>
            <p:cNvSpPr>
              <a:spLocks noChangeShapeType="1"/>
            </p:cNvSpPr>
            <p:nvPr/>
          </p:nvSpPr>
          <p:spPr bwMode="auto">
            <a:xfrm>
              <a:off x="540" y="1636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1" name="Line 43"/>
            <p:cNvSpPr>
              <a:spLocks noChangeShapeType="1"/>
            </p:cNvSpPr>
            <p:nvPr/>
          </p:nvSpPr>
          <p:spPr bwMode="auto">
            <a:xfrm>
              <a:off x="1068" y="2164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2" name="Line 44"/>
            <p:cNvSpPr>
              <a:spLocks noChangeShapeType="1"/>
            </p:cNvSpPr>
            <p:nvPr/>
          </p:nvSpPr>
          <p:spPr bwMode="auto">
            <a:xfrm>
              <a:off x="684" y="1252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3" name="Line 45"/>
            <p:cNvSpPr>
              <a:spLocks noChangeShapeType="1"/>
            </p:cNvSpPr>
            <p:nvPr/>
          </p:nvSpPr>
          <p:spPr bwMode="auto">
            <a:xfrm>
              <a:off x="1452" y="202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4" name="Line 46"/>
            <p:cNvSpPr>
              <a:spLocks noChangeShapeType="1"/>
            </p:cNvSpPr>
            <p:nvPr/>
          </p:nvSpPr>
          <p:spPr bwMode="auto">
            <a:xfrm>
              <a:off x="684" y="202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oval" w="med" len="med"/>
              <a:tailEnd type="oval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35" name="Object 47"/>
            <p:cNvGraphicFramePr>
              <a:graphicFrameLocks noChangeAspect="1"/>
            </p:cNvGraphicFramePr>
            <p:nvPr/>
          </p:nvGraphicFramePr>
          <p:xfrm>
            <a:off x="1081" y="274"/>
            <a:ext cx="744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11" name="Equation" r:id="rId16" imgW="510363" imgH="228553" progId="Equation.DSMT4">
                    <p:embed/>
                  </p:oleObj>
                </mc:Choice>
                <mc:Fallback>
                  <p:oleObj name="Equation" r:id="rId16" imgW="510363" imgH="228553" progId="Equation.DSMT4">
                    <p:embed/>
                    <p:pic>
                      <p:nvPicPr>
                        <p:cNvPr id="0" name="Object 4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81" y="274"/>
                          <a:ext cx="744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3336" name="Object 48"/>
            <p:cNvGraphicFramePr>
              <a:graphicFrameLocks noChangeAspect="1"/>
            </p:cNvGraphicFramePr>
            <p:nvPr/>
          </p:nvGraphicFramePr>
          <p:xfrm>
            <a:off x="2053" y="1639"/>
            <a:ext cx="623" cy="35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12" name="Equation" r:id="rId18" imgW="418923" imgH="228553" progId="Equation.DSMT4">
                    <p:embed/>
                  </p:oleObj>
                </mc:Choice>
                <mc:Fallback>
                  <p:oleObj name="Equation" r:id="rId18" imgW="418923" imgH="228553" progId="Equation.DSMT4">
                    <p:embed/>
                    <p:pic>
                      <p:nvPicPr>
                        <p:cNvPr id="0" name="Object 4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3" y="1639"/>
                          <a:ext cx="623" cy="35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37" name="Text Box 49"/>
            <p:cNvSpPr txBox="1">
              <a:spLocks noChangeArrowheads="1"/>
            </p:cNvSpPr>
            <p:nvPr/>
          </p:nvSpPr>
          <p:spPr bwMode="auto">
            <a:xfrm>
              <a:off x="1336" y="96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>
                  <a:solidFill>
                    <a:schemeClr val="bg2"/>
                  </a:solidFill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3338" name="Text Box 50"/>
            <p:cNvSpPr txBox="1">
              <a:spLocks noChangeArrowheads="1"/>
            </p:cNvSpPr>
            <p:nvPr/>
          </p:nvSpPr>
          <p:spPr bwMode="auto">
            <a:xfrm>
              <a:off x="876" y="82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>
                  <a:solidFill>
                    <a:schemeClr val="bg2"/>
                  </a:solidFill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3339" name="Text Box 51"/>
            <p:cNvSpPr txBox="1">
              <a:spLocks noChangeArrowheads="1"/>
            </p:cNvSpPr>
            <p:nvPr/>
          </p:nvSpPr>
          <p:spPr bwMode="auto">
            <a:xfrm>
              <a:off x="472" y="101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>
                  <a:solidFill>
                    <a:schemeClr val="bg2"/>
                  </a:solidFill>
                  <a:latin typeface="Times New Roman" panose="02020603050405020304" pitchFamily="18" charset="0"/>
                </a:rPr>
                <a:t>3</a:t>
              </a:r>
            </a:p>
          </p:txBody>
        </p:sp>
        <p:sp>
          <p:nvSpPr>
            <p:cNvPr id="13340" name="Text Box 52"/>
            <p:cNvSpPr txBox="1">
              <a:spLocks noChangeArrowheads="1"/>
            </p:cNvSpPr>
            <p:nvPr/>
          </p:nvSpPr>
          <p:spPr bwMode="auto">
            <a:xfrm>
              <a:off x="340" y="138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>
                  <a:solidFill>
                    <a:schemeClr val="bg2"/>
                  </a:solidFill>
                  <a:latin typeface="Times New Roman" panose="02020603050405020304" pitchFamily="18" charset="0"/>
                </a:rPr>
                <a:t>4</a:t>
              </a:r>
            </a:p>
          </p:txBody>
        </p:sp>
        <p:sp>
          <p:nvSpPr>
            <p:cNvPr id="13341" name="Text Box 53"/>
            <p:cNvSpPr txBox="1">
              <a:spLocks noChangeArrowheads="1"/>
            </p:cNvSpPr>
            <p:nvPr/>
          </p:nvSpPr>
          <p:spPr bwMode="auto">
            <a:xfrm>
              <a:off x="431" y="1888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>
                  <a:solidFill>
                    <a:schemeClr val="bg2"/>
                  </a:solidFill>
                  <a:latin typeface="Times New Roman" panose="02020603050405020304" pitchFamily="18" charset="0"/>
                </a:rPr>
                <a:t>5</a:t>
              </a:r>
            </a:p>
          </p:txBody>
        </p:sp>
        <p:sp>
          <p:nvSpPr>
            <p:cNvPr id="13342" name="Text Box 54"/>
            <p:cNvSpPr txBox="1">
              <a:spLocks noChangeArrowheads="1"/>
            </p:cNvSpPr>
            <p:nvPr/>
          </p:nvSpPr>
          <p:spPr bwMode="auto">
            <a:xfrm>
              <a:off x="839" y="211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>
                  <a:solidFill>
                    <a:schemeClr val="bg2"/>
                  </a:solidFill>
                  <a:latin typeface="Times New Roman" panose="02020603050405020304" pitchFamily="18" charset="0"/>
                </a:rPr>
                <a:t>6</a:t>
              </a:r>
            </a:p>
          </p:txBody>
        </p:sp>
        <p:sp>
          <p:nvSpPr>
            <p:cNvPr id="13343" name="Text Box 55"/>
            <p:cNvSpPr txBox="1">
              <a:spLocks noChangeArrowheads="1"/>
            </p:cNvSpPr>
            <p:nvPr/>
          </p:nvSpPr>
          <p:spPr bwMode="auto">
            <a:xfrm>
              <a:off x="1384" y="202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>
                  <a:solidFill>
                    <a:schemeClr val="bg2"/>
                  </a:solidFill>
                  <a:latin typeface="Times New Roman" panose="02020603050405020304" pitchFamily="18" charset="0"/>
                </a:rPr>
                <a:t>7</a:t>
              </a:r>
            </a:p>
          </p:txBody>
        </p:sp>
        <p:sp>
          <p:nvSpPr>
            <p:cNvPr id="13344" name="Text Box 56"/>
            <p:cNvSpPr txBox="1">
              <a:spLocks noChangeArrowheads="1"/>
            </p:cNvSpPr>
            <p:nvPr/>
          </p:nvSpPr>
          <p:spPr bwMode="auto">
            <a:xfrm>
              <a:off x="1644" y="2020"/>
              <a:ext cx="53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>
                  <a:solidFill>
                    <a:schemeClr val="bg2"/>
                  </a:solidFill>
                  <a:latin typeface="Times New Roman" panose="02020603050405020304" pitchFamily="18" charset="0"/>
                </a:rPr>
                <a:t>(</a:t>
              </a:r>
              <a:r>
                <a:rPr kumimoji="1" lang="en-US" altLang="zh-CN" i="1">
                  <a:solidFill>
                    <a:schemeClr val="bg2"/>
                  </a:solidFill>
                  <a:latin typeface="Times New Roman" panose="02020603050405020304" pitchFamily="18" charset="0"/>
                </a:rPr>
                <a:t>N</a:t>
              </a:r>
              <a:r>
                <a:rPr kumimoji="1" lang="en-US" altLang="zh-CN">
                  <a:solidFill>
                    <a:schemeClr val="bg2"/>
                  </a:solidFill>
                  <a:latin typeface="Times New Roman" panose="02020603050405020304" pitchFamily="18" charset="0"/>
                </a:rPr>
                <a:t>-1)</a:t>
              </a:r>
            </a:p>
          </p:txBody>
        </p:sp>
        <p:sp>
          <p:nvSpPr>
            <p:cNvPr id="13345" name="Freeform 57"/>
            <p:cNvSpPr>
              <a:spLocks/>
            </p:cNvSpPr>
            <p:nvPr/>
          </p:nvSpPr>
          <p:spPr bwMode="auto">
            <a:xfrm>
              <a:off x="1610" y="1117"/>
              <a:ext cx="223" cy="542"/>
            </a:xfrm>
            <a:custGeom>
              <a:avLst/>
              <a:gdLst>
                <a:gd name="T0" fmla="*/ 0 w 223"/>
                <a:gd name="T1" fmla="*/ 0 h 542"/>
                <a:gd name="T2" fmla="*/ 179 w 223"/>
                <a:gd name="T3" fmla="*/ 242 h 542"/>
                <a:gd name="T4" fmla="*/ 223 w 223"/>
                <a:gd name="T5" fmla="*/ 542 h 5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3" h="542">
                  <a:moveTo>
                    <a:pt x="0" y="0"/>
                  </a:moveTo>
                  <a:cubicBezTo>
                    <a:pt x="30" y="40"/>
                    <a:pt x="142" y="152"/>
                    <a:pt x="179" y="242"/>
                  </a:cubicBezTo>
                  <a:cubicBezTo>
                    <a:pt x="216" y="332"/>
                    <a:pt x="214" y="480"/>
                    <a:pt x="223" y="542"/>
                  </a:cubicBezTo>
                </a:path>
              </a:pathLst>
            </a:custGeom>
            <a:noFill/>
            <a:ln w="25400">
              <a:solidFill>
                <a:srgbClr val="800000"/>
              </a:solidFill>
              <a:round/>
              <a:headEnd type="arrow" w="med" len="med"/>
              <a:tailEnd type="arrow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3346" name="Object 58"/>
            <p:cNvGraphicFramePr>
              <a:graphicFrameLocks noChangeAspect="1"/>
            </p:cNvGraphicFramePr>
            <p:nvPr/>
          </p:nvGraphicFramePr>
          <p:xfrm>
            <a:off x="1885" y="1012"/>
            <a:ext cx="282" cy="46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513" name="Equation" r:id="rId20" imgW="221157" imgH="373530" progId="Equation.DSMT4">
                    <p:embed/>
                  </p:oleObj>
                </mc:Choice>
                <mc:Fallback>
                  <p:oleObj name="Equation" r:id="rId20" imgW="221157" imgH="373530" progId="Equation.DSMT4">
                    <p:embed/>
                    <p:pic>
                      <p:nvPicPr>
                        <p:cNvPr id="0" name="Object 5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85" y="1012"/>
                          <a:ext cx="282" cy="46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bg2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CC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3347" name="Text Box 59"/>
            <p:cNvSpPr txBox="1">
              <a:spLocks noChangeArrowheads="1"/>
            </p:cNvSpPr>
            <p:nvPr/>
          </p:nvSpPr>
          <p:spPr bwMode="auto">
            <a:xfrm>
              <a:off x="1644" y="1636"/>
              <a:ext cx="405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2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kumimoji="1" lang="en-US" altLang="zh-CN" i="1">
                  <a:solidFill>
                    <a:schemeClr val="bg2"/>
                  </a:solidFill>
                  <a:latin typeface="Times New Roman" panose="02020603050405020304" pitchFamily="18" charset="0"/>
                </a:rPr>
                <a:t>k</a:t>
              </a:r>
              <a:r>
                <a:rPr kumimoji="1" lang="en-US" altLang="zh-CN">
                  <a:solidFill>
                    <a:schemeClr val="bg2"/>
                  </a:solidFill>
                  <a:latin typeface="Times New Roman" panose="02020603050405020304" pitchFamily="18" charset="0"/>
                </a:rPr>
                <a:t>=0</a:t>
              </a:r>
            </a:p>
          </p:txBody>
        </p:sp>
        <p:sp>
          <p:nvSpPr>
            <p:cNvPr id="13348" name="Oval 60"/>
            <p:cNvSpPr>
              <a:spLocks noChangeArrowheads="1"/>
            </p:cNvSpPr>
            <p:nvPr/>
          </p:nvSpPr>
          <p:spPr bwMode="auto">
            <a:xfrm>
              <a:off x="1519" y="1570"/>
              <a:ext cx="91" cy="90"/>
            </a:xfrm>
            <a:prstGeom prst="ellipse">
              <a:avLst/>
            </a:prstGeom>
            <a:solidFill>
              <a:srgbClr val="FF0000"/>
            </a:solidFill>
            <a:ln w="2857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49" name="Oval 61"/>
            <p:cNvSpPr>
              <a:spLocks noChangeArrowheads="1"/>
            </p:cNvSpPr>
            <p:nvPr/>
          </p:nvSpPr>
          <p:spPr bwMode="auto">
            <a:xfrm>
              <a:off x="1383" y="1253"/>
              <a:ext cx="91" cy="90"/>
            </a:xfrm>
            <a:prstGeom prst="ellipse">
              <a:avLst/>
            </a:prstGeom>
            <a:solidFill>
              <a:srgbClr val="FF0000"/>
            </a:solidFill>
            <a:ln w="2857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50" name="Oval 62"/>
            <p:cNvSpPr>
              <a:spLocks noChangeArrowheads="1"/>
            </p:cNvSpPr>
            <p:nvPr/>
          </p:nvSpPr>
          <p:spPr bwMode="auto">
            <a:xfrm>
              <a:off x="1020" y="1071"/>
              <a:ext cx="91" cy="90"/>
            </a:xfrm>
            <a:prstGeom prst="ellipse">
              <a:avLst/>
            </a:prstGeom>
            <a:solidFill>
              <a:srgbClr val="FF0000"/>
            </a:solidFill>
            <a:ln w="2857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51" name="Oval 63"/>
            <p:cNvSpPr>
              <a:spLocks noChangeArrowheads="1"/>
            </p:cNvSpPr>
            <p:nvPr/>
          </p:nvSpPr>
          <p:spPr bwMode="auto">
            <a:xfrm>
              <a:off x="612" y="1253"/>
              <a:ext cx="91" cy="90"/>
            </a:xfrm>
            <a:prstGeom prst="ellipse">
              <a:avLst/>
            </a:prstGeom>
            <a:solidFill>
              <a:srgbClr val="FF0000"/>
            </a:solidFill>
            <a:ln w="2857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52" name="Oval 64"/>
            <p:cNvSpPr>
              <a:spLocks noChangeArrowheads="1"/>
            </p:cNvSpPr>
            <p:nvPr/>
          </p:nvSpPr>
          <p:spPr bwMode="auto">
            <a:xfrm>
              <a:off x="476" y="1570"/>
              <a:ext cx="91" cy="90"/>
            </a:xfrm>
            <a:prstGeom prst="ellipse">
              <a:avLst/>
            </a:prstGeom>
            <a:solidFill>
              <a:srgbClr val="FF0000"/>
            </a:solidFill>
            <a:ln w="2857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53" name="Oval 65"/>
            <p:cNvSpPr>
              <a:spLocks noChangeArrowheads="1"/>
            </p:cNvSpPr>
            <p:nvPr/>
          </p:nvSpPr>
          <p:spPr bwMode="auto">
            <a:xfrm>
              <a:off x="612" y="1933"/>
              <a:ext cx="91" cy="90"/>
            </a:xfrm>
            <a:prstGeom prst="ellipse">
              <a:avLst/>
            </a:prstGeom>
            <a:solidFill>
              <a:srgbClr val="FF0000"/>
            </a:solidFill>
            <a:ln w="2857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54" name="Oval 66"/>
            <p:cNvSpPr>
              <a:spLocks noChangeArrowheads="1"/>
            </p:cNvSpPr>
            <p:nvPr/>
          </p:nvSpPr>
          <p:spPr bwMode="auto">
            <a:xfrm>
              <a:off x="1020" y="2160"/>
              <a:ext cx="91" cy="90"/>
            </a:xfrm>
            <a:prstGeom prst="ellipse">
              <a:avLst/>
            </a:prstGeom>
            <a:solidFill>
              <a:srgbClr val="FF0000"/>
            </a:solidFill>
            <a:ln w="2857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3355" name="Oval 67"/>
            <p:cNvSpPr>
              <a:spLocks noChangeArrowheads="1"/>
            </p:cNvSpPr>
            <p:nvPr/>
          </p:nvSpPr>
          <p:spPr bwMode="auto">
            <a:xfrm>
              <a:off x="1429" y="1933"/>
              <a:ext cx="91" cy="90"/>
            </a:xfrm>
            <a:prstGeom prst="ellipse">
              <a:avLst/>
            </a:prstGeom>
            <a:solidFill>
              <a:srgbClr val="FF0000"/>
            </a:solidFill>
            <a:ln w="28575" algn="ctr">
              <a:solidFill>
                <a:srgbClr val="FF0000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794692" name="Rectangle 68"/>
          <p:cNvSpPr>
            <a:spLocks noChangeArrowheads="1"/>
          </p:cNvSpPr>
          <p:nvPr/>
        </p:nvSpPr>
        <p:spPr bwMode="auto">
          <a:xfrm>
            <a:off x="5364163" y="6021388"/>
            <a:ext cx="2754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1" lang="zh-CN" altLang="en-US">
                <a:solidFill>
                  <a:srgbClr val="333300"/>
                </a:solidFill>
                <a:latin typeface="Times New Roman" panose="02020603050405020304" pitchFamily="18" charset="0"/>
              </a:rPr>
              <a:t>   </a:t>
            </a:r>
            <a:r>
              <a:rPr kumimoji="1" lang="en-US" altLang="zh-CN" b="1">
                <a:solidFill>
                  <a:schemeClr val="hlink"/>
                </a:solidFill>
                <a:latin typeface="Times New Roman" panose="02020603050405020304" pitchFamily="18" charset="0"/>
              </a:rPr>
              <a:t>DFT</a:t>
            </a:r>
            <a:r>
              <a:rPr kumimoji="1" lang="zh-CN" altLang="en-US" b="1">
                <a:solidFill>
                  <a:schemeClr val="hlink"/>
                </a:solidFill>
                <a:latin typeface="Times New Roman" panose="02020603050405020304" pitchFamily="18" charset="0"/>
              </a:rPr>
              <a:t>与</a:t>
            </a:r>
            <a:r>
              <a:rPr kumimoji="1" lang="en-US" altLang="zh-CN" b="1">
                <a:solidFill>
                  <a:schemeClr val="hlink"/>
                </a:solidFill>
                <a:latin typeface="Times New Roman" panose="02020603050405020304" pitchFamily="18" charset="0"/>
              </a:rPr>
              <a:t>DTFT</a:t>
            </a:r>
            <a:r>
              <a:rPr kumimoji="1" lang="zh-CN" altLang="en-US" b="1">
                <a:solidFill>
                  <a:schemeClr val="hlink"/>
                </a:solidFill>
                <a:latin typeface="Times New Roman" panose="02020603050405020304" pitchFamily="18" charset="0"/>
              </a:rPr>
              <a:t>变换</a:t>
            </a:r>
          </a:p>
        </p:txBody>
      </p:sp>
      <p:sp>
        <p:nvSpPr>
          <p:cNvPr id="794693" name="Rectangle 69"/>
          <p:cNvSpPr>
            <a:spLocks noChangeArrowheads="1"/>
          </p:cNvSpPr>
          <p:nvPr/>
        </p:nvSpPr>
        <p:spPr bwMode="auto">
          <a:xfrm>
            <a:off x="468313" y="476250"/>
            <a:ext cx="8064500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Char char="•"/>
            </a:pPr>
            <a:r>
              <a:rPr lang="zh-CN" altLang="en-US" sz="2400" b="1">
                <a:solidFill>
                  <a:schemeClr val="hlink"/>
                </a:solidFill>
              </a:rPr>
              <a:t>序列</a:t>
            </a:r>
            <a:r>
              <a:rPr lang="en-US" altLang="zh-CN" sz="2400" b="1">
                <a:solidFill>
                  <a:schemeClr val="hlink"/>
                </a:solidFill>
              </a:rPr>
              <a:t>x(n)</a:t>
            </a:r>
            <a:r>
              <a:rPr lang="zh-CN" altLang="en-US" sz="2400" b="1">
                <a:solidFill>
                  <a:schemeClr val="hlink"/>
                </a:solidFill>
              </a:rPr>
              <a:t>的</a:t>
            </a:r>
            <a:r>
              <a:rPr lang="en-US" altLang="zh-CN" sz="2400" b="1">
                <a:solidFill>
                  <a:schemeClr val="hlink"/>
                </a:solidFill>
              </a:rPr>
              <a:t>N</a:t>
            </a:r>
            <a:r>
              <a:rPr lang="zh-CN" altLang="en-US" sz="2400" b="1">
                <a:solidFill>
                  <a:schemeClr val="hlink"/>
                </a:solidFill>
              </a:rPr>
              <a:t>点</a:t>
            </a:r>
            <a:r>
              <a:rPr lang="en-US" altLang="zh-CN" sz="2400" b="1">
                <a:solidFill>
                  <a:schemeClr val="hlink"/>
                </a:solidFill>
              </a:rPr>
              <a:t>DFT</a:t>
            </a:r>
            <a:r>
              <a:rPr lang="zh-CN" altLang="en-US" sz="2400" b="1">
                <a:solidFill>
                  <a:schemeClr val="hlink"/>
                </a:solidFill>
              </a:rPr>
              <a:t>是 </a:t>
            </a:r>
            <a:r>
              <a:rPr lang="en-US" altLang="zh-CN" sz="2400" b="1">
                <a:solidFill>
                  <a:schemeClr val="hlink"/>
                </a:solidFill>
              </a:rPr>
              <a:t>x(n)</a:t>
            </a:r>
            <a:r>
              <a:rPr lang="zh-CN" altLang="en-US" sz="2400" b="1">
                <a:solidFill>
                  <a:schemeClr val="hlink"/>
                </a:solidFill>
              </a:rPr>
              <a:t>的</a:t>
            </a:r>
            <a:r>
              <a:rPr lang="en-US" altLang="zh-CN" sz="2400" b="1">
                <a:solidFill>
                  <a:schemeClr val="hlink"/>
                </a:solidFill>
              </a:rPr>
              <a:t>Z</a:t>
            </a:r>
            <a:r>
              <a:rPr lang="zh-CN" altLang="en-US" sz="2400" b="1">
                <a:solidFill>
                  <a:schemeClr val="hlink"/>
                </a:solidFill>
              </a:rPr>
              <a:t>变换在单位圆上的</a:t>
            </a:r>
            <a:r>
              <a:rPr lang="en-US" altLang="zh-CN" sz="2400" b="1">
                <a:solidFill>
                  <a:schemeClr val="hlink"/>
                </a:solidFill>
              </a:rPr>
              <a:t>N</a:t>
            </a:r>
            <a:r>
              <a:rPr lang="zh-CN" altLang="en-US" sz="2400" b="1">
                <a:solidFill>
                  <a:schemeClr val="hlink"/>
                </a:solidFill>
              </a:rPr>
              <a:t>点等间隔采样；</a:t>
            </a:r>
          </a:p>
          <a:p>
            <a:pPr eaLnBrk="1" hangingPunct="1">
              <a:buFontTx/>
              <a:buChar char="•"/>
            </a:pPr>
            <a:r>
              <a:rPr lang="en-US" altLang="zh-CN" sz="2400" b="1">
                <a:solidFill>
                  <a:schemeClr val="hlink"/>
                </a:solidFill>
              </a:rPr>
              <a:t>X(k)</a:t>
            </a:r>
            <a:r>
              <a:rPr lang="zh-CN" altLang="en-US" sz="2400" b="1">
                <a:solidFill>
                  <a:schemeClr val="hlink"/>
                </a:solidFill>
              </a:rPr>
              <a:t>为</a:t>
            </a:r>
            <a:r>
              <a:rPr lang="en-US" altLang="zh-CN" sz="2400" b="1">
                <a:solidFill>
                  <a:schemeClr val="hlink"/>
                </a:solidFill>
              </a:rPr>
              <a:t>x(n)</a:t>
            </a:r>
            <a:r>
              <a:rPr lang="zh-CN" altLang="en-US" sz="2400" b="1">
                <a:solidFill>
                  <a:schemeClr val="hlink"/>
                </a:solidFill>
              </a:rPr>
              <a:t>的傅立叶变换              在区间             上的</a:t>
            </a:r>
            <a:r>
              <a:rPr lang="en-US" altLang="zh-CN" sz="2400" b="1">
                <a:solidFill>
                  <a:schemeClr val="hlink"/>
                </a:solidFill>
              </a:rPr>
              <a:t>N</a:t>
            </a:r>
            <a:r>
              <a:rPr lang="zh-CN" altLang="en-US" sz="2400" b="1">
                <a:solidFill>
                  <a:schemeClr val="hlink"/>
                </a:solidFill>
              </a:rPr>
              <a:t>点等间隔采样。这就是</a:t>
            </a:r>
            <a:r>
              <a:rPr lang="en-US" altLang="zh-CN" sz="2400" b="1">
                <a:solidFill>
                  <a:schemeClr val="hlink"/>
                </a:solidFill>
              </a:rPr>
              <a:t>DFT</a:t>
            </a:r>
            <a:r>
              <a:rPr lang="zh-CN" altLang="en-US" sz="2400" b="1">
                <a:solidFill>
                  <a:schemeClr val="hlink"/>
                </a:solidFill>
              </a:rPr>
              <a:t>的物理意义。</a:t>
            </a:r>
          </a:p>
        </p:txBody>
      </p:sp>
      <p:graphicFrame>
        <p:nvGraphicFramePr>
          <p:cNvPr id="794694" name="Object 70"/>
          <p:cNvGraphicFramePr>
            <a:graphicFrameLocks noChangeAspect="1"/>
          </p:cNvGraphicFramePr>
          <p:nvPr/>
        </p:nvGraphicFramePr>
        <p:xfrm>
          <a:off x="6443663" y="1196975"/>
          <a:ext cx="9366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4" name="Equation" r:id="rId22" imgW="457002" imgH="203112" progId="Equation.DSMT4">
                  <p:embed/>
                </p:oleObj>
              </mc:Choice>
              <mc:Fallback>
                <p:oleObj name="Equation" r:id="rId22" imgW="457002" imgH="203112" progId="Equation.DSMT4">
                  <p:embed/>
                  <p:pic>
                    <p:nvPicPr>
                      <p:cNvPr id="0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43663" y="1196975"/>
                        <a:ext cx="9366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4695" name="Object 71"/>
          <p:cNvGraphicFramePr>
            <a:graphicFrameLocks noChangeAspect="1"/>
          </p:cNvGraphicFramePr>
          <p:nvPr/>
        </p:nvGraphicFramePr>
        <p:xfrm>
          <a:off x="4284663" y="1125538"/>
          <a:ext cx="1008062" cy="481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515" name="Equation" r:id="rId24" imgW="482391" imgH="228501" progId="Equation.DSMT4">
                  <p:embed/>
                </p:oleObj>
              </mc:Choice>
              <mc:Fallback>
                <p:oleObj name="Equation" r:id="rId24" imgW="482391" imgH="228501" progId="Equation.DSMT4">
                  <p:embed/>
                  <p:pic>
                    <p:nvPicPr>
                      <p:cNvPr id="0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84663" y="1125538"/>
                        <a:ext cx="1008062" cy="481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946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946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94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794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94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469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ext Box 3"/>
          <p:cNvSpPr txBox="1">
            <a:spLocks noChangeArrowheads="1"/>
          </p:cNvSpPr>
          <p:nvPr/>
        </p:nvSpPr>
        <p:spPr bwMode="auto">
          <a:xfrm>
            <a:off x="2354263" y="1928813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变量</a:t>
            </a:r>
          </a:p>
        </p:txBody>
      </p:sp>
      <p:sp>
        <p:nvSpPr>
          <p:cNvPr id="14339" name="Text Box 4"/>
          <p:cNvSpPr txBox="1">
            <a:spLocks noChangeArrowheads="1"/>
          </p:cNvSpPr>
          <p:nvPr/>
        </p:nvSpPr>
        <p:spPr bwMode="auto">
          <a:xfrm>
            <a:off x="3802063" y="1928813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周期</a:t>
            </a:r>
          </a:p>
        </p:txBody>
      </p:sp>
      <p:sp>
        <p:nvSpPr>
          <p:cNvPr id="14340" name="Text Box 5"/>
          <p:cNvSpPr txBox="1">
            <a:spLocks noChangeArrowheads="1"/>
          </p:cNvSpPr>
          <p:nvPr/>
        </p:nvSpPr>
        <p:spPr bwMode="auto">
          <a:xfrm>
            <a:off x="5402263" y="1928813"/>
            <a:ext cx="1295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>
                <a:solidFill>
                  <a:schemeClr val="tx1"/>
                </a:solidFill>
                <a:latin typeface="Times New Roman" panose="02020603050405020304" pitchFamily="18" charset="0"/>
              </a:rPr>
              <a:t>分辨率</a:t>
            </a:r>
          </a:p>
        </p:txBody>
      </p:sp>
      <p:graphicFrame>
        <p:nvGraphicFramePr>
          <p:cNvPr id="14341" name="Object 6"/>
          <p:cNvGraphicFramePr>
            <a:graphicFrameLocks noChangeAspect="1"/>
          </p:cNvGraphicFramePr>
          <p:nvPr/>
        </p:nvGraphicFramePr>
        <p:xfrm>
          <a:off x="2506663" y="2538413"/>
          <a:ext cx="4413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2" name="公式" r:id="rId3" imgW="114102" imgH="114102" progId="Equation.3">
                  <p:embed/>
                </p:oleObj>
              </mc:Choice>
              <mc:Fallback>
                <p:oleObj name="公式" r:id="rId3" imgW="114102" imgH="11410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663" y="2538413"/>
                        <a:ext cx="4413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2" name="Object 7"/>
          <p:cNvGraphicFramePr>
            <a:graphicFrameLocks noChangeAspect="1"/>
          </p:cNvGraphicFramePr>
          <p:nvPr/>
        </p:nvGraphicFramePr>
        <p:xfrm>
          <a:off x="3881438" y="2584450"/>
          <a:ext cx="5334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3" name="公式" r:id="rId5" imgW="152202" imgH="126835" progId="Equation.3">
                  <p:embed/>
                </p:oleObj>
              </mc:Choice>
              <mc:Fallback>
                <p:oleObj name="公式" r:id="rId5" imgW="152202" imgH="12683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1438" y="2584450"/>
                        <a:ext cx="5334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3" name="Object 8"/>
          <p:cNvGraphicFramePr>
            <a:graphicFrameLocks noChangeAspect="1"/>
          </p:cNvGraphicFramePr>
          <p:nvPr/>
        </p:nvGraphicFramePr>
        <p:xfrm>
          <a:off x="5662613" y="2392363"/>
          <a:ext cx="6223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4" name="公式" r:id="rId7" imgW="177569" imgH="253670" progId="Equation.3">
                  <p:embed/>
                </p:oleObj>
              </mc:Choice>
              <mc:Fallback>
                <p:oleObj name="公式" r:id="rId7" imgW="177569" imgH="25367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62613" y="2392363"/>
                        <a:ext cx="622300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4" name="Object 9"/>
          <p:cNvGraphicFramePr>
            <a:graphicFrameLocks noChangeAspect="1"/>
          </p:cNvGraphicFramePr>
          <p:nvPr/>
        </p:nvGraphicFramePr>
        <p:xfrm>
          <a:off x="2236788" y="3556000"/>
          <a:ext cx="981075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5" name="公式" r:id="rId9" imgW="253890" imgH="139639" progId="Equation.3">
                  <p:embed/>
                </p:oleObj>
              </mc:Choice>
              <mc:Fallback>
                <p:oleObj name="公式" r:id="rId9" imgW="253890" imgH="13963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36788" y="3556000"/>
                        <a:ext cx="981075" cy="539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10"/>
          <p:cNvGraphicFramePr>
            <a:graphicFrameLocks noChangeAspect="1"/>
          </p:cNvGraphicFramePr>
          <p:nvPr/>
        </p:nvGraphicFramePr>
        <p:xfrm>
          <a:off x="3779838" y="3357563"/>
          <a:ext cx="117792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6" name="公式" r:id="rId11" imgW="304668" imgH="228501" progId="Equation.3">
                  <p:embed/>
                </p:oleObj>
              </mc:Choice>
              <mc:Fallback>
                <p:oleObj name="公式" r:id="rId11" imgW="304668" imgH="228501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3357563"/>
                        <a:ext cx="1177925" cy="882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11"/>
          <p:cNvGraphicFramePr>
            <a:graphicFrameLocks noChangeAspect="1"/>
          </p:cNvGraphicFramePr>
          <p:nvPr/>
        </p:nvGraphicFramePr>
        <p:xfrm>
          <a:off x="5707063" y="3376613"/>
          <a:ext cx="577850" cy="933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7" name="公式" r:id="rId13" imgW="164885" imgH="266353" progId="Equation.3">
                  <p:embed/>
                </p:oleObj>
              </mc:Choice>
              <mc:Fallback>
                <p:oleObj name="公式" r:id="rId13" imgW="164885" imgH="266353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7063" y="3376613"/>
                        <a:ext cx="577850" cy="933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7" name="Object 12"/>
          <p:cNvGraphicFramePr>
            <a:graphicFrameLocks noChangeAspect="1"/>
          </p:cNvGraphicFramePr>
          <p:nvPr/>
        </p:nvGraphicFramePr>
        <p:xfrm>
          <a:off x="2506663" y="4519613"/>
          <a:ext cx="392112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8" name="公式" r:id="rId15" imgW="101424" imgH="126780" progId="Equation.3">
                  <p:embed/>
                </p:oleObj>
              </mc:Choice>
              <mc:Fallback>
                <p:oleObj name="公式" r:id="rId15" imgW="101424" imgH="12678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06663" y="4519613"/>
                        <a:ext cx="392112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8" name="Object 13"/>
          <p:cNvGraphicFramePr>
            <a:graphicFrameLocks noChangeAspect="1"/>
          </p:cNvGraphicFramePr>
          <p:nvPr/>
        </p:nvGraphicFramePr>
        <p:xfrm>
          <a:off x="4183063" y="4443413"/>
          <a:ext cx="423862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49" name="公式" r:id="rId17" imgW="126725" imgH="126725" progId="Equation.3">
                  <p:embed/>
                </p:oleObj>
              </mc:Choice>
              <mc:Fallback>
                <p:oleObj name="公式" r:id="rId17" imgW="126725" imgH="126725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83063" y="4443413"/>
                        <a:ext cx="423862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9" name="Line 14"/>
          <p:cNvSpPr>
            <a:spLocks noChangeShapeType="1"/>
          </p:cNvSpPr>
          <p:nvPr/>
        </p:nvSpPr>
        <p:spPr bwMode="auto">
          <a:xfrm>
            <a:off x="1897063" y="1852613"/>
            <a:ext cx="480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0" name="Line 15"/>
          <p:cNvSpPr>
            <a:spLocks noChangeShapeType="1"/>
          </p:cNvSpPr>
          <p:nvPr/>
        </p:nvSpPr>
        <p:spPr bwMode="auto">
          <a:xfrm>
            <a:off x="1897063" y="2386013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1" name="Line 16"/>
          <p:cNvSpPr>
            <a:spLocks noChangeShapeType="1"/>
          </p:cNvSpPr>
          <p:nvPr/>
        </p:nvSpPr>
        <p:spPr bwMode="auto">
          <a:xfrm>
            <a:off x="1973263" y="3300413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2" name="Line 17"/>
          <p:cNvSpPr>
            <a:spLocks noChangeShapeType="1"/>
          </p:cNvSpPr>
          <p:nvPr/>
        </p:nvSpPr>
        <p:spPr bwMode="auto">
          <a:xfrm>
            <a:off x="2049463" y="4291013"/>
            <a:ext cx="464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3" name="Line 18"/>
          <p:cNvSpPr>
            <a:spLocks noChangeShapeType="1"/>
          </p:cNvSpPr>
          <p:nvPr/>
        </p:nvSpPr>
        <p:spPr bwMode="auto">
          <a:xfrm flipV="1">
            <a:off x="1973263" y="5053013"/>
            <a:ext cx="4724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4" name="Line 19"/>
          <p:cNvSpPr>
            <a:spLocks noChangeShapeType="1"/>
          </p:cNvSpPr>
          <p:nvPr/>
        </p:nvSpPr>
        <p:spPr bwMode="auto">
          <a:xfrm>
            <a:off x="3268663" y="1852613"/>
            <a:ext cx="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5" name="Line 20"/>
          <p:cNvSpPr>
            <a:spLocks noChangeShapeType="1"/>
          </p:cNvSpPr>
          <p:nvPr/>
        </p:nvSpPr>
        <p:spPr bwMode="auto">
          <a:xfrm>
            <a:off x="5021263" y="1852613"/>
            <a:ext cx="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6" name="Line 21"/>
          <p:cNvSpPr>
            <a:spLocks noChangeShapeType="1"/>
          </p:cNvSpPr>
          <p:nvPr/>
        </p:nvSpPr>
        <p:spPr bwMode="auto">
          <a:xfrm>
            <a:off x="1897063" y="1852613"/>
            <a:ext cx="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7" name="Line 22"/>
          <p:cNvSpPr>
            <a:spLocks noChangeShapeType="1"/>
          </p:cNvSpPr>
          <p:nvPr/>
        </p:nvSpPr>
        <p:spPr bwMode="auto">
          <a:xfrm>
            <a:off x="6697663" y="1852613"/>
            <a:ext cx="0" cy="3200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4358" name="AutoShape 23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14359" name="Rectangle 24">
            <a:hlinkClick r:id="rId19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14360" name="AutoShape 25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14361" name="Rectangle 26">
            <a:hlinkClick r:id="rId20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17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684213" y="836613"/>
            <a:ext cx="7991475" cy="52562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b="1" dirty="0" smtClean="0"/>
              <a:t>DFT</a:t>
            </a:r>
            <a:r>
              <a:rPr lang="zh-CN" altLang="en-US" b="1" dirty="0" smtClean="0"/>
              <a:t>和</a:t>
            </a:r>
            <a:r>
              <a:rPr lang="en-US" altLang="zh-CN" b="1" dirty="0" smtClean="0"/>
              <a:t>DFS</a:t>
            </a:r>
            <a:r>
              <a:rPr lang="zh-CN" altLang="en-US" b="1" dirty="0" smtClean="0"/>
              <a:t>之间的关系：</a:t>
            </a:r>
            <a:endParaRPr lang="zh-CN" altLang="en-US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dirty="0" smtClean="0"/>
              <a:t>              </a:t>
            </a:r>
            <a:r>
              <a:rPr lang="zh-CN" altLang="en-US" sz="1800" dirty="0" smtClean="0">
                <a:latin typeface="隶书" panose="02010509060101010101" pitchFamily="49" charset="-122"/>
                <a:ea typeface="隶书" panose="02010509060101010101" pitchFamily="49" charset="-122"/>
              </a:rPr>
              <a:t>周期延拓              取主值</a:t>
            </a:r>
          </a:p>
          <a:p>
            <a:pPr eaLnBrk="1" hangingPunct="1">
              <a:buFontTx/>
              <a:buNone/>
            </a:pPr>
            <a:r>
              <a:rPr lang="zh-CN" altLang="en-US" dirty="0" smtClean="0"/>
              <a:t>  有限长序列         周期序列        主值区序列</a:t>
            </a:r>
          </a:p>
          <a:p>
            <a:pPr eaLnBrk="1" hangingPunct="1">
              <a:buFontTx/>
              <a:buNone/>
            </a:pPr>
            <a:endParaRPr lang="zh-CN" altLang="en-US" dirty="0" smtClean="0"/>
          </a:p>
          <a:p>
            <a:pPr eaLnBrk="1" hangingPunct="1">
              <a:buFontTx/>
              <a:buNone/>
            </a:pPr>
            <a:r>
              <a:rPr lang="zh-CN" altLang="en-US" dirty="0" smtClean="0"/>
              <a:t>有限长序列</a:t>
            </a:r>
          </a:p>
          <a:p>
            <a:pPr eaLnBrk="1" hangingPunct="1">
              <a:buFontTx/>
              <a:buNone/>
            </a:pPr>
            <a:endParaRPr lang="zh-CN" altLang="en-US" dirty="0" smtClean="0"/>
          </a:p>
          <a:p>
            <a:pPr eaLnBrk="1" hangingPunct="1">
              <a:buFontTx/>
              <a:buNone/>
            </a:pPr>
            <a:r>
              <a:rPr lang="zh-CN" altLang="en-US" dirty="0" smtClean="0"/>
              <a:t>周期序列</a:t>
            </a:r>
          </a:p>
          <a:p>
            <a:pPr eaLnBrk="1" hangingPunct="1">
              <a:buFontTx/>
              <a:buNone/>
            </a:pPr>
            <a:endParaRPr lang="zh-CN" altLang="en-US" dirty="0" smtClean="0"/>
          </a:p>
          <a:p>
            <a:pPr eaLnBrk="1" hangingPunct="1">
              <a:buFontTx/>
              <a:buNone/>
            </a:pPr>
            <a:endParaRPr lang="zh-CN" altLang="en-US" dirty="0" smtClean="0"/>
          </a:p>
          <a:p>
            <a:pPr eaLnBrk="1" hangingPunct="1">
              <a:buFontTx/>
              <a:buNone/>
            </a:pPr>
            <a:r>
              <a:rPr lang="zh-CN" altLang="en-US" dirty="0" smtClean="0"/>
              <a:t>主值区间序列</a:t>
            </a:r>
          </a:p>
        </p:txBody>
      </p:sp>
      <p:graphicFrame>
        <p:nvGraphicFramePr>
          <p:cNvPr id="775182" name="Object 14"/>
          <p:cNvGraphicFramePr>
            <a:graphicFrameLocks noChangeAspect="1"/>
          </p:cNvGraphicFramePr>
          <p:nvPr/>
        </p:nvGraphicFramePr>
        <p:xfrm>
          <a:off x="2555875" y="2636838"/>
          <a:ext cx="410368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7" name="Equation" r:id="rId3" imgW="1536033" imgH="203112" progId="Equation.DSMT4">
                  <p:embed/>
                </p:oleObj>
              </mc:Choice>
              <mc:Fallback>
                <p:oleObj name="Equation" r:id="rId3" imgW="1536033" imgH="203112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636838"/>
                        <a:ext cx="4103688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5183" name="Object 15"/>
          <p:cNvGraphicFramePr>
            <a:graphicFrameLocks noChangeAspect="1"/>
          </p:cNvGraphicFramePr>
          <p:nvPr/>
        </p:nvGraphicFramePr>
        <p:xfrm>
          <a:off x="1979613" y="3284538"/>
          <a:ext cx="4824412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8" name="Equation" r:id="rId5" imgW="1435100" imgH="431800" progId="Equation.DSMT4">
                  <p:embed/>
                </p:oleObj>
              </mc:Choice>
              <mc:Fallback>
                <p:oleObj name="Equation" r:id="rId5" imgW="1435100" imgH="431800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284538"/>
                        <a:ext cx="4824412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5184" name="Object 16"/>
          <p:cNvGraphicFramePr>
            <a:graphicFrameLocks noChangeAspect="1"/>
          </p:cNvGraphicFramePr>
          <p:nvPr/>
        </p:nvGraphicFramePr>
        <p:xfrm>
          <a:off x="2339975" y="4221163"/>
          <a:ext cx="345757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9" name="Equation" r:id="rId7" imgW="1714500" imgH="228600" progId="Equation.DSMT4">
                  <p:embed/>
                </p:oleObj>
              </mc:Choice>
              <mc:Fallback>
                <p:oleObj name="Equation" r:id="rId7" imgW="1714500" imgH="2286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221163"/>
                        <a:ext cx="345757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5185" name="Object 17"/>
          <p:cNvGraphicFramePr>
            <a:graphicFrameLocks noChangeAspect="1"/>
          </p:cNvGraphicFramePr>
          <p:nvPr/>
        </p:nvGraphicFramePr>
        <p:xfrm>
          <a:off x="6011863" y="4221163"/>
          <a:ext cx="1441450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0" name="Equation" r:id="rId9" imgW="698500" imgH="228600" progId="Equation.DSMT4">
                  <p:embed/>
                </p:oleObj>
              </mc:Choice>
              <mc:Fallback>
                <p:oleObj name="Equation" r:id="rId9" imgW="698500" imgH="228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1863" y="4221163"/>
                        <a:ext cx="1441450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5186" name="Object 1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57132393"/>
              </p:ext>
            </p:extLst>
          </p:nvPr>
        </p:nvGraphicFramePr>
        <p:xfrm>
          <a:off x="3059906" y="4760119"/>
          <a:ext cx="2663825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1" name="Equation" r:id="rId11" imgW="1270000" imgH="228600" progId="Equation.DSMT4">
                  <p:embed/>
                </p:oleObj>
              </mc:Choice>
              <mc:Fallback>
                <p:oleObj name="Equation" r:id="rId11" imgW="1270000" imgH="228600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906" y="4760119"/>
                        <a:ext cx="2663825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5187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5643950"/>
              </p:ext>
            </p:extLst>
          </p:nvPr>
        </p:nvGraphicFramePr>
        <p:xfrm>
          <a:off x="3037561" y="5441083"/>
          <a:ext cx="2592388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2" name="Equation" r:id="rId13" imgW="1422400" imgH="228600" progId="Equation.DSMT4">
                  <p:embed/>
                </p:oleObj>
              </mc:Choice>
              <mc:Fallback>
                <p:oleObj name="Equation" r:id="rId13" imgW="1422400" imgH="2286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37561" y="5441083"/>
                        <a:ext cx="2592388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5188" name="AutoShape 20"/>
          <p:cNvSpPr>
            <a:spLocks noChangeArrowheads="1"/>
          </p:cNvSpPr>
          <p:nvPr/>
        </p:nvSpPr>
        <p:spPr bwMode="auto">
          <a:xfrm>
            <a:off x="2771775" y="1844675"/>
            <a:ext cx="1008063" cy="215900"/>
          </a:xfrm>
          <a:prstGeom prst="rightArrow">
            <a:avLst>
              <a:gd name="adj1" fmla="val 50000"/>
              <a:gd name="adj2" fmla="val 116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775189" name="AutoShape 21"/>
          <p:cNvSpPr>
            <a:spLocks noChangeArrowheads="1"/>
          </p:cNvSpPr>
          <p:nvPr/>
        </p:nvSpPr>
        <p:spPr bwMode="auto">
          <a:xfrm>
            <a:off x="5292725" y="1844675"/>
            <a:ext cx="1008063" cy="215900"/>
          </a:xfrm>
          <a:prstGeom prst="rightArrow">
            <a:avLst>
              <a:gd name="adj1" fmla="val 50000"/>
              <a:gd name="adj2" fmla="val 11672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75190" name="Object 22"/>
          <p:cNvGraphicFramePr>
            <a:graphicFrameLocks noChangeAspect="1"/>
          </p:cNvGraphicFramePr>
          <p:nvPr/>
        </p:nvGraphicFramePr>
        <p:xfrm>
          <a:off x="6732588" y="3429000"/>
          <a:ext cx="1223962" cy="461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53" name="Equation" r:id="rId15" imgW="609600" imgH="228600" progId="Equation.DSMT4">
                  <p:embed/>
                </p:oleObj>
              </mc:Choice>
              <mc:Fallback>
                <p:oleObj name="Equation" r:id="rId15" imgW="609600" imgH="228600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3429000"/>
                        <a:ext cx="1223962" cy="461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5191" name="Rectangle 23"/>
          <p:cNvSpPr>
            <a:spLocks noChangeArrowheads="1"/>
          </p:cNvSpPr>
          <p:nvPr/>
        </p:nvSpPr>
        <p:spPr bwMode="auto">
          <a:xfrm>
            <a:off x="900113" y="1341438"/>
            <a:ext cx="7273925" cy="1008062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5373" name="AutoShape 24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15374" name="Rectangle 25">
            <a:hlinkClick r:id="rId17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15375" name="AutoShape 26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15376" name="Rectangle 27">
            <a:hlinkClick r:id="rId18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75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7517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751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751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751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751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751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7751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75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75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75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75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75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7517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7751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75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7751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51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7751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7751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77517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836613"/>
            <a:ext cx="6770688" cy="5076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76195" name="Object 3"/>
          <p:cNvGraphicFramePr>
            <a:graphicFrameLocks noChangeAspect="1"/>
          </p:cNvGraphicFramePr>
          <p:nvPr/>
        </p:nvGraphicFramePr>
        <p:xfrm>
          <a:off x="827088" y="3429000"/>
          <a:ext cx="649287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1" name="Equation" r:id="rId4" imgW="368300" imgH="228600" progId="Equation.DSMT4">
                  <p:embed/>
                </p:oleObj>
              </mc:Choice>
              <mc:Fallback>
                <p:oleObj name="Equation" r:id="rId4" imgW="368300" imgH="2286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429000"/>
                        <a:ext cx="649287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6196" name="Object 4"/>
          <p:cNvGraphicFramePr>
            <a:graphicFrameLocks noChangeAspect="1"/>
          </p:cNvGraphicFramePr>
          <p:nvPr/>
        </p:nvGraphicFramePr>
        <p:xfrm>
          <a:off x="827088" y="5013325"/>
          <a:ext cx="649287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2" name="Equation" r:id="rId6" imgW="368300" imgH="228600" progId="Equation.DSMT4">
                  <p:embed/>
                </p:oleObj>
              </mc:Choice>
              <mc:Fallback>
                <p:oleObj name="Equation" r:id="rId6" imgW="3683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013325"/>
                        <a:ext cx="649287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89" name="Line 5"/>
          <p:cNvSpPr>
            <a:spLocks noChangeShapeType="1"/>
          </p:cNvSpPr>
          <p:nvPr/>
        </p:nvSpPr>
        <p:spPr bwMode="auto">
          <a:xfrm>
            <a:off x="4787900" y="2349500"/>
            <a:ext cx="0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776198" name="Group 6"/>
          <p:cNvGrpSpPr>
            <a:grpSpLocks/>
          </p:cNvGrpSpPr>
          <p:nvPr/>
        </p:nvGrpSpPr>
        <p:grpSpPr bwMode="auto">
          <a:xfrm>
            <a:off x="4787900" y="1341438"/>
            <a:ext cx="1152525" cy="792162"/>
            <a:chOff x="3016" y="1117"/>
            <a:chExt cx="680" cy="499"/>
          </a:xfrm>
        </p:grpSpPr>
        <p:sp>
          <p:nvSpPr>
            <p:cNvPr id="16395" name="Line 7"/>
            <p:cNvSpPr>
              <a:spLocks noChangeShapeType="1"/>
            </p:cNvSpPr>
            <p:nvPr/>
          </p:nvSpPr>
          <p:spPr bwMode="auto">
            <a:xfrm flipH="1">
              <a:off x="3016" y="1480"/>
              <a:ext cx="0" cy="13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6" name="Line 8"/>
            <p:cNvSpPr>
              <a:spLocks noChangeShapeType="1"/>
            </p:cNvSpPr>
            <p:nvPr/>
          </p:nvSpPr>
          <p:spPr bwMode="auto">
            <a:xfrm flipH="1">
              <a:off x="3288" y="1117"/>
              <a:ext cx="0" cy="499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7" name="Line 9"/>
            <p:cNvSpPr>
              <a:spLocks noChangeShapeType="1"/>
            </p:cNvSpPr>
            <p:nvPr/>
          </p:nvSpPr>
          <p:spPr bwMode="auto">
            <a:xfrm flipH="1">
              <a:off x="3152" y="1344"/>
              <a:ext cx="0" cy="2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8" name="Line 10"/>
            <p:cNvSpPr>
              <a:spLocks noChangeShapeType="1"/>
            </p:cNvSpPr>
            <p:nvPr/>
          </p:nvSpPr>
          <p:spPr bwMode="auto">
            <a:xfrm flipH="1">
              <a:off x="3424" y="1117"/>
              <a:ext cx="0" cy="499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399" name="Line 11"/>
            <p:cNvSpPr>
              <a:spLocks noChangeShapeType="1"/>
            </p:cNvSpPr>
            <p:nvPr/>
          </p:nvSpPr>
          <p:spPr bwMode="auto">
            <a:xfrm flipH="1">
              <a:off x="3696" y="1480"/>
              <a:ext cx="0" cy="136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00" name="Line 12"/>
            <p:cNvSpPr>
              <a:spLocks noChangeShapeType="1"/>
            </p:cNvSpPr>
            <p:nvPr/>
          </p:nvSpPr>
          <p:spPr bwMode="auto">
            <a:xfrm flipH="1">
              <a:off x="3560" y="1344"/>
              <a:ext cx="0" cy="2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oval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6391" name="AutoShape 13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16392" name="Rectangle 14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16393" name="AutoShape 15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16394" name="Rectangle 16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761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761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761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761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76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01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765175"/>
            <a:ext cx="7272338" cy="532288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周期序列</a:t>
            </a:r>
            <a:r>
              <a:rPr lang="en-US" altLang="zh-CN" smtClean="0"/>
              <a:t>DFS:</a:t>
            </a:r>
          </a:p>
          <a:p>
            <a:pPr eaLnBrk="1" hangingPunct="1">
              <a:buFontTx/>
              <a:buNone/>
            </a:pPr>
            <a:endParaRPr lang="en-US" altLang="zh-CN" smtClean="0"/>
          </a:p>
          <a:p>
            <a:pPr eaLnBrk="1" hangingPunct="1">
              <a:buFontTx/>
              <a:buNone/>
            </a:pPr>
            <a:endParaRPr lang="en-US" altLang="zh-CN" smtClean="0"/>
          </a:p>
          <a:p>
            <a:pPr eaLnBrk="1" hangingPunct="1">
              <a:buFontTx/>
              <a:buNone/>
            </a:pPr>
            <a:endParaRPr lang="en-US" altLang="zh-CN" smtClean="0"/>
          </a:p>
          <a:p>
            <a:pPr eaLnBrk="1" hangingPunct="1">
              <a:buFontTx/>
              <a:buNone/>
            </a:pPr>
            <a:r>
              <a:rPr lang="zh-CN" altLang="en-US" smtClean="0"/>
              <a:t>有限长序列的</a:t>
            </a:r>
            <a:r>
              <a:rPr lang="en-US" altLang="zh-CN" smtClean="0"/>
              <a:t>DFT:</a:t>
            </a:r>
          </a:p>
          <a:p>
            <a:pPr eaLnBrk="1" hangingPunct="1">
              <a:buFontTx/>
              <a:buNone/>
            </a:pPr>
            <a:endParaRPr lang="en-US" altLang="zh-CN" smtClean="0"/>
          </a:p>
          <a:p>
            <a:pPr eaLnBrk="1" hangingPunct="1">
              <a:buFontTx/>
              <a:buNone/>
            </a:pPr>
            <a:endParaRPr lang="en-US" altLang="zh-CN" smtClean="0"/>
          </a:p>
          <a:p>
            <a:pPr eaLnBrk="1" hangingPunct="1">
              <a:buFontTx/>
              <a:buNone/>
            </a:pPr>
            <a:endParaRPr lang="en-US" altLang="zh-CN" smtClean="0"/>
          </a:p>
          <a:p>
            <a:pPr eaLnBrk="1" hangingPunct="1">
              <a:buFontTx/>
              <a:buNone/>
            </a:pPr>
            <a:r>
              <a:rPr lang="zh-CN" altLang="en-US" smtClean="0"/>
              <a:t>对比二者发现：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       是     的主值区序列，条件</a:t>
            </a:r>
            <a:r>
              <a:rPr lang="en-US" altLang="zh-CN" smtClean="0"/>
              <a:t>N</a:t>
            </a:r>
            <a:r>
              <a:rPr lang="en-US" altLang="zh-CN" smtClean="0">
                <a:cs typeface="Arial" panose="020B0604020202020204" pitchFamily="34" charset="0"/>
              </a:rPr>
              <a:t>≥M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</p:txBody>
      </p:sp>
      <p:graphicFrame>
        <p:nvGraphicFramePr>
          <p:cNvPr id="73011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54712079"/>
              </p:ext>
            </p:extLst>
          </p:nvPr>
        </p:nvGraphicFramePr>
        <p:xfrm>
          <a:off x="2051050" y="1058863"/>
          <a:ext cx="5761038" cy="154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1" name="Equation" r:id="rId3" imgW="2260600" imgH="863600" progId="Equation.DSMT4">
                  <p:embed/>
                </p:oleObj>
              </mc:Choice>
              <mc:Fallback>
                <p:oleObj name="Equation" r:id="rId3" imgW="2260600" imgH="863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058863"/>
                        <a:ext cx="5761038" cy="1541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18" name="Object 6"/>
          <p:cNvGraphicFramePr>
            <a:graphicFrameLocks noChangeAspect="1"/>
          </p:cNvGraphicFramePr>
          <p:nvPr/>
        </p:nvGraphicFramePr>
        <p:xfrm>
          <a:off x="2411413" y="2781300"/>
          <a:ext cx="4679950" cy="1627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2" name="Equation" r:id="rId5" imgW="2336800" imgH="863600" progId="Equation.DSMT4">
                  <p:embed/>
                </p:oleObj>
              </mc:Choice>
              <mc:Fallback>
                <p:oleObj name="Equation" r:id="rId5" imgW="2336800" imgH="863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2781300"/>
                        <a:ext cx="4679950" cy="1627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27" name="Object 15"/>
          <p:cNvGraphicFramePr>
            <a:graphicFrameLocks noChangeAspect="1"/>
          </p:cNvGraphicFramePr>
          <p:nvPr/>
        </p:nvGraphicFramePr>
        <p:xfrm>
          <a:off x="1619250" y="4799013"/>
          <a:ext cx="698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3" name="Equation" r:id="rId7" imgW="368140" imgH="203112" progId="Equation.DSMT4">
                  <p:embed/>
                </p:oleObj>
              </mc:Choice>
              <mc:Fallback>
                <p:oleObj name="Equation" r:id="rId7" imgW="368140" imgH="203112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799013"/>
                        <a:ext cx="698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28" name="Object 16"/>
          <p:cNvGraphicFramePr>
            <a:graphicFrameLocks noChangeAspect="1"/>
          </p:cNvGraphicFramePr>
          <p:nvPr/>
        </p:nvGraphicFramePr>
        <p:xfrm>
          <a:off x="2555875" y="4797425"/>
          <a:ext cx="6985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4" name="Equation" r:id="rId9" imgW="368300" imgH="228600" progId="Equation.DSMT4">
                  <p:embed/>
                </p:oleObj>
              </mc:Choice>
              <mc:Fallback>
                <p:oleObj name="Equation" r:id="rId9" imgW="368300" imgH="2286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4797425"/>
                        <a:ext cx="6985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0129" name="Object 17"/>
          <p:cNvGraphicFramePr>
            <a:graphicFrameLocks noChangeAspect="1"/>
          </p:cNvGraphicFramePr>
          <p:nvPr/>
        </p:nvGraphicFramePr>
        <p:xfrm>
          <a:off x="1619250" y="5157788"/>
          <a:ext cx="5113338" cy="801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75" name="Equation" r:id="rId11" imgW="2768600" imgH="431800" progId="Equation.DSMT4">
                  <p:embed/>
                </p:oleObj>
              </mc:Choice>
              <mc:Fallback>
                <p:oleObj name="Equation" r:id="rId11" imgW="2768600" imgH="4318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5157788"/>
                        <a:ext cx="5113338" cy="801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0130" name="Rectangle 18"/>
          <p:cNvSpPr>
            <a:spLocks noChangeArrowheads="1"/>
          </p:cNvSpPr>
          <p:nvPr/>
        </p:nvSpPr>
        <p:spPr bwMode="auto">
          <a:xfrm>
            <a:off x="1331913" y="4724400"/>
            <a:ext cx="5832475" cy="1296988"/>
          </a:xfrm>
          <a:prstGeom prst="rect">
            <a:avLst/>
          </a:prstGeom>
          <a:solidFill>
            <a:schemeClr val="accent1">
              <a:alpha val="2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7417" name="AutoShape 19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17418" name="Rectangle 20">
            <a:hlinkClick r:id="rId13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17419" name="AutoShape 21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17420" name="Rectangle 22">
            <a:hlinkClick r:id="rId14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301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730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3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301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30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30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30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30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30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3011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30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30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30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3011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301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301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7301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7301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301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301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301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7301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301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301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730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730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0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730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730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7301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7301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Line 2"/>
          <p:cNvSpPr>
            <a:spLocks noChangeShapeType="1"/>
          </p:cNvSpPr>
          <p:nvPr/>
        </p:nvSpPr>
        <p:spPr bwMode="auto">
          <a:xfrm>
            <a:off x="1012825" y="1809750"/>
            <a:ext cx="64293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5" name="Line 3"/>
          <p:cNvSpPr>
            <a:spLocks noChangeShapeType="1"/>
          </p:cNvSpPr>
          <p:nvPr/>
        </p:nvSpPr>
        <p:spPr bwMode="auto">
          <a:xfrm flipV="1">
            <a:off x="4008438" y="858838"/>
            <a:ext cx="0" cy="13573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6" name="Freeform 4"/>
          <p:cNvSpPr>
            <a:spLocks/>
          </p:cNvSpPr>
          <p:nvPr/>
        </p:nvSpPr>
        <p:spPr bwMode="auto">
          <a:xfrm>
            <a:off x="4154488" y="3733800"/>
            <a:ext cx="1314450" cy="860425"/>
          </a:xfrm>
          <a:custGeom>
            <a:avLst/>
            <a:gdLst>
              <a:gd name="T0" fmla="*/ 0 w 864"/>
              <a:gd name="T1" fmla="*/ 2147483646 h 608"/>
              <a:gd name="T2" fmla="*/ 2147483646 w 864"/>
              <a:gd name="T3" fmla="*/ 2147483646 h 608"/>
              <a:gd name="T4" fmla="*/ 2147483646 w 864"/>
              <a:gd name="T5" fmla="*/ 2147483646 h 608"/>
              <a:gd name="T6" fmla="*/ 2147483646 w 864"/>
              <a:gd name="T7" fmla="*/ 2147483646 h 608"/>
              <a:gd name="T8" fmla="*/ 2147483646 w 864"/>
              <a:gd name="T9" fmla="*/ 2147483646 h 608"/>
              <a:gd name="T10" fmla="*/ 2147483646 w 864"/>
              <a:gd name="T11" fmla="*/ 2147483646 h 608"/>
              <a:gd name="T12" fmla="*/ 2147483646 w 864"/>
              <a:gd name="T13" fmla="*/ 2147483646 h 608"/>
              <a:gd name="T14" fmla="*/ 2147483646 w 864"/>
              <a:gd name="T15" fmla="*/ 2147483646 h 6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864" h="608">
                <a:moveTo>
                  <a:pt x="0" y="560"/>
                </a:moveTo>
                <a:cubicBezTo>
                  <a:pt x="28" y="444"/>
                  <a:pt x="56" y="328"/>
                  <a:pt x="96" y="272"/>
                </a:cubicBezTo>
                <a:cubicBezTo>
                  <a:pt x="136" y="216"/>
                  <a:pt x="200" y="264"/>
                  <a:pt x="240" y="224"/>
                </a:cubicBezTo>
                <a:cubicBezTo>
                  <a:pt x="280" y="184"/>
                  <a:pt x="288" y="64"/>
                  <a:pt x="336" y="32"/>
                </a:cubicBezTo>
                <a:cubicBezTo>
                  <a:pt x="384" y="0"/>
                  <a:pt x="480" y="0"/>
                  <a:pt x="528" y="32"/>
                </a:cubicBezTo>
                <a:cubicBezTo>
                  <a:pt x="576" y="64"/>
                  <a:pt x="592" y="184"/>
                  <a:pt x="624" y="224"/>
                </a:cubicBezTo>
                <a:cubicBezTo>
                  <a:pt x="656" y="264"/>
                  <a:pt x="680" y="208"/>
                  <a:pt x="720" y="272"/>
                </a:cubicBezTo>
                <a:cubicBezTo>
                  <a:pt x="760" y="336"/>
                  <a:pt x="840" y="552"/>
                  <a:pt x="864" y="608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7" name="Freeform 5"/>
          <p:cNvSpPr>
            <a:spLocks/>
          </p:cNvSpPr>
          <p:nvPr/>
        </p:nvSpPr>
        <p:spPr bwMode="auto">
          <a:xfrm>
            <a:off x="5322888" y="1062038"/>
            <a:ext cx="1316037" cy="860425"/>
          </a:xfrm>
          <a:custGeom>
            <a:avLst/>
            <a:gdLst>
              <a:gd name="T0" fmla="*/ 0 w 864"/>
              <a:gd name="T1" fmla="*/ 2147483646 h 608"/>
              <a:gd name="T2" fmla="*/ 2147483646 w 864"/>
              <a:gd name="T3" fmla="*/ 2147483646 h 608"/>
              <a:gd name="T4" fmla="*/ 2147483646 w 864"/>
              <a:gd name="T5" fmla="*/ 2147483646 h 608"/>
              <a:gd name="T6" fmla="*/ 2147483646 w 864"/>
              <a:gd name="T7" fmla="*/ 2147483646 h 608"/>
              <a:gd name="T8" fmla="*/ 2147483646 w 864"/>
              <a:gd name="T9" fmla="*/ 2147483646 h 608"/>
              <a:gd name="T10" fmla="*/ 2147483646 w 864"/>
              <a:gd name="T11" fmla="*/ 2147483646 h 608"/>
              <a:gd name="T12" fmla="*/ 2147483646 w 864"/>
              <a:gd name="T13" fmla="*/ 2147483646 h 608"/>
              <a:gd name="T14" fmla="*/ 2147483646 w 864"/>
              <a:gd name="T15" fmla="*/ 2147483646 h 6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864" h="608">
                <a:moveTo>
                  <a:pt x="0" y="560"/>
                </a:moveTo>
                <a:cubicBezTo>
                  <a:pt x="28" y="444"/>
                  <a:pt x="56" y="328"/>
                  <a:pt x="96" y="272"/>
                </a:cubicBezTo>
                <a:cubicBezTo>
                  <a:pt x="136" y="216"/>
                  <a:pt x="200" y="264"/>
                  <a:pt x="240" y="224"/>
                </a:cubicBezTo>
                <a:cubicBezTo>
                  <a:pt x="280" y="184"/>
                  <a:pt x="288" y="64"/>
                  <a:pt x="336" y="32"/>
                </a:cubicBezTo>
                <a:cubicBezTo>
                  <a:pt x="384" y="0"/>
                  <a:pt x="480" y="0"/>
                  <a:pt x="528" y="32"/>
                </a:cubicBezTo>
                <a:cubicBezTo>
                  <a:pt x="576" y="64"/>
                  <a:pt x="592" y="184"/>
                  <a:pt x="624" y="224"/>
                </a:cubicBezTo>
                <a:cubicBezTo>
                  <a:pt x="656" y="264"/>
                  <a:pt x="680" y="208"/>
                  <a:pt x="720" y="272"/>
                </a:cubicBezTo>
                <a:cubicBezTo>
                  <a:pt x="760" y="336"/>
                  <a:pt x="840" y="552"/>
                  <a:pt x="864" y="60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8" name="Freeform 6"/>
          <p:cNvSpPr>
            <a:spLocks/>
          </p:cNvSpPr>
          <p:nvPr/>
        </p:nvSpPr>
        <p:spPr bwMode="auto">
          <a:xfrm>
            <a:off x="2693988" y="993775"/>
            <a:ext cx="1314450" cy="860425"/>
          </a:xfrm>
          <a:custGeom>
            <a:avLst/>
            <a:gdLst>
              <a:gd name="T0" fmla="*/ 0 w 864"/>
              <a:gd name="T1" fmla="*/ 2147483646 h 608"/>
              <a:gd name="T2" fmla="*/ 2147483646 w 864"/>
              <a:gd name="T3" fmla="*/ 2147483646 h 608"/>
              <a:gd name="T4" fmla="*/ 2147483646 w 864"/>
              <a:gd name="T5" fmla="*/ 2147483646 h 608"/>
              <a:gd name="T6" fmla="*/ 2147483646 w 864"/>
              <a:gd name="T7" fmla="*/ 2147483646 h 608"/>
              <a:gd name="T8" fmla="*/ 2147483646 w 864"/>
              <a:gd name="T9" fmla="*/ 2147483646 h 608"/>
              <a:gd name="T10" fmla="*/ 2147483646 w 864"/>
              <a:gd name="T11" fmla="*/ 2147483646 h 608"/>
              <a:gd name="T12" fmla="*/ 2147483646 w 864"/>
              <a:gd name="T13" fmla="*/ 2147483646 h 608"/>
              <a:gd name="T14" fmla="*/ 2147483646 w 864"/>
              <a:gd name="T15" fmla="*/ 2147483646 h 6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864" h="608">
                <a:moveTo>
                  <a:pt x="0" y="560"/>
                </a:moveTo>
                <a:cubicBezTo>
                  <a:pt x="28" y="444"/>
                  <a:pt x="56" y="328"/>
                  <a:pt x="96" y="272"/>
                </a:cubicBezTo>
                <a:cubicBezTo>
                  <a:pt x="136" y="216"/>
                  <a:pt x="200" y="264"/>
                  <a:pt x="240" y="224"/>
                </a:cubicBezTo>
                <a:cubicBezTo>
                  <a:pt x="280" y="184"/>
                  <a:pt x="288" y="64"/>
                  <a:pt x="336" y="32"/>
                </a:cubicBezTo>
                <a:cubicBezTo>
                  <a:pt x="384" y="0"/>
                  <a:pt x="480" y="0"/>
                  <a:pt x="528" y="32"/>
                </a:cubicBezTo>
                <a:cubicBezTo>
                  <a:pt x="576" y="64"/>
                  <a:pt x="592" y="184"/>
                  <a:pt x="624" y="224"/>
                </a:cubicBezTo>
                <a:cubicBezTo>
                  <a:pt x="656" y="264"/>
                  <a:pt x="680" y="208"/>
                  <a:pt x="720" y="272"/>
                </a:cubicBezTo>
                <a:cubicBezTo>
                  <a:pt x="760" y="336"/>
                  <a:pt x="840" y="552"/>
                  <a:pt x="864" y="608"/>
                </a:cubicBezTo>
              </a:path>
            </a:pathLst>
          </a:custGeom>
          <a:noFill/>
          <a:ln w="9525" cap="flat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39" name="Line 7"/>
          <p:cNvSpPr>
            <a:spLocks noChangeShapeType="1"/>
          </p:cNvSpPr>
          <p:nvPr/>
        </p:nvSpPr>
        <p:spPr bwMode="auto">
          <a:xfrm>
            <a:off x="6711950" y="1266825"/>
            <a:ext cx="584200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0" name="Line 8"/>
          <p:cNvSpPr>
            <a:spLocks noChangeShapeType="1"/>
          </p:cNvSpPr>
          <p:nvPr/>
        </p:nvSpPr>
        <p:spPr bwMode="auto">
          <a:xfrm>
            <a:off x="574675" y="1401763"/>
            <a:ext cx="657225" cy="0"/>
          </a:xfrm>
          <a:prstGeom prst="line">
            <a:avLst/>
          </a:prstGeom>
          <a:noFill/>
          <a:ln w="38100">
            <a:solidFill>
              <a:schemeClr val="tx1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441" name="Object 9"/>
          <p:cNvGraphicFramePr>
            <a:graphicFrameLocks noChangeAspect="1"/>
          </p:cNvGraphicFramePr>
          <p:nvPr/>
        </p:nvGraphicFramePr>
        <p:xfrm>
          <a:off x="4025900" y="531813"/>
          <a:ext cx="906463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66" name="Equation" r:id="rId3" imgW="393529" imgH="228501" progId="Equation.DSMT4">
                  <p:embed/>
                </p:oleObj>
              </mc:Choice>
              <mc:Fallback>
                <p:oleObj name="Equation" r:id="rId3" imgW="393529" imgH="228501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25900" y="531813"/>
                        <a:ext cx="906463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42" name="Line 10"/>
          <p:cNvSpPr>
            <a:spLocks noChangeShapeType="1"/>
          </p:cNvSpPr>
          <p:nvPr/>
        </p:nvSpPr>
        <p:spPr bwMode="auto">
          <a:xfrm flipV="1">
            <a:off x="4373563" y="4117975"/>
            <a:ext cx="0" cy="4079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3" name="Line 11"/>
          <p:cNvSpPr>
            <a:spLocks noChangeShapeType="1"/>
          </p:cNvSpPr>
          <p:nvPr/>
        </p:nvSpPr>
        <p:spPr bwMode="auto">
          <a:xfrm flipV="1">
            <a:off x="4519613" y="4049713"/>
            <a:ext cx="0" cy="4762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4" name="Line 12"/>
          <p:cNvSpPr>
            <a:spLocks noChangeShapeType="1"/>
          </p:cNvSpPr>
          <p:nvPr/>
        </p:nvSpPr>
        <p:spPr bwMode="auto">
          <a:xfrm flipV="1">
            <a:off x="4665663" y="3846513"/>
            <a:ext cx="0" cy="6794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5" name="Line 13"/>
          <p:cNvSpPr>
            <a:spLocks noChangeShapeType="1"/>
          </p:cNvSpPr>
          <p:nvPr/>
        </p:nvSpPr>
        <p:spPr bwMode="auto">
          <a:xfrm flipV="1">
            <a:off x="4811713" y="3778250"/>
            <a:ext cx="0" cy="7477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6" name="Line 14"/>
          <p:cNvSpPr>
            <a:spLocks noChangeShapeType="1"/>
          </p:cNvSpPr>
          <p:nvPr/>
        </p:nvSpPr>
        <p:spPr bwMode="auto">
          <a:xfrm flipV="1">
            <a:off x="4957763" y="3778250"/>
            <a:ext cx="0" cy="7477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7" name="Line 15"/>
          <p:cNvSpPr>
            <a:spLocks noChangeShapeType="1"/>
          </p:cNvSpPr>
          <p:nvPr/>
        </p:nvSpPr>
        <p:spPr bwMode="auto">
          <a:xfrm flipV="1">
            <a:off x="5103813" y="3983038"/>
            <a:ext cx="0" cy="5429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8" name="Line 16"/>
          <p:cNvSpPr>
            <a:spLocks noChangeShapeType="1"/>
          </p:cNvSpPr>
          <p:nvPr/>
        </p:nvSpPr>
        <p:spPr bwMode="auto">
          <a:xfrm flipV="1">
            <a:off x="5249863" y="4117975"/>
            <a:ext cx="0" cy="4079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49" name="Line 17"/>
          <p:cNvSpPr>
            <a:spLocks noChangeShapeType="1"/>
          </p:cNvSpPr>
          <p:nvPr/>
        </p:nvSpPr>
        <p:spPr bwMode="auto">
          <a:xfrm flipV="1">
            <a:off x="5395913" y="4322763"/>
            <a:ext cx="0" cy="203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0" name="Freeform 18"/>
          <p:cNvSpPr>
            <a:spLocks/>
          </p:cNvSpPr>
          <p:nvPr/>
        </p:nvSpPr>
        <p:spPr bwMode="auto">
          <a:xfrm>
            <a:off x="5322888" y="1084263"/>
            <a:ext cx="1316037" cy="860425"/>
          </a:xfrm>
          <a:custGeom>
            <a:avLst/>
            <a:gdLst>
              <a:gd name="T0" fmla="*/ 0 w 864"/>
              <a:gd name="T1" fmla="*/ 2147483646 h 608"/>
              <a:gd name="T2" fmla="*/ 2147483646 w 864"/>
              <a:gd name="T3" fmla="*/ 2147483646 h 608"/>
              <a:gd name="T4" fmla="*/ 2147483646 w 864"/>
              <a:gd name="T5" fmla="*/ 2147483646 h 608"/>
              <a:gd name="T6" fmla="*/ 2147483646 w 864"/>
              <a:gd name="T7" fmla="*/ 2147483646 h 608"/>
              <a:gd name="T8" fmla="*/ 2147483646 w 864"/>
              <a:gd name="T9" fmla="*/ 2147483646 h 608"/>
              <a:gd name="T10" fmla="*/ 2147483646 w 864"/>
              <a:gd name="T11" fmla="*/ 2147483646 h 608"/>
              <a:gd name="T12" fmla="*/ 2147483646 w 864"/>
              <a:gd name="T13" fmla="*/ 2147483646 h 608"/>
              <a:gd name="T14" fmla="*/ 2147483646 w 864"/>
              <a:gd name="T15" fmla="*/ 2147483646 h 6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864" h="608">
                <a:moveTo>
                  <a:pt x="0" y="560"/>
                </a:moveTo>
                <a:cubicBezTo>
                  <a:pt x="28" y="444"/>
                  <a:pt x="56" y="328"/>
                  <a:pt x="96" y="272"/>
                </a:cubicBezTo>
                <a:cubicBezTo>
                  <a:pt x="136" y="216"/>
                  <a:pt x="200" y="264"/>
                  <a:pt x="240" y="224"/>
                </a:cubicBezTo>
                <a:cubicBezTo>
                  <a:pt x="280" y="184"/>
                  <a:pt x="288" y="64"/>
                  <a:pt x="336" y="32"/>
                </a:cubicBezTo>
                <a:cubicBezTo>
                  <a:pt x="384" y="0"/>
                  <a:pt x="480" y="0"/>
                  <a:pt x="528" y="32"/>
                </a:cubicBezTo>
                <a:cubicBezTo>
                  <a:pt x="576" y="64"/>
                  <a:pt x="592" y="184"/>
                  <a:pt x="624" y="224"/>
                </a:cubicBezTo>
                <a:cubicBezTo>
                  <a:pt x="656" y="264"/>
                  <a:pt x="680" y="208"/>
                  <a:pt x="720" y="272"/>
                </a:cubicBezTo>
                <a:cubicBezTo>
                  <a:pt x="760" y="336"/>
                  <a:pt x="840" y="552"/>
                  <a:pt x="864" y="608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1" name="Line 19"/>
          <p:cNvSpPr>
            <a:spLocks noChangeShapeType="1"/>
          </p:cNvSpPr>
          <p:nvPr/>
        </p:nvSpPr>
        <p:spPr bwMode="auto">
          <a:xfrm flipV="1">
            <a:off x="5541963" y="1470025"/>
            <a:ext cx="0" cy="4079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2" name="Line 20"/>
          <p:cNvSpPr>
            <a:spLocks noChangeShapeType="1"/>
          </p:cNvSpPr>
          <p:nvPr/>
        </p:nvSpPr>
        <p:spPr bwMode="auto">
          <a:xfrm flipV="1">
            <a:off x="5688013" y="1401763"/>
            <a:ext cx="0" cy="4762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3" name="Line 21"/>
          <p:cNvSpPr>
            <a:spLocks noChangeShapeType="1"/>
          </p:cNvSpPr>
          <p:nvPr/>
        </p:nvSpPr>
        <p:spPr bwMode="auto">
          <a:xfrm flipV="1">
            <a:off x="5834063" y="1198563"/>
            <a:ext cx="0" cy="6794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4" name="Line 22"/>
          <p:cNvSpPr>
            <a:spLocks noChangeShapeType="1"/>
          </p:cNvSpPr>
          <p:nvPr/>
        </p:nvSpPr>
        <p:spPr bwMode="auto">
          <a:xfrm flipV="1">
            <a:off x="5973763" y="1114425"/>
            <a:ext cx="0" cy="7477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5" name="Line 23"/>
          <p:cNvSpPr>
            <a:spLocks noChangeShapeType="1"/>
          </p:cNvSpPr>
          <p:nvPr/>
        </p:nvSpPr>
        <p:spPr bwMode="auto">
          <a:xfrm flipV="1">
            <a:off x="6126163" y="1130300"/>
            <a:ext cx="0" cy="7477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6" name="Line 24"/>
          <p:cNvSpPr>
            <a:spLocks noChangeShapeType="1"/>
          </p:cNvSpPr>
          <p:nvPr/>
        </p:nvSpPr>
        <p:spPr bwMode="auto">
          <a:xfrm flipV="1">
            <a:off x="6272213" y="1333500"/>
            <a:ext cx="0" cy="54451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7" name="Line 25"/>
          <p:cNvSpPr>
            <a:spLocks noChangeShapeType="1"/>
          </p:cNvSpPr>
          <p:nvPr/>
        </p:nvSpPr>
        <p:spPr bwMode="auto">
          <a:xfrm flipV="1">
            <a:off x="6418263" y="1470025"/>
            <a:ext cx="0" cy="4079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8" name="Line 26"/>
          <p:cNvSpPr>
            <a:spLocks noChangeShapeType="1"/>
          </p:cNvSpPr>
          <p:nvPr/>
        </p:nvSpPr>
        <p:spPr bwMode="auto">
          <a:xfrm flipV="1">
            <a:off x="6564313" y="1673225"/>
            <a:ext cx="0" cy="204788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59" name="Freeform 27"/>
          <p:cNvSpPr>
            <a:spLocks/>
          </p:cNvSpPr>
          <p:nvPr/>
        </p:nvSpPr>
        <p:spPr bwMode="auto">
          <a:xfrm>
            <a:off x="2693988" y="993775"/>
            <a:ext cx="1314450" cy="860425"/>
          </a:xfrm>
          <a:custGeom>
            <a:avLst/>
            <a:gdLst>
              <a:gd name="T0" fmla="*/ 0 w 864"/>
              <a:gd name="T1" fmla="*/ 2147483646 h 608"/>
              <a:gd name="T2" fmla="*/ 2147483646 w 864"/>
              <a:gd name="T3" fmla="*/ 2147483646 h 608"/>
              <a:gd name="T4" fmla="*/ 2147483646 w 864"/>
              <a:gd name="T5" fmla="*/ 2147483646 h 608"/>
              <a:gd name="T6" fmla="*/ 2147483646 w 864"/>
              <a:gd name="T7" fmla="*/ 2147483646 h 608"/>
              <a:gd name="T8" fmla="*/ 2147483646 w 864"/>
              <a:gd name="T9" fmla="*/ 2147483646 h 608"/>
              <a:gd name="T10" fmla="*/ 2147483646 w 864"/>
              <a:gd name="T11" fmla="*/ 2147483646 h 608"/>
              <a:gd name="T12" fmla="*/ 2147483646 w 864"/>
              <a:gd name="T13" fmla="*/ 2147483646 h 608"/>
              <a:gd name="T14" fmla="*/ 2147483646 w 864"/>
              <a:gd name="T15" fmla="*/ 2147483646 h 6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864" h="608">
                <a:moveTo>
                  <a:pt x="0" y="560"/>
                </a:moveTo>
                <a:cubicBezTo>
                  <a:pt x="28" y="444"/>
                  <a:pt x="56" y="328"/>
                  <a:pt x="96" y="272"/>
                </a:cubicBezTo>
                <a:cubicBezTo>
                  <a:pt x="136" y="216"/>
                  <a:pt x="200" y="264"/>
                  <a:pt x="240" y="224"/>
                </a:cubicBezTo>
                <a:cubicBezTo>
                  <a:pt x="280" y="184"/>
                  <a:pt x="288" y="64"/>
                  <a:pt x="336" y="32"/>
                </a:cubicBezTo>
                <a:cubicBezTo>
                  <a:pt x="384" y="0"/>
                  <a:pt x="480" y="0"/>
                  <a:pt x="528" y="32"/>
                </a:cubicBezTo>
                <a:cubicBezTo>
                  <a:pt x="576" y="64"/>
                  <a:pt x="592" y="184"/>
                  <a:pt x="624" y="224"/>
                </a:cubicBezTo>
                <a:cubicBezTo>
                  <a:pt x="656" y="264"/>
                  <a:pt x="680" y="208"/>
                  <a:pt x="720" y="272"/>
                </a:cubicBezTo>
                <a:cubicBezTo>
                  <a:pt x="760" y="336"/>
                  <a:pt x="840" y="552"/>
                  <a:pt x="864" y="608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60" name="Line 28"/>
          <p:cNvSpPr>
            <a:spLocks noChangeShapeType="1"/>
          </p:cNvSpPr>
          <p:nvPr/>
        </p:nvSpPr>
        <p:spPr bwMode="auto">
          <a:xfrm flipV="1">
            <a:off x="2913063" y="1401763"/>
            <a:ext cx="0" cy="4079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61" name="Line 29"/>
          <p:cNvSpPr>
            <a:spLocks noChangeShapeType="1"/>
          </p:cNvSpPr>
          <p:nvPr/>
        </p:nvSpPr>
        <p:spPr bwMode="auto">
          <a:xfrm flipV="1">
            <a:off x="3059113" y="1333500"/>
            <a:ext cx="0" cy="4762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62" name="Line 30"/>
          <p:cNvSpPr>
            <a:spLocks noChangeShapeType="1"/>
          </p:cNvSpPr>
          <p:nvPr/>
        </p:nvSpPr>
        <p:spPr bwMode="auto">
          <a:xfrm flipV="1">
            <a:off x="3205163" y="1130300"/>
            <a:ext cx="0" cy="6794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63" name="Line 31"/>
          <p:cNvSpPr>
            <a:spLocks noChangeShapeType="1"/>
          </p:cNvSpPr>
          <p:nvPr/>
        </p:nvSpPr>
        <p:spPr bwMode="auto">
          <a:xfrm flipV="1">
            <a:off x="3351213" y="1062038"/>
            <a:ext cx="0" cy="7477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64" name="Line 32"/>
          <p:cNvSpPr>
            <a:spLocks noChangeShapeType="1"/>
          </p:cNvSpPr>
          <p:nvPr/>
        </p:nvSpPr>
        <p:spPr bwMode="auto">
          <a:xfrm flipV="1">
            <a:off x="3497263" y="1062038"/>
            <a:ext cx="0" cy="7477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65" name="Line 33"/>
          <p:cNvSpPr>
            <a:spLocks noChangeShapeType="1"/>
          </p:cNvSpPr>
          <p:nvPr/>
        </p:nvSpPr>
        <p:spPr bwMode="auto">
          <a:xfrm flipV="1">
            <a:off x="3643313" y="1266825"/>
            <a:ext cx="0" cy="5429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66" name="Line 34"/>
          <p:cNvSpPr>
            <a:spLocks noChangeShapeType="1"/>
          </p:cNvSpPr>
          <p:nvPr/>
        </p:nvSpPr>
        <p:spPr bwMode="auto">
          <a:xfrm flipV="1">
            <a:off x="3789363" y="1401763"/>
            <a:ext cx="0" cy="4079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67" name="Line 35"/>
          <p:cNvSpPr>
            <a:spLocks noChangeShapeType="1"/>
          </p:cNvSpPr>
          <p:nvPr/>
        </p:nvSpPr>
        <p:spPr bwMode="auto">
          <a:xfrm flipV="1">
            <a:off x="4081463" y="4322763"/>
            <a:ext cx="0" cy="2032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68" name="Line 36"/>
          <p:cNvSpPr>
            <a:spLocks noChangeShapeType="1"/>
          </p:cNvSpPr>
          <p:nvPr/>
        </p:nvSpPr>
        <p:spPr bwMode="auto">
          <a:xfrm flipV="1">
            <a:off x="1597025" y="1401763"/>
            <a:ext cx="0" cy="4079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69" name="Line 37"/>
          <p:cNvSpPr>
            <a:spLocks noChangeShapeType="1"/>
          </p:cNvSpPr>
          <p:nvPr/>
        </p:nvSpPr>
        <p:spPr bwMode="auto">
          <a:xfrm flipV="1">
            <a:off x="1743075" y="1333500"/>
            <a:ext cx="0" cy="4762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70" name="Line 38"/>
          <p:cNvSpPr>
            <a:spLocks noChangeShapeType="1"/>
          </p:cNvSpPr>
          <p:nvPr/>
        </p:nvSpPr>
        <p:spPr bwMode="auto">
          <a:xfrm flipV="1">
            <a:off x="1889125" y="1130300"/>
            <a:ext cx="0" cy="6794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71" name="Line 39"/>
          <p:cNvSpPr>
            <a:spLocks noChangeShapeType="1"/>
          </p:cNvSpPr>
          <p:nvPr/>
        </p:nvSpPr>
        <p:spPr bwMode="auto">
          <a:xfrm flipV="1">
            <a:off x="2035175" y="1062038"/>
            <a:ext cx="0" cy="7477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72" name="Line 40"/>
          <p:cNvSpPr>
            <a:spLocks noChangeShapeType="1"/>
          </p:cNvSpPr>
          <p:nvPr/>
        </p:nvSpPr>
        <p:spPr bwMode="auto">
          <a:xfrm flipV="1">
            <a:off x="2181225" y="1062038"/>
            <a:ext cx="0" cy="7477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73" name="Line 41"/>
          <p:cNvSpPr>
            <a:spLocks noChangeShapeType="1"/>
          </p:cNvSpPr>
          <p:nvPr/>
        </p:nvSpPr>
        <p:spPr bwMode="auto">
          <a:xfrm flipV="1">
            <a:off x="2327275" y="1266825"/>
            <a:ext cx="0" cy="5429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74" name="Line 42"/>
          <p:cNvSpPr>
            <a:spLocks noChangeShapeType="1"/>
          </p:cNvSpPr>
          <p:nvPr/>
        </p:nvSpPr>
        <p:spPr bwMode="auto">
          <a:xfrm flipV="1">
            <a:off x="2473325" y="1401763"/>
            <a:ext cx="0" cy="4079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75" name="Line 43"/>
          <p:cNvSpPr>
            <a:spLocks noChangeShapeType="1"/>
          </p:cNvSpPr>
          <p:nvPr/>
        </p:nvSpPr>
        <p:spPr bwMode="auto">
          <a:xfrm flipV="1">
            <a:off x="2620963" y="1604963"/>
            <a:ext cx="0" cy="2047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76" name="Freeform 44"/>
          <p:cNvSpPr>
            <a:spLocks/>
          </p:cNvSpPr>
          <p:nvPr/>
        </p:nvSpPr>
        <p:spPr bwMode="auto">
          <a:xfrm>
            <a:off x="1377950" y="993775"/>
            <a:ext cx="1316038" cy="860425"/>
          </a:xfrm>
          <a:custGeom>
            <a:avLst/>
            <a:gdLst>
              <a:gd name="T0" fmla="*/ 0 w 864"/>
              <a:gd name="T1" fmla="*/ 2147483646 h 608"/>
              <a:gd name="T2" fmla="*/ 2147483646 w 864"/>
              <a:gd name="T3" fmla="*/ 2147483646 h 608"/>
              <a:gd name="T4" fmla="*/ 2147483646 w 864"/>
              <a:gd name="T5" fmla="*/ 2147483646 h 608"/>
              <a:gd name="T6" fmla="*/ 2147483646 w 864"/>
              <a:gd name="T7" fmla="*/ 2147483646 h 608"/>
              <a:gd name="T8" fmla="*/ 2147483646 w 864"/>
              <a:gd name="T9" fmla="*/ 2147483646 h 608"/>
              <a:gd name="T10" fmla="*/ 2147483646 w 864"/>
              <a:gd name="T11" fmla="*/ 2147483646 h 608"/>
              <a:gd name="T12" fmla="*/ 2147483646 w 864"/>
              <a:gd name="T13" fmla="*/ 2147483646 h 608"/>
              <a:gd name="T14" fmla="*/ 2147483646 w 864"/>
              <a:gd name="T15" fmla="*/ 2147483646 h 6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864" h="608">
                <a:moveTo>
                  <a:pt x="0" y="560"/>
                </a:moveTo>
                <a:cubicBezTo>
                  <a:pt x="28" y="444"/>
                  <a:pt x="56" y="328"/>
                  <a:pt x="96" y="272"/>
                </a:cubicBezTo>
                <a:cubicBezTo>
                  <a:pt x="136" y="216"/>
                  <a:pt x="200" y="264"/>
                  <a:pt x="240" y="224"/>
                </a:cubicBezTo>
                <a:cubicBezTo>
                  <a:pt x="280" y="184"/>
                  <a:pt x="288" y="64"/>
                  <a:pt x="336" y="32"/>
                </a:cubicBezTo>
                <a:cubicBezTo>
                  <a:pt x="384" y="0"/>
                  <a:pt x="480" y="0"/>
                  <a:pt x="528" y="32"/>
                </a:cubicBezTo>
                <a:cubicBezTo>
                  <a:pt x="576" y="64"/>
                  <a:pt x="592" y="184"/>
                  <a:pt x="624" y="224"/>
                </a:cubicBezTo>
                <a:cubicBezTo>
                  <a:pt x="656" y="264"/>
                  <a:pt x="680" y="208"/>
                  <a:pt x="720" y="272"/>
                </a:cubicBezTo>
                <a:cubicBezTo>
                  <a:pt x="760" y="336"/>
                  <a:pt x="840" y="552"/>
                  <a:pt x="864" y="608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477" name="Object 45"/>
          <p:cNvGraphicFramePr>
            <a:graphicFrameLocks noChangeAspect="1"/>
          </p:cNvGraphicFramePr>
          <p:nvPr/>
        </p:nvGraphicFramePr>
        <p:xfrm>
          <a:off x="7442200" y="1401763"/>
          <a:ext cx="45243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67" name="公式" r:id="rId5" imgW="126835" imgH="139518" progId="Equation.3">
                  <p:embed/>
                </p:oleObj>
              </mc:Choice>
              <mc:Fallback>
                <p:oleObj name="公式" r:id="rId5" imgW="126835" imgH="139518" progId="Equation.3">
                  <p:embed/>
                  <p:pic>
                    <p:nvPicPr>
                      <p:cNvPr id="0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42200" y="1401763"/>
                        <a:ext cx="45243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78" name="Object 46"/>
          <p:cNvGraphicFramePr>
            <a:graphicFrameLocks noChangeAspect="1"/>
          </p:cNvGraphicFramePr>
          <p:nvPr/>
        </p:nvGraphicFramePr>
        <p:xfrm>
          <a:off x="5176838" y="1809750"/>
          <a:ext cx="4508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68" name="公式" r:id="rId7" imgW="177492" imgH="177492" progId="Equation.3">
                  <p:embed/>
                </p:oleObj>
              </mc:Choice>
              <mc:Fallback>
                <p:oleObj name="公式" r:id="rId7" imgW="177492" imgH="177492" progId="Equation.3">
                  <p:embed/>
                  <p:pic>
                    <p:nvPicPr>
                      <p:cNvPr id="0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76838" y="1809750"/>
                        <a:ext cx="4508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79" name="Object 47"/>
          <p:cNvGraphicFramePr>
            <a:graphicFrameLocks noChangeAspect="1"/>
          </p:cNvGraphicFramePr>
          <p:nvPr/>
        </p:nvGraphicFramePr>
        <p:xfrm>
          <a:off x="3716338" y="1878013"/>
          <a:ext cx="207962" cy="271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69" name="公式" r:id="rId9" imgW="126725" imgH="177415" progId="Equation.3">
                  <p:embed/>
                </p:oleObj>
              </mc:Choice>
              <mc:Fallback>
                <p:oleObj name="公式" r:id="rId9" imgW="126725" imgH="177415" progId="Equation.3">
                  <p:embed/>
                  <p:pic>
                    <p:nvPicPr>
                      <p:cNvPr id="0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338" y="1878013"/>
                        <a:ext cx="207962" cy="271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80" name="Object 48"/>
          <p:cNvGraphicFramePr>
            <a:graphicFrameLocks noChangeAspect="1"/>
          </p:cNvGraphicFramePr>
          <p:nvPr/>
        </p:nvGraphicFramePr>
        <p:xfrm>
          <a:off x="6345238" y="1878013"/>
          <a:ext cx="5651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0" name="公式" r:id="rId11" imgW="253670" imgH="177569" progId="Equation.3">
                  <p:embed/>
                </p:oleObj>
              </mc:Choice>
              <mc:Fallback>
                <p:oleObj name="公式" r:id="rId11" imgW="253670" imgH="177569" progId="Equation.3">
                  <p:embed/>
                  <p:pic>
                    <p:nvPicPr>
                      <p:cNvPr id="0" name="Object 4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45238" y="1878013"/>
                        <a:ext cx="56515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81" name="Object 49"/>
          <p:cNvGraphicFramePr>
            <a:graphicFrameLocks noChangeAspect="1"/>
          </p:cNvGraphicFramePr>
          <p:nvPr/>
        </p:nvGraphicFramePr>
        <p:xfrm>
          <a:off x="2327275" y="1809750"/>
          <a:ext cx="657225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1" name="公式" r:id="rId13" imgW="279158" imgH="177646" progId="Equation.3">
                  <p:embed/>
                </p:oleObj>
              </mc:Choice>
              <mc:Fallback>
                <p:oleObj name="公式" r:id="rId13" imgW="279158" imgH="177646" progId="Equation.3">
                  <p:embed/>
                  <p:pic>
                    <p:nvPicPr>
                      <p:cNvPr id="0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27275" y="1809750"/>
                        <a:ext cx="657225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82" name="Line 50"/>
          <p:cNvSpPr>
            <a:spLocks noChangeShapeType="1"/>
          </p:cNvSpPr>
          <p:nvPr/>
        </p:nvSpPr>
        <p:spPr bwMode="auto">
          <a:xfrm>
            <a:off x="501650" y="3303588"/>
            <a:ext cx="774382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3" name="Line 51"/>
          <p:cNvSpPr>
            <a:spLocks noChangeShapeType="1"/>
          </p:cNvSpPr>
          <p:nvPr/>
        </p:nvSpPr>
        <p:spPr bwMode="auto">
          <a:xfrm flipH="1" flipV="1">
            <a:off x="4081463" y="2216150"/>
            <a:ext cx="0" cy="14954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4" name="Freeform 52"/>
          <p:cNvSpPr>
            <a:spLocks/>
          </p:cNvSpPr>
          <p:nvPr/>
        </p:nvSpPr>
        <p:spPr bwMode="auto">
          <a:xfrm>
            <a:off x="3132138" y="2420938"/>
            <a:ext cx="2044700" cy="893762"/>
          </a:xfrm>
          <a:custGeom>
            <a:avLst/>
            <a:gdLst>
              <a:gd name="T0" fmla="*/ 0 w 768"/>
              <a:gd name="T1" fmla="*/ 2147483646 h 968"/>
              <a:gd name="T2" fmla="*/ 2147483646 w 768"/>
              <a:gd name="T3" fmla="*/ 2147483646 h 968"/>
              <a:gd name="T4" fmla="*/ 2147483646 w 768"/>
              <a:gd name="T5" fmla="*/ 2147483646 h 968"/>
              <a:gd name="T6" fmla="*/ 2147483646 w 768"/>
              <a:gd name="T7" fmla="*/ 2147483646 h 968"/>
              <a:gd name="T8" fmla="*/ 2147483646 w 768"/>
              <a:gd name="T9" fmla="*/ 2147483646 h 9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68" h="968">
                <a:moveTo>
                  <a:pt x="0" y="968"/>
                </a:moveTo>
                <a:cubicBezTo>
                  <a:pt x="68" y="732"/>
                  <a:pt x="136" y="496"/>
                  <a:pt x="192" y="344"/>
                </a:cubicBezTo>
                <a:cubicBezTo>
                  <a:pt x="248" y="192"/>
                  <a:pt x="288" y="88"/>
                  <a:pt x="336" y="56"/>
                </a:cubicBezTo>
                <a:cubicBezTo>
                  <a:pt x="384" y="24"/>
                  <a:pt x="408" y="0"/>
                  <a:pt x="480" y="152"/>
                </a:cubicBezTo>
                <a:cubicBezTo>
                  <a:pt x="552" y="304"/>
                  <a:pt x="660" y="636"/>
                  <a:pt x="768" y="968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5" name="Line 53"/>
          <p:cNvSpPr>
            <a:spLocks noChangeShapeType="1"/>
          </p:cNvSpPr>
          <p:nvPr/>
        </p:nvSpPr>
        <p:spPr bwMode="auto">
          <a:xfrm flipV="1">
            <a:off x="4081463" y="2555875"/>
            <a:ext cx="0" cy="74771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6" name="Line 54"/>
          <p:cNvSpPr>
            <a:spLocks noChangeShapeType="1"/>
          </p:cNvSpPr>
          <p:nvPr/>
        </p:nvSpPr>
        <p:spPr bwMode="auto">
          <a:xfrm flipV="1">
            <a:off x="4300538" y="2555875"/>
            <a:ext cx="0" cy="74771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7" name="Line 55"/>
          <p:cNvSpPr>
            <a:spLocks noChangeShapeType="1"/>
          </p:cNvSpPr>
          <p:nvPr/>
        </p:nvSpPr>
        <p:spPr bwMode="auto">
          <a:xfrm flipV="1">
            <a:off x="4519613" y="2692400"/>
            <a:ext cx="0" cy="6111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8" name="Line 56"/>
          <p:cNvSpPr>
            <a:spLocks noChangeShapeType="1"/>
          </p:cNvSpPr>
          <p:nvPr/>
        </p:nvSpPr>
        <p:spPr bwMode="auto">
          <a:xfrm flipV="1">
            <a:off x="4738688" y="2895600"/>
            <a:ext cx="0" cy="4079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9" name="Line 57"/>
          <p:cNvSpPr>
            <a:spLocks noChangeShapeType="1"/>
          </p:cNvSpPr>
          <p:nvPr/>
        </p:nvSpPr>
        <p:spPr bwMode="auto">
          <a:xfrm flipV="1">
            <a:off x="4957763" y="3100388"/>
            <a:ext cx="0" cy="203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0" name="Line 58"/>
          <p:cNvSpPr>
            <a:spLocks noChangeShapeType="1"/>
          </p:cNvSpPr>
          <p:nvPr/>
        </p:nvSpPr>
        <p:spPr bwMode="auto">
          <a:xfrm flipV="1">
            <a:off x="3935413" y="2555875"/>
            <a:ext cx="0" cy="74771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1" name="Line 59"/>
          <p:cNvSpPr>
            <a:spLocks noChangeShapeType="1"/>
          </p:cNvSpPr>
          <p:nvPr/>
        </p:nvSpPr>
        <p:spPr bwMode="auto">
          <a:xfrm flipV="1">
            <a:off x="3716338" y="2692400"/>
            <a:ext cx="0" cy="6111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2" name="Line 60"/>
          <p:cNvSpPr>
            <a:spLocks noChangeShapeType="1"/>
          </p:cNvSpPr>
          <p:nvPr/>
        </p:nvSpPr>
        <p:spPr bwMode="auto">
          <a:xfrm flipV="1">
            <a:off x="3497263" y="2963863"/>
            <a:ext cx="0" cy="3397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3" name="Line 61"/>
          <p:cNvSpPr>
            <a:spLocks noChangeShapeType="1"/>
          </p:cNvSpPr>
          <p:nvPr/>
        </p:nvSpPr>
        <p:spPr bwMode="auto">
          <a:xfrm flipV="1">
            <a:off x="3278188" y="3100388"/>
            <a:ext cx="0" cy="203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4" name="Line 62"/>
          <p:cNvSpPr>
            <a:spLocks noChangeShapeType="1"/>
          </p:cNvSpPr>
          <p:nvPr/>
        </p:nvSpPr>
        <p:spPr bwMode="auto">
          <a:xfrm>
            <a:off x="2767013" y="1538288"/>
            <a:ext cx="0" cy="27146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5" name="Line 63"/>
          <p:cNvSpPr>
            <a:spLocks noChangeShapeType="1"/>
          </p:cNvSpPr>
          <p:nvPr/>
        </p:nvSpPr>
        <p:spPr bwMode="auto">
          <a:xfrm>
            <a:off x="1450975" y="1470025"/>
            <a:ext cx="0" cy="3397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6" name="Line 64"/>
          <p:cNvSpPr>
            <a:spLocks noChangeShapeType="1"/>
          </p:cNvSpPr>
          <p:nvPr/>
        </p:nvSpPr>
        <p:spPr bwMode="auto">
          <a:xfrm>
            <a:off x="4227513" y="4254500"/>
            <a:ext cx="0" cy="271463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7" name="Line 65"/>
          <p:cNvSpPr>
            <a:spLocks noChangeShapeType="1"/>
          </p:cNvSpPr>
          <p:nvPr/>
        </p:nvSpPr>
        <p:spPr bwMode="auto">
          <a:xfrm>
            <a:off x="5395913" y="1604963"/>
            <a:ext cx="0" cy="2047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8" name="Freeform 66"/>
          <p:cNvSpPr>
            <a:spLocks/>
          </p:cNvSpPr>
          <p:nvPr/>
        </p:nvSpPr>
        <p:spPr bwMode="auto">
          <a:xfrm>
            <a:off x="5176838" y="2489200"/>
            <a:ext cx="2046287" cy="825500"/>
          </a:xfrm>
          <a:custGeom>
            <a:avLst/>
            <a:gdLst>
              <a:gd name="T0" fmla="*/ 0 w 768"/>
              <a:gd name="T1" fmla="*/ 2147483646 h 968"/>
              <a:gd name="T2" fmla="*/ 2147483646 w 768"/>
              <a:gd name="T3" fmla="*/ 2147483646 h 968"/>
              <a:gd name="T4" fmla="*/ 2147483646 w 768"/>
              <a:gd name="T5" fmla="*/ 2147483646 h 968"/>
              <a:gd name="T6" fmla="*/ 2147483646 w 768"/>
              <a:gd name="T7" fmla="*/ 2147483646 h 968"/>
              <a:gd name="T8" fmla="*/ 2147483646 w 768"/>
              <a:gd name="T9" fmla="*/ 2147483646 h 9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68" h="968">
                <a:moveTo>
                  <a:pt x="0" y="968"/>
                </a:moveTo>
                <a:cubicBezTo>
                  <a:pt x="68" y="732"/>
                  <a:pt x="136" y="496"/>
                  <a:pt x="192" y="344"/>
                </a:cubicBezTo>
                <a:cubicBezTo>
                  <a:pt x="248" y="192"/>
                  <a:pt x="288" y="88"/>
                  <a:pt x="336" y="56"/>
                </a:cubicBezTo>
                <a:cubicBezTo>
                  <a:pt x="384" y="24"/>
                  <a:pt x="408" y="0"/>
                  <a:pt x="480" y="152"/>
                </a:cubicBezTo>
                <a:cubicBezTo>
                  <a:pt x="552" y="304"/>
                  <a:pt x="660" y="636"/>
                  <a:pt x="768" y="968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99" name="Line 67"/>
          <p:cNvSpPr>
            <a:spLocks noChangeShapeType="1"/>
          </p:cNvSpPr>
          <p:nvPr/>
        </p:nvSpPr>
        <p:spPr bwMode="auto">
          <a:xfrm flipV="1">
            <a:off x="6199188" y="2489200"/>
            <a:ext cx="0" cy="8143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00" name="Line 68"/>
          <p:cNvSpPr>
            <a:spLocks noChangeShapeType="1"/>
          </p:cNvSpPr>
          <p:nvPr/>
        </p:nvSpPr>
        <p:spPr bwMode="auto">
          <a:xfrm flipV="1">
            <a:off x="6418263" y="2624138"/>
            <a:ext cx="0" cy="6794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01" name="Line 69"/>
          <p:cNvSpPr>
            <a:spLocks noChangeShapeType="1"/>
          </p:cNvSpPr>
          <p:nvPr/>
        </p:nvSpPr>
        <p:spPr bwMode="auto">
          <a:xfrm flipH="1" flipV="1">
            <a:off x="6638925" y="2827338"/>
            <a:ext cx="0" cy="4762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02" name="Line 70"/>
          <p:cNvSpPr>
            <a:spLocks noChangeShapeType="1"/>
          </p:cNvSpPr>
          <p:nvPr/>
        </p:nvSpPr>
        <p:spPr bwMode="auto">
          <a:xfrm flipV="1">
            <a:off x="6858000" y="2895600"/>
            <a:ext cx="0" cy="4079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03" name="Line 71"/>
          <p:cNvSpPr>
            <a:spLocks noChangeShapeType="1"/>
          </p:cNvSpPr>
          <p:nvPr/>
        </p:nvSpPr>
        <p:spPr bwMode="auto">
          <a:xfrm flipV="1">
            <a:off x="7004050" y="3100388"/>
            <a:ext cx="0" cy="203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04" name="Line 72"/>
          <p:cNvSpPr>
            <a:spLocks noChangeShapeType="1"/>
          </p:cNvSpPr>
          <p:nvPr/>
        </p:nvSpPr>
        <p:spPr bwMode="auto">
          <a:xfrm flipV="1">
            <a:off x="5980113" y="2555875"/>
            <a:ext cx="0" cy="74771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05" name="Line 73"/>
          <p:cNvSpPr>
            <a:spLocks noChangeShapeType="1"/>
          </p:cNvSpPr>
          <p:nvPr/>
        </p:nvSpPr>
        <p:spPr bwMode="auto">
          <a:xfrm flipV="1">
            <a:off x="5761038" y="2760663"/>
            <a:ext cx="0" cy="5429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06" name="Line 74"/>
          <p:cNvSpPr>
            <a:spLocks noChangeShapeType="1"/>
          </p:cNvSpPr>
          <p:nvPr/>
        </p:nvSpPr>
        <p:spPr bwMode="auto">
          <a:xfrm flipV="1">
            <a:off x="5541963" y="2963863"/>
            <a:ext cx="0" cy="3397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07" name="Line 75"/>
          <p:cNvSpPr>
            <a:spLocks noChangeShapeType="1"/>
          </p:cNvSpPr>
          <p:nvPr/>
        </p:nvSpPr>
        <p:spPr bwMode="auto">
          <a:xfrm flipV="1">
            <a:off x="5322888" y="3167063"/>
            <a:ext cx="0" cy="1365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08" name="Freeform 76"/>
          <p:cNvSpPr>
            <a:spLocks/>
          </p:cNvSpPr>
          <p:nvPr/>
        </p:nvSpPr>
        <p:spPr bwMode="auto">
          <a:xfrm>
            <a:off x="1085850" y="2420938"/>
            <a:ext cx="2046288" cy="893762"/>
          </a:xfrm>
          <a:custGeom>
            <a:avLst/>
            <a:gdLst>
              <a:gd name="T0" fmla="*/ 0 w 768"/>
              <a:gd name="T1" fmla="*/ 2147483646 h 968"/>
              <a:gd name="T2" fmla="*/ 2147483646 w 768"/>
              <a:gd name="T3" fmla="*/ 2147483646 h 968"/>
              <a:gd name="T4" fmla="*/ 2147483646 w 768"/>
              <a:gd name="T5" fmla="*/ 2147483646 h 968"/>
              <a:gd name="T6" fmla="*/ 2147483646 w 768"/>
              <a:gd name="T7" fmla="*/ 2147483646 h 968"/>
              <a:gd name="T8" fmla="*/ 2147483646 w 768"/>
              <a:gd name="T9" fmla="*/ 2147483646 h 96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768" h="968">
                <a:moveTo>
                  <a:pt x="0" y="968"/>
                </a:moveTo>
                <a:cubicBezTo>
                  <a:pt x="68" y="732"/>
                  <a:pt x="136" y="496"/>
                  <a:pt x="192" y="344"/>
                </a:cubicBezTo>
                <a:cubicBezTo>
                  <a:pt x="248" y="192"/>
                  <a:pt x="288" y="88"/>
                  <a:pt x="336" y="56"/>
                </a:cubicBezTo>
                <a:cubicBezTo>
                  <a:pt x="384" y="24"/>
                  <a:pt x="408" y="0"/>
                  <a:pt x="480" y="152"/>
                </a:cubicBezTo>
                <a:cubicBezTo>
                  <a:pt x="552" y="304"/>
                  <a:pt x="660" y="636"/>
                  <a:pt x="768" y="968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09" name="Line 77"/>
          <p:cNvSpPr>
            <a:spLocks noChangeShapeType="1"/>
          </p:cNvSpPr>
          <p:nvPr/>
        </p:nvSpPr>
        <p:spPr bwMode="auto">
          <a:xfrm flipV="1">
            <a:off x="2108200" y="2489200"/>
            <a:ext cx="0" cy="8143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10" name="Line 78"/>
          <p:cNvSpPr>
            <a:spLocks noChangeShapeType="1"/>
          </p:cNvSpPr>
          <p:nvPr/>
        </p:nvSpPr>
        <p:spPr bwMode="auto">
          <a:xfrm flipV="1">
            <a:off x="2327275" y="2555875"/>
            <a:ext cx="0" cy="747713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11" name="Line 79"/>
          <p:cNvSpPr>
            <a:spLocks noChangeShapeType="1"/>
          </p:cNvSpPr>
          <p:nvPr/>
        </p:nvSpPr>
        <p:spPr bwMode="auto">
          <a:xfrm flipV="1">
            <a:off x="2547938" y="2760663"/>
            <a:ext cx="0" cy="5429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12" name="Line 80"/>
          <p:cNvSpPr>
            <a:spLocks noChangeShapeType="1"/>
          </p:cNvSpPr>
          <p:nvPr/>
        </p:nvSpPr>
        <p:spPr bwMode="auto">
          <a:xfrm flipV="1">
            <a:off x="2767013" y="2963863"/>
            <a:ext cx="0" cy="3397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13" name="Line 81"/>
          <p:cNvSpPr>
            <a:spLocks noChangeShapeType="1"/>
          </p:cNvSpPr>
          <p:nvPr/>
        </p:nvSpPr>
        <p:spPr bwMode="auto">
          <a:xfrm flipV="1">
            <a:off x="2913063" y="3100388"/>
            <a:ext cx="0" cy="203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14" name="Line 82"/>
          <p:cNvSpPr>
            <a:spLocks noChangeShapeType="1"/>
          </p:cNvSpPr>
          <p:nvPr/>
        </p:nvSpPr>
        <p:spPr bwMode="auto">
          <a:xfrm flipV="1">
            <a:off x="1889125" y="2489200"/>
            <a:ext cx="0" cy="8143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15" name="Line 83"/>
          <p:cNvSpPr>
            <a:spLocks noChangeShapeType="1"/>
          </p:cNvSpPr>
          <p:nvPr/>
        </p:nvSpPr>
        <p:spPr bwMode="auto">
          <a:xfrm flipV="1">
            <a:off x="1670050" y="2624138"/>
            <a:ext cx="0" cy="6794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16" name="Line 84"/>
          <p:cNvSpPr>
            <a:spLocks noChangeShapeType="1"/>
          </p:cNvSpPr>
          <p:nvPr/>
        </p:nvSpPr>
        <p:spPr bwMode="auto">
          <a:xfrm flipV="1">
            <a:off x="1450975" y="2895600"/>
            <a:ext cx="0" cy="407988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17" name="Line 85"/>
          <p:cNvSpPr>
            <a:spLocks noChangeShapeType="1"/>
          </p:cNvSpPr>
          <p:nvPr/>
        </p:nvSpPr>
        <p:spPr bwMode="auto">
          <a:xfrm flipV="1">
            <a:off x="1304925" y="3100388"/>
            <a:ext cx="0" cy="2032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518" name="Object 86"/>
          <p:cNvGraphicFramePr>
            <a:graphicFrameLocks noChangeAspect="1"/>
          </p:cNvGraphicFramePr>
          <p:nvPr/>
        </p:nvGraphicFramePr>
        <p:xfrm>
          <a:off x="4224338" y="2111375"/>
          <a:ext cx="809625" cy="463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2" name="Equation" r:id="rId15" imgW="368300" imgH="228600" progId="Equation.DSMT4">
                  <p:embed/>
                </p:oleObj>
              </mc:Choice>
              <mc:Fallback>
                <p:oleObj name="Equation" r:id="rId15" imgW="368300" imgH="228600" progId="Equation.DSMT4">
                  <p:embed/>
                  <p:pic>
                    <p:nvPicPr>
                      <p:cNvPr id="0" name="Object 8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24338" y="2111375"/>
                        <a:ext cx="809625" cy="463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19" name="Object 87"/>
          <p:cNvGraphicFramePr>
            <a:graphicFrameLocks noChangeAspect="1"/>
          </p:cNvGraphicFramePr>
          <p:nvPr/>
        </p:nvGraphicFramePr>
        <p:xfrm>
          <a:off x="3716338" y="3303588"/>
          <a:ext cx="3714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3" name="公式" r:id="rId17" imgW="126725" imgH="177415" progId="Equation.3">
                  <p:embed/>
                </p:oleObj>
              </mc:Choice>
              <mc:Fallback>
                <p:oleObj name="公式" r:id="rId17" imgW="126725" imgH="177415" progId="Equation.3">
                  <p:embed/>
                  <p:pic>
                    <p:nvPicPr>
                      <p:cNvPr id="0" name="Object 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338" y="3303588"/>
                        <a:ext cx="371475" cy="485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20" name="Object 88"/>
          <p:cNvGraphicFramePr>
            <a:graphicFrameLocks noChangeAspect="1"/>
          </p:cNvGraphicFramePr>
          <p:nvPr/>
        </p:nvGraphicFramePr>
        <p:xfrm>
          <a:off x="4989513" y="3241675"/>
          <a:ext cx="387350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4" name="Equation" r:id="rId18" imgW="152334" imgH="228501" progId="Equation.DSMT4">
                  <p:embed/>
                </p:oleObj>
              </mc:Choice>
              <mc:Fallback>
                <p:oleObj name="Equation" r:id="rId18" imgW="152334" imgH="228501" progId="Equation.DSMT4">
                  <p:embed/>
                  <p:pic>
                    <p:nvPicPr>
                      <p:cNvPr id="0" name="Object 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9513" y="3241675"/>
                        <a:ext cx="387350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21" name="Object 89"/>
          <p:cNvGraphicFramePr>
            <a:graphicFrameLocks noChangeAspect="1"/>
          </p:cNvGraphicFramePr>
          <p:nvPr/>
        </p:nvGraphicFramePr>
        <p:xfrm>
          <a:off x="6130925" y="3371850"/>
          <a:ext cx="357188" cy="296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5" name="公式" r:id="rId20" imgW="177492" imgH="177492" progId="Equation.3">
                  <p:embed/>
                </p:oleObj>
              </mc:Choice>
              <mc:Fallback>
                <p:oleObj name="公式" r:id="rId20" imgW="177492" imgH="177492" progId="Equation.3">
                  <p:embed/>
                  <p:pic>
                    <p:nvPicPr>
                      <p:cNvPr id="0" name="Object 8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30925" y="3371850"/>
                        <a:ext cx="357188" cy="296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22" name="Object 90"/>
          <p:cNvGraphicFramePr>
            <a:graphicFrameLocks noChangeAspect="1"/>
          </p:cNvGraphicFramePr>
          <p:nvPr/>
        </p:nvGraphicFramePr>
        <p:xfrm>
          <a:off x="8099425" y="3235325"/>
          <a:ext cx="42386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6" name="公式" r:id="rId22" imgW="126725" imgH="177415" progId="Equation.3">
                  <p:embed/>
                </p:oleObj>
              </mc:Choice>
              <mc:Fallback>
                <p:oleObj name="公式" r:id="rId22" imgW="126725" imgH="177415" progId="Equation.3">
                  <p:embed/>
                  <p:pic>
                    <p:nvPicPr>
                      <p:cNvPr id="0" name="Object 9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99425" y="3235325"/>
                        <a:ext cx="423863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23" name="Line 91"/>
          <p:cNvSpPr>
            <a:spLocks noChangeShapeType="1"/>
          </p:cNvSpPr>
          <p:nvPr/>
        </p:nvSpPr>
        <p:spPr bwMode="auto">
          <a:xfrm>
            <a:off x="3059113" y="4525963"/>
            <a:ext cx="34321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24" name="Line 92"/>
          <p:cNvSpPr>
            <a:spLocks noChangeShapeType="1"/>
          </p:cNvSpPr>
          <p:nvPr/>
        </p:nvSpPr>
        <p:spPr bwMode="auto">
          <a:xfrm flipV="1">
            <a:off x="4081463" y="3846513"/>
            <a:ext cx="0" cy="1222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25" name="Line 93"/>
          <p:cNvSpPr>
            <a:spLocks noChangeShapeType="1"/>
          </p:cNvSpPr>
          <p:nvPr/>
        </p:nvSpPr>
        <p:spPr bwMode="auto">
          <a:xfrm>
            <a:off x="3059113" y="6156325"/>
            <a:ext cx="387191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26" name="Line 94"/>
          <p:cNvSpPr>
            <a:spLocks noChangeShapeType="1"/>
          </p:cNvSpPr>
          <p:nvPr/>
        </p:nvSpPr>
        <p:spPr bwMode="auto">
          <a:xfrm flipV="1">
            <a:off x="4081463" y="5272088"/>
            <a:ext cx="0" cy="13589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27" name="Line 95"/>
          <p:cNvSpPr>
            <a:spLocks noChangeShapeType="1"/>
          </p:cNvSpPr>
          <p:nvPr/>
        </p:nvSpPr>
        <p:spPr bwMode="auto">
          <a:xfrm flipV="1">
            <a:off x="4227513" y="1401763"/>
            <a:ext cx="0" cy="4079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28" name="Line 96"/>
          <p:cNvSpPr>
            <a:spLocks noChangeShapeType="1"/>
          </p:cNvSpPr>
          <p:nvPr/>
        </p:nvSpPr>
        <p:spPr bwMode="auto">
          <a:xfrm flipV="1">
            <a:off x="4373563" y="1333500"/>
            <a:ext cx="0" cy="4762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29" name="Line 97"/>
          <p:cNvSpPr>
            <a:spLocks noChangeShapeType="1"/>
          </p:cNvSpPr>
          <p:nvPr/>
        </p:nvSpPr>
        <p:spPr bwMode="auto">
          <a:xfrm flipV="1">
            <a:off x="4519613" y="1130300"/>
            <a:ext cx="0" cy="67945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0" name="Line 98"/>
          <p:cNvSpPr>
            <a:spLocks noChangeShapeType="1"/>
          </p:cNvSpPr>
          <p:nvPr/>
        </p:nvSpPr>
        <p:spPr bwMode="auto">
          <a:xfrm flipV="1">
            <a:off x="4665663" y="1062038"/>
            <a:ext cx="0" cy="7477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1" name="Line 99"/>
          <p:cNvSpPr>
            <a:spLocks noChangeShapeType="1"/>
          </p:cNvSpPr>
          <p:nvPr/>
        </p:nvSpPr>
        <p:spPr bwMode="auto">
          <a:xfrm flipV="1">
            <a:off x="4811713" y="1062038"/>
            <a:ext cx="0" cy="747712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2" name="Line 100"/>
          <p:cNvSpPr>
            <a:spLocks noChangeShapeType="1"/>
          </p:cNvSpPr>
          <p:nvPr/>
        </p:nvSpPr>
        <p:spPr bwMode="auto">
          <a:xfrm flipV="1">
            <a:off x="4957763" y="1266825"/>
            <a:ext cx="0" cy="5429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3" name="Line 101"/>
          <p:cNvSpPr>
            <a:spLocks noChangeShapeType="1"/>
          </p:cNvSpPr>
          <p:nvPr/>
        </p:nvSpPr>
        <p:spPr bwMode="auto">
          <a:xfrm flipV="1">
            <a:off x="5103813" y="1401763"/>
            <a:ext cx="0" cy="4079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4" name="Line 102"/>
          <p:cNvSpPr>
            <a:spLocks noChangeShapeType="1"/>
          </p:cNvSpPr>
          <p:nvPr/>
        </p:nvSpPr>
        <p:spPr bwMode="auto">
          <a:xfrm flipV="1">
            <a:off x="5249863" y="1604963"/>
            <a:ext cx="0" cy="204787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5" name="Freeform 103"/>
          <p:cNvSpPr>
            <a:spLocks/>
          </p:cNvSpPr>
          <p:nvPr/>
        </p:nvSpPr>
        <p:spPr bwMode="auto">
          <a:xfrm>
            <a:off x="4008438" y="993775"/>
            <a:ext cx="1314450" cy="860425"/>
          </a:xfrm>
          <a:custGeom>
            <a:avLst/>
            <a:gdLst>
              <a:gd name="T0" fmla="*/ 0 w 864"/>
              <a:gd name="T1" fmla="*/ 2147483646 h 608"/>
              <a:gd name="T2" fmla="*/ 2147483646 w 864"/>
              <a:gd name="T3" fmla="*/ 2147483646 h 608"/>
              <a:gd name="T4" fmla="*/ 2147483646 w 864"/>
              <a:gd name="T5" fmla="*/ 2147483646 h 608"/>
              <a:gd name="T6" fmla="*/ 2147483646 w 864"/>
              <a:gd name="T7" fmla="*/ 2147483646 h 608"/>
              <a:gd name="T8" fmla="*/ 2147483646 w 864"/>
              <a:gd name="T9" fmla="*/ 2147483646 h 608"/>
              <a:gd name="T10" fmla="*/ 2147483646 w 864"/>
              <a:gd name="T11" fmla="*/ 2147483646 h 608"/>
              <a:gd name="T12" fmla="*/ 2147483646 w 864"/>
              <a:gd name="T13" fmla="*/ 2147483646 h 608"/>
              <a:gd name="T14" fmla="*/ 2147483646 w 864"/>
              <a:gd name="T15" fmla="*/ 2147483646 h 608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0" t="0" r="r" b="b"/>
            <a:pathLst>
              <a:path w="864" h="608">
                <a:moveTo>
                  <a:pt x="0" y="560"/>
                </a:moveTo>
                <a:cubicBezTo>
                  <a:pt x="28" y="444"/>
                  <a:pt x="56" y="328"/>
                  <a:pt x="96" y="272"/>
                </a:cubicBezTo>
                <a:cubicBezTo>
                  <a:pt x="136" y="216"/>
                  <a:pt x="200" y="264"/>
                  <a:pt x="240" y="224"/>
                </a:cubicBezTo>
                <a:cubicBezTo>
                  <a:pt x="280" y="184"/>
                  <a:pt x="288" y="64"/>
                  <a:pt x="336" y="32"/>
                </a:cubicBezTo>
                <a:cubicBezTo>
                  <a:pt x="384" y="0"/>
                  <a:pt x="480" y="0"/>
                  <a:pt x="528" y="32"/>
                </a:cubicBezTo>
                <a:cubicBezTo>
                  <a:pt x="576" y="64"/>
                  <a:pt x="592" y="184"/>
                  <a:pt x="624" y="224"/>
                </a:cubicBezTo>
                <a:cubicBezTo>
                  <a:pt x="656" y="264"/>
                  <a:pt x="680" y="208"/>
                  <a:pt x="720" y="272"/>
                </a:cubicBezTo>
                <a:cubicBezTo>
                  <a:pt x="760" y="336"/>
                  <a:pt x="840" y="552"/>
                  <a:pt x="864" y="608"/>
                </a:cubicBezTo>
              </a:path>
            </a:pathLst>
          </a:custGeom>
          <a:noFill/>
          <a:ln w="38100" cap="flat" cmpd="sng">
            <a:solidFill>
              <a:schemeClr val="accent2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36" name="Line 104"/>
          <p:cNvSpPr>
            <a:spLocks noChangeShapeType="1"/>
          </p:cNvSpPr>
          <p:nvPr/>
        </p:nvSpPr>
        <p:spPr bwMode="auto">
          <a:xfrm>
            <a:off x="4081463" y="1470025"/>
            <a:ext cx="0" cy="3397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537" name="Object 105"/>
          <p:cNvGraphicFramePr>
            <a:graphicFrameLocks noChangeAspect="1"/>
          </p:cNvGraphicFramePr>
          <p:nvPr/>
        </p:nvGraphicFramePr>
        <p:xfrm>
          <a:off x="5322888" y="4525963"/>
          <a:ext cx="45085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7" name="公式" r:id="rId24" imgW="177492" imgH="177492" progId="Equation.3">
                  <p:embed/>
                </p:oleObj>
              </mc:Choice>
              <mc:Fallback>
                <p:oleObj name="公式" r:id="rId24" imgW="177492" imgH="177492" progId="Equation.3">
                  <p:embed/>
                  <p:pic>
                    <p:nvPicPr>
                      <p:cNvPr id="0" name="Object 10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22888" y="4525963"/>
                        <a:ext cx="45085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38" name="Object 106"/>
          <p:cNvGraphicFramePr>
            <a:graphicFrameLocks noChangeAspect="1"/>
          </p:cNvGraphicFramePr>
          <p:nvPr/>
        </p:nvGraphicFramePr>
        <p:xfrm>
          <a:off x="3716338" y="4594225"/>
          <a:ext cx="207962" cy="271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8" name="公式" r:id="rId25" imgW="126725" imgH="177415" progId="Equation.3">
                  <p:embed/>
                </p:oleObj>
              </mc:Choice>
              <mc:Fallback>
                <p:oleObj name="公式" r:id="rId25" imgW="126725" imgH="177415" progId="Equation.3">
                  <p:embed/>
                  <p:pic>
                    <p:nvPicPr>
                      <p:cNvPr id="0" name="Object 10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16338" y="4594225"/>
                        <a:ext cx="207962" cy="271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39" name="Freeform 107"/>
          <p:cNvSpPr>
            <a:spLocks/>
          </p:cNvSpPr>
          <p:nvPr/>
        </p:nvSpPr>
        <p:spPr bwMode="auto">
          <a:xfrm>
            <a:off x="4081463" y="5408613"/>
            <a:ext cx="1095375" cy="747712"/>
          </a:xfrm>
          <a:custGeom>
            <a:avLst/>
            <a:gdLst>
              <a:gd name="T0" fmla="*/ 0 w 720"/>
              <a:gd name="T1" fmla="*/ 0 h 528"/>
              <a:gd name="T2" fmla="*/ 2147483646 w 720"/>
              <a:gd name="T3" fmla="*/ 2147483646 h 528"/>
              <a:gd name="T4" fmla="*/ 2147483646 w 720"/>
              <a:gd name="T5" fmla="*/ 2147483646 h 528"/>
              <a:gd name="T6" fmla="*/ 2147483646 w 720"/>
              <a:gd name="T7" fmla="*/ 2147483646 h 528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720" h="528">
                <a:moveTo>
                  <a:pt x="0" y="0"/>
                </a:moveTo>
                <a:cubicBezTo>
                  <a:pt x="92" y="16"/>
                  <a:pt x="184" y="32"/>
                  <a:pt x="288" y="96"/>
                </a:cubicBezTo>
                <a:cubicBezTo>
                  <a:pt x="392" y="160"/>
                  <a:pt x="552" y="312"/>
                  <a:pt x="624" y="384"/>
                </a:cubicBezTo>
                <a:cubicBezTo>
                  <a:pt x="696" y="456"/>
                  <a:pt x="708" y="492"/>
                  <a:pt x="720" y="528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40" name="Freeform 108"/>
          <p:cNvSpPr>
            <a:spLocks/>
          </p:cNvSpPr>
          <p:nvPr/>
        </p:nvSpPr>
        <p:spPr bwMode="auto">
          <a:xfrm>
            <a:off x="5176838" y="5397500"/>
            <a:ext cx="1022350" cy="758825"/>
          </a:xfrm>
          <a:custGeom>
            <a:avLst/>
            <a:gdLst>
              <a:gd name="T0" fmla="*/ 0 w 672"/>
              <a:gd name="T1" fmla="*/ 2147483646 h 536"/>
              <a:gd name="T2" fmla="*/ 2147483646 w 672"/>
              <a:gd name="T3" fmla="*/ 2147483646 h 536"/>
              <a:gd name="T4" fmla="*/ 2147483646 w 672"/>
              <a:gd name="T5" fmla="*/ 2147483646 h 536"/>
              <a:gd name="T6" fmla="*/ 2147483646 w 672"/>
              <a:gd name="T7" fmla="*/ 2147483646 h 53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72" h="536">
                <a:moveTo>
                  <a:pt x="0" y="536"/>
                </a:moveTo>
                <a:cubicBezTo>
                  <a:pt x="12" y="480"/>
                  <a:pt x="24" y="424"/>
                  <a:pt x="96" y="344"/>
                </a:cubicBezTo>
                <a:cubicBezTo>
                  <a:pt x="168" y="264"/>
                  <a:pt x="336" y="112"/>
                  <a:pt x="432" y="56"/>
                </a:cubicBezTo>
                <a:cubicBezTo>
                  <a:pt x="528" y="0"/>
                  <a:pt x="600" y="4"/>
                  <a:pt x="672" y="8"/>
                </a:cubicBezTo>
              </a:path>
            </a:pathLst>
          </a:custGeom>
          <a:noFill/>
          <a:ln w="38100" cap="flat" cmpd="sng">
            <a:solidFill>
              <a:srgbClr val="FF33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41" name="Line 109"/>
          <p:cNvSpPr>
            <a:spLocks noChangeShapeType="1"/>
          </p:cNvSpPr>
          <p:nvPr/>
        </p:nvSpPr>
        <p:spPr bwMode="auto">
          <a:xfrm flipV="1">
            <a:off x="4081463" y="5408613"/>
            <a:ext cx="0" cy="74771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42" name="Line 110"/>
          <p:cNvSpPr>
            <a:spLocks noChangeShapeType="1"/>
          </p:cNvSpPr>
          <p:nvPr/>
        </p:nvSpPr>
        <p:spPr bwMode="auto">
          <a:xfrm flipV="1">
            <a:off x="4227513" y="5408613"/>
            <a:ext cx="0" cy="74771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43" name="Line 111"/>
          <p:cNvSpPr>
            <a:spLocks noChangeShapeType="1"/>
          </p:cNvSpPr>
          <p:nvPr/>
        </p:nvSpPr>
        <p:spPr bwMode="auto">
          <a:xfrm flipV="1">
            <a:off x="4446588" y="5476875"/>
            <a:ext cx="0" cy="6794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44" name="Line 112"/>
          <p:cNvSpPr>
            <a:spLocks noChangeShapeType="1"/>
          </p:cNvSpPr>
          <p:nvPr/>
        </p:nvSpPr>
        <p:spPr bwMode="auto">
          <a:xfrm flipV="1">
            <a:off x="4665663" y="5680075"/>
            <a:ext cx="0" cy="4762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45" name="Line 113"/>
          <p:cNvSpPr>
            <a:spLocks noChangeShapeType="1"/>
          </p:cNvSpPr>
          <p:nvPr/>
        </p:nvSpPr>
        <p:spPr bwMode="auto">
          <a:xfrm flipV="1">
            <a:off x="4868863" y="5884863"/>
            <a:ext cx="0" cy="27146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46" name="Line 114"/>
          <p:cNvSpPr>
            <a:spLocks noChangeShapeType="1"/>
          </p:cNvSpPr>
          <p:nvPr/>
        </p:nvSpPr>
        <p:spPr bwMode="auto">
          <a:xfrm flipV="1">
            <a:off x="5030788" y="6019800"/>
            <a:ext cx="0" cy="136525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47" name="Line 115"/>
          <p:cNvSpPr>
            <a:spLocks noChangeShapeType="1"/>
          </p:cNvSpPr>
          <p:nvPr/>
        </p:nvSpPr>
        <p:spPr bwMode="auto">
          <a:xfrm flipV="1">
            <a:off x="5322888" y="5951538"/>
            <a:ext cx="0" cy="20478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48" name="Line 116"/>
          <p:cNvSpPr>
            <a:spLocks noChangeShapeType="1"/>
          </p:cNvSpPr>
          <p:nvPr/>
        </p:nvSpPr>
        <p:spPr bwMode="auto">
          <a:xfrm flipV="1">
            <a:off x="5468938" y="5748338"/>
            <a:ext cx="0" cy="407987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49" name="Line 117"/>
          <p:cNvSpPr>
            <a:spLocks noChangeShapeType="1"/>
          </p:cNvSpPr>
          <p:nvPr/>
        </p:nvSpPr>
        <p:spPr bwMode="auto">
          <a:xfrm flipV="1">
            <a:off x="5688013" y="5611813"/>
            <a:ext cx="0" cy="544512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50" name="Line 118"/>
          <p:cNvSpPr>
            <a:spLocks noChangeShapeType="1"/>
          </p:cNvSpPr>
          <p:nvPr/>
        </p:nvSpPr>
        <p:spPr bwMode="auto">
          <a:xfrm flipV="1">
            <a:off x="5907088" y="5476875"/>
            <a:ext cx="0" cy="67945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551" name="Object 119"/>
          <p:cNvGraphicFramePr>
            <a:graphicFrameLocks noChangeAspect="1"/>
          </p:cNvGraphicFramePr>
          <p:nvPr/>
        </p:nvGraphicFramePr>
        <p:xfrm>
          <a:off x="5580063" y="6154738"/>
          <a:ext cx="714375" cy="296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79" name="Equation" r:id="rId26" imgW="355138" imgH="177569" progId="Equation.DSMT4">
                  <p:embed/>
                </p:oleObj>
              </mc:Choice>
              <mc:Fallback>
                <p:oleObj name="Equation" r:id="rId26" imgW="355138" imgH="177569" progId="Equation.DSMT4">
                  <p:embed/>
                  <p:pic>
                    <p:nvPicPr>
                      <p:cNvPr id="0" name="Object 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6154738"/>
                        <a:ext cx="714375" cy="296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52" name="Object 120"/>
          <p:cNvGraphicFramePr>
            <a:graphicFrameLocks noChangeAspect="1"/>
          </p:cNvGraphicFramePr>
          <p:nvPr/>
        </p:nvGraphicFramePr>
        <p:xfrm>
          <a:off x="3789363" y="6019800"/>
          <a:ext cx="268287" cy="349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80" name="公式" r:id="rId28" imgW="126725" imgH="177415" progId="Equation.3">
                  <p:embed/>
                </p:oleObj>
              </mc:Choice>
              <mc:Fallback>
                <p:oleObj name="公式" r:id="rId28" imgW="126725" imgH="177415" progId="Equation.3">
                  <p:embed/>
                  <p:pic>
                    <p:nvPicPr>
                      <p:cNvPr id="0" name="Object 1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9363" y="6019800"/>
                        <a:ext cx="268287" cy="349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53" name="Object 121"/>
          <p:cNvGraphicFramePr>
            <a:graphicFrameLocks noChangeAspect="1"/>
          </p:cNvGraphicFramePr>
          <p:nvPr/>
        </p:nvGraphicFramePr>
        <p:xfrm>
          <a:off x="6491288" y="4049713"/>
          <a:ext cx="4540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81" name="公式" r:id="rId29" imgW="126835" imgH="139518" progId="Equation.3">
                  <p:embed/>
                </p:oleObj>
              </mc:Choice>
              <mc:Fallback>
                <p:oleObj name="公式" r:id="rId29" imgW="126835" imgH="139518" progId="Equation.3">
                  <p:embed/>
                  <p:pic>
                    <p:nvPicPr>
                      <p:cNvPr id="0" name="Object 1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1288" y="4049713"/>
                        <a:ext cx="4540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54" name="Object 122"/>
          <p:cNvGraphicFramePr>
            <a:graphicFrameLocks noChangeAspect="1"/>
          </p:cNvGraphicFramePr>
          <p:nvPr/>
        </p:nvGraphicFramePr>
        <p:xfrm>
          <a:off x="6638925" y="5680075"/>
          <a:ext cx="423863" cy="554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82" name="公式" r:id="rId30" imgW="126725" imgH="177415" progId="Equation.3">
                  <p:embed/>
                </p:oleObj>
              </mc:Choice>
              <mc:Fallback>
                <p:oleObj name="公式" r:id="rId30" imgW="126725" imgH="177415" progId="Equation.3">
                  <p:embed/>
                  <p:pic>
                    <p:nvPicPr>
                      <p:cNvPr id="0" name="Object 1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38925" y="5680075"/>
                        <a:ext cx="423863" cy="554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55" name="Object 123"/>
          <p:cNvGraphicFramePr>
            <a:graphicFrameLocks noChangeAspect="1"/>
          </p:cNvGraphicFramePr>
          <p:nvPr/>
        </p:nvGraphicFramePr>
        <p:xfrm>
          <a:off x="3278188" y="3778250"/>
          <a:ext cx="881062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83" name="公式" r:id="rId31" imgW="317225" imgH="203024" progId="Equation.3">
                  <p:embed/>
                </p:oleObj>
              </mc:Choice>
              <mc:Fallback>
                <p:oleObj name="公式" r:id="rId31" imgW="317225" imgH="203024" progId="Equation.3">
                  <p:embed/>
                  <p:pic>
                    <p:nvPicPr>
                      <p:cNvPr id="0" name="Object 1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8188" y="3778250"/>
                        <a:ext cx="881062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556" name="Object 124"/>
          <p:cNvGraphicFramePr>
            <a:graphicFrameLocks noChangeAspect="1"/>
          </p:cNvGraphicFramePr>
          <p:nvPr/>
        </p:nvGraphicFramePr>
        <p:xfrm>
          <a:off x="3205163" y="5137150"/>
          <a:ext cx="863600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84" name="公式" r:id="rId33" imgW="368140" imgH="203112" progId="Equation.3">
                  <p:embed/>
                </p:oleObj>
              </mc:Choice>
              <mc:Fallback>
                <p:oleObj name="公式" r:id="rId33" imgW="368140" imgH="203112" progId="Equation.3">
                  <p:embed/>
                  <p:pic>
                    <p:nvPicPr>
                      <p:cNvPr id="0" name="Object 1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5163" y="5137150"/>
                        <a:ext cx="863600" cy="4397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57" name="Line 125"/>
          <p:cNvSpPr>
            <a:spLocks noChangeShapeType="1"/>
          </p:cNvSpPr>
          <p:nvPr/>
        </p:nvSpPr>
        <p:spPr bwMode="auto">
          <a:xfrm>
            <a:off x="7004050" y="2827338"/>
            <a:ext cx="730250" cy="0"/>
          </a:xfrm>
          <a:prstGeom prst="line">
            <a:avLst/>
          </a:prstGeom>
          <a:noFill/>
          <a:ln w="38100">
            <a:solidFill>
              <a:srgbClr val="FF33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58" name="Line 126"/>
          <p:cNvSpPr>
            <a:spLocks noChangeShapeType="1"/>
          </p:cNvSpPr>
          <p:nvPr/>
        </p:nvSpPr>
        <p:spPr bwMode="auto">
          <a:xfrm>
            <a:off x="574675" y="2827338"/>
            <a:ext cx="438150" cy="0"/>
          </a:xfrm>
          <a:prstGeom prst="line">
            <a:avLst/>
          </a:prstGeom>
          <a:noFill/>
          <a:ln w="38100">
            <a:solidFill>
              <a:srgbClr val="FF33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559" name="AutoShape 127"/>
          <p:cNvSpPr>
            <a:spLocks noChangeArrowheads="1"/>
          </p:cNvSpPr>
          <p:nvPr/>
        </p:nvSpPr>
        <p:spPr bwMode="auto">
          <a:xfrm>
            <a:off x="7807325" y="1198563"/>
            <a:ext cx="803275" cy="1562100"/>
          </a:xfrm>
          <a:prstGeom prst="downArrow">
            <a:avLst>
              <a:gd name="adj1" fmla="val 50000"/>
              <a:gd name="adj2" fmla="val 48617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DFS</a:t>
            </a:r>
          </a:p>
        </p:txBody>
      </p:sp>
      <p:sp>
        <p:nvSpPr>
          <p:cNvPr id="18560" name="AutoShape 128"/>
          <p:cNvSpPr>
            <a:spLocks noChangeArrowheads="1"/>
          </p:cNvSpPr>
          <p:nvPr/>
        </p:nvSpPr>
        <p:spPr bwMode="auto">
          <a:xfrm>
            <a:off x="7953375" y="4389438"/>
            <a:ext cx="657225" cy="1155700"/>
          </a:xfrm>
          <a:prstGeom prst="downArrow">
            <a:avLst>
              <a:gd name="adj1" fmla="val 50000"/>
              <a:gd name="adj2" fmla="val 43961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eaVert"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1" lang="en-US" altLang="zh-CN">
                <a:solidFill>
                  <a:schemeClr val="tx1"/>
                </a:solidFill>
                <a:latin typeface="Times New Roman" panose="02020603050405020304" pitchFamily="18" charset="0"/>
              </a:rPr>
              <a:t>DFT</a:t>
            </a:r>
          </a:p>
        </p:txBody>
      </p:sp>
      <p:graphicFrame>
        <p:nvGraphicFramePr>
          <p:cNvPr id="18561" name="Object 129"/>
          <p:cNvGraphicFramePr>
            <a:graphicFrameLocks noChangeAspect="1"/>
          </p:cNvGraphicFramePr>
          <p:nvPr/>
        </p:nvGraphicFramePr>
        <p:xfrm>
          <a:off x="2820988" y="3346450"/>
          <a:ext cx="644525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785" name="Equation" r:id="rId35" imgW="253890" imgH="228501" progId="Equation.DSMT4">
                  <p:embed/>
                </p:oleObj>
              </mc:Choice>
              <mc:Fallback>
                <p:oleObj name="Equation" r:id="rId35" imgW="253890" imgH="228501" progId="Equation.DSMT4">
                  <p:embed/>
                  <p:pic>
                    <p:nvPicPr>
                      <p:cNvPr id="0" name="Object 1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0988" y="3346450"/>
                        <a:ext cx="644525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562" name="AutoShape 130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18563" name="Rectangle 131">
            <a:hlinkClick r:id="rId37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18564" name="AutoShape 132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18565" name="Rectangle 133">
            <a:hlinkClick r:id="rId38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836613"/>
            <a:ext cx="7632700" cy="523875"/>
          </a:xfrm>
        </p:spPr>
        <p:txBody>
          <a:bodyPr/>
          <a:lstStyle/>
          <a:p>
            <a:pPr eaLnBrk="1" hangingPunct="1"/>
            <a:r>
              <a:rPr lang="en-US" altLang="zh-CN" sz="2800" smtClean="0"/>
              <a:t>DFT</a:t>
            </a:r>
            <a:r>
              <a:rPr lang="zh-CN" altLang="en-US" sz="2800" smtClean="0"/>
              <a:t>与</a:t>
            </a:r>
            <a:r>
              <a:rPr lang="en-US" altLang="zh-CN" sz="2800" smtClean="0"/>
              <a:t>DFS</a:t>
            </a:r>
            <a:r>
              <a:rPr lang="zh-CN" altLang="en-US" sz="2800" smtClean="0"/>
              <a:t>之间的关系</a:t>
            </a:r>
            <a:r>
              <a:rPr lang="en-US" altLang="zh-CN" sz="2800" smtClean="0"/>
              <a:t>:</a:t>
            </a:r>
          </a:p>
        </p:txBody>
      </p:sp>
      <p:sp>
        <p:nvSpPr>
          <p:cNvPr id="778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4508500"/>
            <a:ext cx="8229600" cy="12858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>
                <a:solidFill>
                  <a:schemeClr val="folHlink"/>
                </a:solidFill>
              </a:rPr>
              <a:t>有限长序列</a:t>
            </a:r>
            <a:r>
              <a:rPr lang="en-US" altLang="zh-CN" smtClean="0">
                <a:solidFill>
                  <a:schemeClr val="folHlink"/>
                </a:solidFill>
              </a:rPr>
              <a:t>x(n)</a:t>
            </a:r>
            <a:r>
              <a:rPr lang="zh-CN" altLang="en-US" smtClean="0">
                <a:solidFill>
                  <a:schemeClr val="folHlink"/>
                </a:solidFill>
              </a:rPr>
              <a:t>的</a:t>
            </a:r>
            <a:r>
              <a:rPr lang="en-US" altLang="zh-CN" smtClean="0">
                <a:solidFill>
                  <a:schemeClr val="folHlink"/>
                </a:solidFill>
              </a:rPr>
              <a:t>DFT</a:t>
            </a:r>
            <a:r>
              <a:rPr lang="zh-CN" altLang="en-US" smtClean="0">
                <a:solidFill>
                  <a:schemeClr val="folHlink"/>
                </a:solidFill>
              </a:rPr>
              <a:t>变换</a:t>
            </a:r>
            <a:r>
              <a:rPr lang="en-US" altLang="zh-CN" smtClean="0">
                <a:solidFill>
                  <a:schemeClr val="folHlink"/>
                </a:solidFill>
              </a:rPr>
              <a:t>X(k)</a:t>
            </a:r>
            <a:r>
              <a:rPr lang="zh-CN" altLang="en-US" smtClean="0">
                <a:solidFill>
                  <a:schemeClr val="folHlink"/>
                </a:solidFill>
              </a:rPr>
              <a:t>，就是</a:t>
            </a:r>
            <a:r>
              <a:rPr lang="en-US" altLang="zh-CN" smtClean="0">
                <a:solidFill>
                  <a:schemeClr val="folHlink"/>
                </a:solidFill>
              </a:rPr>
              <a:t>x(n)</a:t>
            </a:r>
            <a:r>
              <a:rPr lang="zh-CN" altLang="en-US" smtClean="0">
                <a:solidFill>
                  <a:schemeClr val="folHlink"/>
                </a:solidFill>
              </a:rPr>
              <a:t>的周期延拓序列</a:t>
            </a:r>
          </a:p>
          <a:p>
            <a:pPr eaLnBrk="1" hangingPunct="1">
              <a:buFontTx/>
              <a:buNone/>
            </a:pPr>
            <a:r>
              <a:rPr lang="zh-CN" altLang="en-US" smtClean="0">
                <a:solidFill>
                  <a:schemeClr val="folHlink"/>
                </a:solidFill>
              </a:rPr>
              <a:t>　　  的</a:t>
            </a:r>
            <a:r>
              <a:rPr lang="en-US" altLang="zh-CN" smtClean="0">
                <a:solidFill>
                  <a:schemeClr val="folHlink"/>
                </a:solidFill>
              </a:rPr>
              <a:t>DFS</a:t>
            </a:r>
            <a:r>
              <a:rPr lang="zh-CN" altLang="en-US" smtClean="0">
                <a:solidFill>
                  <a:schemeClr val="folHlink"/>
                </a:solidFill>
              </a:rPr>
              <a:t>系数　　　的主值序列</a:t>
            </a:r>
          </a:p>
        </p:txBody>
      </p:sp>
      <p:graphicFrame>
        <p:nvGraphicFramePr>
          <p:cNvPr id="19460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89090463"/>
              </p:ext>
            </p:extLst>
          </p:nvPr>
        </p:nvGraphicFramePr>
        <p:xfrm>
          <a:off x="827088" y="2636838"/>
          <a:ext cx="7127875" cy="1454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9" name="Equation" r:id="rId3" imgW="2413000" imgH="660400" progId="Equation.DSMT4">
                  <p:embed/>
                </p:oleObj>
              </mc:Choice>
              <mc:Fallback>
                <p:oleObj name="Equation" r:id="rId3" imgW="2413000" imgH="6604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636838"/>
                        <a:ext cx="7127875" cy="1454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1" name="Object 5"/>
          <p:cNvGraphicFramePr>
            <a:graphicFrameLocks noChangeAspect="1"/>
          </p:cNvGraphicFramePr>
          <p:nvPr/>
        </p:nvGraphicFramePr>
        <p:xfrm>
          <a:off x="1619250" y="1557338"/>
          <a:ext cx="4679950" cy="979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0" name="Equation" r:id="rId5" imgW="1587500" imgH="457200" progId="Equation.DSMT4">
                  <p:embed/>
                </p:oleObj>
              </mc:Choice>
              <mc:Fallback>
                <p:oleObj name="Equation" r:id="rId5" imgW="1587500" imgH="4572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1557338"/>
                        <a:ext cx="4679950" cy="979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46" name="Object 6"/>
          <p:cNvGraphicFramePr>
            <a:graphicFrameLocks noChangeAspect="1"/>
          </p:cNvGraphicFramePr>
          <p:nvPr/>
        </p:nvGraphicFramePr>
        <p:xfrm>
          <a:off x="827088" y="5013325"/>
          <a:ext cx="6858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1" name="Microsoft 公式 3.0" r:id="rId7" imgW="330057" imgH="203112" progId="Equation.3">
                  <p:embed/>
                </p:oleObj>
              </mc:Choice>
              <mc:Fallback>
                <p:oleObj name="Microsoft 公式 3.0" r:id="rId7" imgW="330057" imgH="20311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013325"/>
                        <a:ext cx="6858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8247" name="Object 7"/>
          <p:cNvGraphicFramePr>
            <a:graphicFrameLocks noChangeAspect="1"/>
          </p:cNvGraphicFramePr>
          <p:nvPr/>
        </p:nvGraphicFramePr>
        <p:xfrm>
          <a:off x="2987675" y="4940300"/>
          <a:ext cx="7620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12" r:id="rId9" imgW="368300" imgH="241300" progId="Equation.3">
                  <p:embed/>
                </p:oleObj>
              </mc:Choice>
              <mc:Fallback>
                <p:oleObj r:id="rId9" imgW="368300" imgH="2413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940300"/>
                        <a:ext cx="762000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49" name="AutoShape 9"/>
          <p:cNvSpPr>
            <a:spLocks noChangeArrowheads="1"/>
          </p:cNvSpPr>
          <p:nvPr/>
        </p:nvSpPr>
        <p:spPr bwMode="auto">
          <a:xfrm>
            <a:off x="539750" y="4508500"/>
            <a:ext cx="7993063" cy="936625"/>
          </a:xfrm>
          <a:prstGeom prst="roundRect">
            <a:avLst>
              <a:gd name="adj" fmla="val 16667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9465" name="AutoShape 10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19466" name="Rectangle 11">
            <a:hlinkClick r:id="rId11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19467" name="AutoShape 12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19468" name="Rectangle 13">
            <a:hlinkClick r:id="rId12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7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7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77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78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7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7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77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78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782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900" decel="100000" fill="hold"/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782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7782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782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900" decel="100000" fill="hold"/>
                                        <p:tgtEl>
                                          <p:spTgt spid="778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782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782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782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900" decel="100000" fill="hold"/>
                                        <p:tgtEl>
                                          <p:spTgt spid="778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782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827088" y="908050"/>
            <a:ext cx="6859587" cy="687388"/>
          </a:xfrm>
        </p:spPr>
        <p:txBody>
          <a:bodyPr/>
          <a:lstStyle/>
          <a:p>
            <a:pPr eaLnBrk="1" hangingPunct="1"/>
            <a:r>
              <a:rPr lang="en-US" altLang="zh-CN" sz="2800" smtClean="0"/>
              <a:t>DFS</a:t>
            </a:r>
            <a:r>
              <a:rPr lang="zh-CN" altLang="en-US" sz="2800" smtClean="0"/>
              <a:t>与</a:t>
            </a:r>
            <a:r>
              <a:rPr lang="en-US" altLang="zh-CN" sz="2800" smtClean="0"/>
              <a:t>FT</a:t>
            </a:r>
            <a:r>
              <a:rPr lang="zh-CN" altLang="en-US" sz="2800" smtClean="0"/>
              <a:t>之间的关系</a:t>
            </a:r>
            <a:r>
              <a:rPr lang="en-US" altLang="zh-CN" sz="2800" smtClean="0"/>
              <a:t>:</a:t>
            </a:r>
          </a:p>
        </p:txBody>
      </p:sp>
      <p:sp>
        <p:nvSpPr>
          <p:cNvPr id="7792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3500438"/>
            <a:ext cx="7056437" cy="2543175"/>
          </a:xfrm>
        </p:spPr>
        <p:txBody>
          <a:bodyPr/>
          <a:lstStyle/>
          <a:p>
            <a:pPr eaLnBrk="1" hangingPunct="1"/>
            <a:r>
              <a:rPr lang="zh-CN" altLang="en-US" smtClean="0"/>
              <a:t>周期延拓序列    的频谱特性由其傅里叶级数的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系数     确定，幅度相差一个常数因子  。</a:t>
            </a:r>
          </a:p>
          <a:p>
            <a:pPr eaLnBrk="1" hangingPunct="1"/>
            <a:endParaRPr lang="en-US" altLang="zh-CN" smtClean="0"/>
          </a:p>
          <a:p>
            <a:pPr eaLnBrk="1" hangingPunct="1"/>
            <a:r>
              <a:rPr lang="en-US" altLang="zh-CN" smtClean="0"/>
              <a:t>DFT</a:t>
            </a:r>
            <a:r>
              <a:rPr lang="zh-CN" altLang="en-US" smtClean="0"/>
              <a:t>的     是      的主值区序列，所以</a:t>
            </a:r>
            <a:r>
              <a:rPr lang="en-US" altLang="zh-CN" smtClean="0"/>
              <a:t>x(n)</a:t>
            </a:r>
            <a:r>
              <a:rPr lang="zh-CN" altLang="en-US" smtClean="0"/>
              <a:t>的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DFT</a:t>
            </a:r>
            <a:r>
              <a:rPr lang="zh-CN" altLang="en-US" smtClean="0"/>
              <a:t>表示的是    周期序列的频谱特性。</a:t>
            </a:r>
          </a:p>
        </p:txBody>
      </p:sp>
      <p:graphicFrame>
        <p:nvGraphicFramePr>
          <p:cNvPr id="779268" name="Object 4"/>
          <p:cNvGraphicFramePr>
            <a:graphicFrameLocks noChangeAspect="1"/>
          </p:cNvGraphicFramePr>
          <p:nvPr/>
        </p:nvGraphicFramePr>
        <p:xfrm>
          <a:off x="1187450" y="1628775"/>
          <a:ext cx="67691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6" name="Equation" r:id="rId3" imgW="3136900" imgH="431800" progId="Equation.DSMT4">
                  <p:embed/>
                </p:oleObj>
              </mc:Choice>
              <mc:Fallback>
                <p:oleObj name="Equation" r:id="rId3" imgW="3136900" imgH="4318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628775"/>
                        <a:ext cx="676910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269" name="Object 5"/>
          <p:cNvGraphicFramePr>
            <a:graphicFrameLocks noChangeAspect="1"/>
          </p:cNvGraphicFramePr>
          <p:nvPr/>
        </p:nvGraphicFramePr>
        <p:xfrm>
          <a:off x="1187450" y="2565400"/>
          <a:ext cx="6192838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7" name="Equation" r:id="rId5" imgW="2933700" imgH="431800" progId="Equation.DSMT4">
                  <p:embed/>
                </p:oleObj>
              </mc:Choice>
              <mc:Fallback>
                <p:oleObj name="Equation" r:id="rId5" imgW="2933700" imgH="4318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2565400"/>
                        <a:ext cx="6192838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270" name="Object 6"/>
          <p:cNvGraphicFramePr>
            <a:graphicFrameLocks noChangeAspect="1"/>
          </p:cNvGraphicFramePr>
          <p:nvPr/>
        </p:nvGraphicFramePr>
        <p:xfrm>
          <a:off x="1619250" y="4003675"/>
          <a:ext cx="6985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8" name="Equation" r:id="rId7" imgW="368300" imgH="228600" progId="Equation.DSMT4">
                  <p:embed/>
                </p:oleObj>
              </mc:Choice>
              <mc:Fallback>
                <p:oleObj name="Equation" r:id="rId7" imgW="3683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003675"/>
                        <a:ext cx="6985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271" name="Object 7"/>
          <p:cNvGraphicFramePr>
            <a:graphicFrameLocks noChangeAspect="1"/>
          </p:cNvGraphicFramePr>
          <p:nvPr/>
        </p:nvGraphicFramePr>
        <p:xfrm>
          <a:off x="2124075" y="4867275"/>
          <a:ext cx="6985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79" name="Equation" r:id="rId9" imgW="368140" imgH="203112" progId="Equation.DSMT4">
                  <p:embed/>
                </p:oleObj>
              </mc:Choice>
              <mc:Fallback>
                <p:oleObj name="Equation" r:id="rId9" imgW="368140" imgH="20311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867275"/>
                        <a:ext cx="6985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272" name="Object 8"/>
          <p:cNvGraphicFramePr>
            <a:graphicFrameLocks noChangeAspect="1"/>
          </p:cNvGraphicFramePr>
          <p:nvPr/>
        </p:nvGraphicFramePr>
        <p:xfrm>
          <a:off x="6300788" y="3859213"/>
          <a:ext cx="357187" cy="576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0" name="Equation" r:id="rId11" imgW="241195" imgH="393529" progId="Equation.DSMT4">
                  <p:embed/>
                </p:oleObj>
              </mc:Choice>
              <mc:Fallback>
                <p:oleObj name="Equation" r:id="rId11" imgW="241195" imgH="393529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3859213"/>
                        <a:ext cx="357187" cy="576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273" name="Object 9"/>
          <p:cNvGraphicFramePr>
            <a:graphicFrameLocks noChangeAspect="1"/>
          </p:cNvGraphicFramePr>
          <p:nvPr/>
        </p:nvGraphicFramePr>
        <p:xfrm>
          <a:off x="3276600" y="4795838"/>
          <a:ext cx="790575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1" name="Equation" r:id="rId13" imgW="368300" imgH="228600" progId="Equation.DSMT4">
                  <p:embed/>
                </p:oleObj>
              </mc:Choice>
              <mc:Fallback>
                <p:oleObj name="Equation" r:id="rId13" imgW="368300" imgH="2286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95838"/>
                        <a:ext cx="790575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274" name="Object 10"/>
          <p:cNvGraphicFramePr>
            <a:graphicFrameLocks noChangeAspect="1"/>
          </p:cNvGraphicFramePr>
          <p:nvPr/>
        </p:nvGraphicFramePr>
        <p:xfrm>
          <a:off x="3132138" y="3571875"/>
          <a:ext cx="6858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2" name="Microsoft 公式 3.0" r:id="rId15" imgW="330057" imgH="203112" progId="Equation.3">
                  <p:embed/>
                </p:oleObj>
              </mc:Choice>
              <mc:Fallback>
                <p:oleObj name="Microsoft 公式 3.0" r:id="rId15" imgW="330057" imgH="20311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3571875"/>
                        <a:ext cx="6858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79275" name="Object 11"/>
          <p:cNvGraphicFramePr>
            <a:graphicFrameLocks noChangeAspect="1"/>
          </p:cNvGraphicFramePr>
          <p:nvPr/>
        </p:nvGraphicFramePr>
        <p:xfrm>
          <a:off x="2627313" y="5300663"/>
          <a:ext cx="685800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83" name="Microsoft 公式 3.0" r:id="rId17" imgW="330057" imgH="203112" progId="Equation.3">
                  <p:embed/>
                </p:oleObj>
              </mc:Choice>
              <mc:Fallback>
                <p:oleObj name="Microsoft 公式 3.0" r:id="rId17" imgW="330057" imgH="203112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300663"/>
                        <a:ext cx="685800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2" name="AutoShape 12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20493" name="Rectangle 13">
            <a:hlinkClick r:id="rId18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20494" name="AutoShape 14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20495" name="Rectangle 15">
            <a:hlinkClick r:id="rId19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779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779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779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779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779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779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779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779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9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79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620713"/>
            <a:ext cx="6859587" cy="471487"/>
          </a:xfrm>
        </p:spPr>
        <p:txBody>
          <a:bodyPr/>
          <a:lstStyle/>
          <a:p>
            <a:pPr eaLnBrk="1" hangingPunct="1"/>
            <a:r>
              <a:rPr lang="en-US" altLang="zh-CN" sz="2800" smtClean="0"/>
              <a:t>3.1.3 DFT</a:t>
            </a:r>
            <a:r>
              <a:rPr lang="zh-CN" altLang="en-US" sz="2800" smtClean="0"/>
              <a:t>的矩阵表示</a:t>
            </a:r>
          </a:p>
        </p:txBody>
      </p:sp>
      <p:sp>
        <p:nvSpPr>
          <p:cNvPr id="6348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341438"/>
            <a:ext cx="7993062" cy="4267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周期序列     的</a:t>
            </a:r>
            <a:r>
              <a:rPr lang="en-US" altLang="zh-CN" smtClean="0"/>
              <a:t>DFS</a:t>
            </a:r>
            <a:r>
              <a:rPr lang="zh-CN" altLang="en-US" smtClean="0"/>
              <a:t>以及有限长序列</a:t>
            </a:r>
            <a:r>
              <a:rPr lang="en-US" altLang="zh-CN" smtClean="0"/>
              <a:t>x(n)</a:t>
            </a:r>
            <a:r>
              <a:rPr lang="zh-CN" altLang="en-US" smtClean="0"/>
              <a:t>的</a:t>
            </a:r>
            <a:r>
              <a:rPr lang="en-US" altLang="zh-CN" smtClean="0"/>
              <a:t>DFT</a:t>
            </a:r>
            <a:r>
              <a:rPr lang="zh-CN" altLang="en-US" smtClean="0"/>
              <a:t>如下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可以发现它们右边的函数形式一样，但</a:t>
            </a:r>
            <a:r>
              <a:rPr lang="en-US" altLang="zh-CN" smtClean="0"/>
              <a:t>k</a:t>
            </a:r>
            <a:r>
              <a:rPr lang="zh-CN" altLang="en-US" smtClean="0"/>
              <a:t>的定义域不同，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X(k)</a:t>
            </a:r>
            <a:r>
              <a:rPr lang="zh-CN" altLang="en-US" smtClean="0"/>
              <a:t>只是     的主值区序列，或者说</a:t>
            </a:r>
            <a:r>
              <a:rPr lang="en-US" altLang="zh-CN" smtClean="0"/>
              <a:t>X(k)</a:t>
            </a:r>
            <a:r>
              <a:rPr lang="zh-CN" altLang="en-US" smtClean="0"/>
              <a:t>以</a:t>
            </a:r>
            <a:r>
              <a:rPr lang="en-US" altLang="zh-CN" smtClean="0"/>
              <a:t>N</a:t>
            </a:r>
            <a:r>
              <a:rPr lang="zh-CN" altLang="en-US" smtClean="0"/>
              <a:t>为周期进行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周期延拓即是     ，用后面两式表示二者的关系： </a:t>
            </a:r>
          </a:p>
        </p:txBody>
      </p:sp>
      <p:graphicFrame>
        <p:nvGraphicFramePr>
          <p:cNvPr id="634884" name="Object 4"/>
          <p:cNvGraphicFramePr>
            <a:graphicFrameLocks noChangeAspect="1"/>
          </p:cNvGraphicFramePr>
          <p:nvPr/>
        </p:nvGraphicFramePr>
        <p:xfrm>
          <a:off x="1908175" y="1341438"/>
          <a:ext cx="792163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6" r:id="rId3" imgW="355292" imgH="203024" progId="Equation.3">
                  <p:embed/>
                </p:oleObj>
              </mc:Choice>
              <mc:Fallback>
                <p:oleObj r:id="rId3" imgW="355292" imgH="20302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341438"/>
                        <a:ext cx="792163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885" name="Object 5"/>
          <p:cNvGraphicFramePr>
            <a:graphicFrameLocks noChangeAspect="1"/>
          </p:cNvGraphicFramePr>
          <p:nvPr/>
        </p:nvGraphicFramePr>
        <p:xfrm>
          <a:off x="1403350" y="1844675"/>
          <a:ext cx="6048375" cy="2584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7" r:id="rId5" imgW="2959100" imgH="1270000" progId="Equation.3">
                  <p:embed/>
                </p:oleObj>
              </mc:Choice>
              <mc:Fallback>
                <p:oleObj r:id="rId5" imgW="2959100" imgH="12700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1844675"/>
                        <a:ext cx="6048375" cy="2584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891" name="Object 11"/>
          <p:cNvGraphicFramePr>
            <a:graphicFrameLocks noChangeAspect="1"/>
          </p:cNvGraphicFramePr>
          <p:nvPr/>
        </p:nvGraphicFramePr>
        <p:xfrm>
          <a:off x="1908175" y="4868863"/>
          <a:ext cx="7207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8" r:id="rId7" imgW="330057" imgH="215806" progId="Equation.3">
                  <p:embed/>
                </p:oleObj>
              </mc:Choice>
              <mc:Fallback>
                <p:oleObj r:id="rId7" imgW="330057" imgH="21580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868863"/>
                        <a:ext cx="7207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4893" name="Object 13"/>
          <p:cNvGraphicFramePr>
            <a:graphicFrameLocks noChangeAspect="1"/>
          </p:cNvGraphicFramePr>
          <p:nvPr/>
        </p:nvGraphicFramePr>
        <p:xfrm>
          <a:off x="2555875" y="5302250"/>
          <a:ext cx="7207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59" r:id="rId9" imgW="330057" imgH="215806" progId="Equation.3">
                  <p:embed/>
                </p:oleObj>
              </mc:Choice>
              <mc:Fallback>
                <p:oleObj r:id="rId9" imgW="330057" imgH="215806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5302250"/>
                        <a:ext cx="7207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2" name="AutoShape 16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21513" name="Rectangle 17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21514" name="AutoShape 18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21515" name="Rectangle 19">
            <a:hlinkClick r:id="rId11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34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34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34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34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34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34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348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34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34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34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348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34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34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34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348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34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34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34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34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3489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3489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3489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3489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413" name="Rectangle 5"/>
          <p:cNvSpPr>
            <a:spLocks noGrp="1" noChangeArrowheads="1"/>
          </p:cNvSpPr>
          <p:nvPr>
            <p:ph type="body" idx="1"/>
          </p:nvPr>
        </p:nvSpPr>
        <p:spPr>
          <a:xfrm>
            <a:off x="611188" y="1557338"/>
            <a:ext cx="8064500" cy="38354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式</a:t>
            </a:r>
            <a:r>
              <a:rPr lang="en-US" altLang="zh-CN" smtClean="0"/>
              <a:t>(3.1.5)</a:t>
            </a:r>
            <a:r>
              <a:rPr lang="zh-CN" altLang="en-US" smtClean="0"/>
              <a:t>～</a:t>
            </a:r>
            <a:r>
              <a:rPr lang="en-US" altLang="zh-CN" smtClean="0"/>
              <a:t>(3.1.8)</a:t>
            </a:r>
            <a:r>
              <a:rPr lang="zh-CN" altLang="en-US" smtClean="0"/>
              <a:t>说明了</a:t>
            </a:r>
            <a:r>
              <a:rPr lang="en-US" altLang="zh-CN" smtClean="0"/>
              <a:t>DFT</a:t>
            </a:r>
            <a:r>
              <a:rPr lang="zh-CN" altLang="en-US" smtClean="0"/>
              <a:t>和</a:t>
            </a:r>
            <a:r>
              <a:rPr lang="en-US" altLang="zh-CN" smtClean="0"/>
              <a:t>DFS</a:t>
            </a:r>
            <a:r>
              <a:rPr lang="zh-CN" altLang="en-US" smtClean="0"/>
              <a:t>之间的关系。</a:t>
            </a:r>
          </a:p>
          <a:p>
            <a:pPr eaLnBrk="1" hangingPunct="1">
              <a:buFontTx/>
              <a:buNone/>
            </a:pPr>
            <a:r>
              <a:rPr lang="zh-CN" altLang="en-US" b="1" smtClean="0">
                <a:solidFill>
                  <a:srgbClr val="CC3300"/>
                </a:solidFill>
              </a:rPr>
              <a:t>这些关系式成立的条件是</a:t>
            </a:r>
            <a:r>
              <a:rPr lang="en-US" altLang="zh-CN" b="1" smtClean="0">
                <a:solidFill>
                  <a:srgbClr val="CC3300"/>
                </a:solidFill>
              </a:rPr>
              <a:t>N ≥M</a:t>
            </a:r>
            <a:r>
              <a:rPr lang="zh-CN" altLang="en-US" b="1" smtClean="0">
                <a:solidFill>
                  <a:srgbClr val="CC3300"/>
                </a:solidFill>
              </a:rPr>
              <a:t>，即</a:t>
            </a:r>
            <a:r>
              <a:rPr lang="en-US" altLang="zh-CN" b="1" smtClean="0">
                <a:solidFill>
                  <a:srgbClr val="CC3300"/>
                </a:solidFill>
              </a:rPr>
              <a:t>DFT</a:t>
            </a:r>
            <a:r>
              <a:rPr lang="zh-CN" altLang="en-US" b="1" smtClean="0">
                <a:solidFill>
                  <a:srgbClr val="CC3300"/>
                </a:solidFill>
              </a:rPr>
              <a:t>的变换区间</a:t>
            </a:r>
            <a:r>
              <a:rPr lang="en-US" altLang="zh-CN" b="1" smtClean="0">
                <a:solidFill>
                  <a:srgbClr val="CC3300"/>
                </a:solidFill>
              </a:rPr>
              <a:t>N</a:t>
            </a:r>
            <a:r>
              <a:rPr lang="zh-CN" altLang="en-US" b="1" smtClean="0">
                <a:solidFill>
                  <a:srgbClr val="CC3300"/>
                </a:solidFill>
              </a:rPr>
              <a:t>不能小</a:t>
            </a:r>
          </a:p>
          <a:p>
            <a:pPr eaLnBrk="1" hangingPunct="1">
              <a:buFontTx/>
              <a:buNone/>
            </a:pPr>
            <a:r>
              <a:rPr lang="zh-CN" altLang="en-US" b="1" smtClean="0">
                <a:solidFill>
                  <a:srgbClr val="CC3300"/>
                </a:solidFill>
              </a:rPr>
              <a:t>于</a:t>
            </a:r>
            <a:r>
              <a:rPr lang="en-US" altLang="zh-CN" b="1" smtClean="0">
                <a:solidFill>
                  <a:srgbClr val="CC3300"/>
                </a:solidFill>
              </a:rPr>
              <a:t>x(n)</a:t>
            </a:r>
            <a:r>
              <a:rPr lang="zh-CN" altLang="en-US" b="1" smtClean="0">
                <a:solidFill>
                  <a:srgbClr val="CC3300"/>
                </a:solidFill>
              </a:rPr>
              <a:t>的长度</a:t>
            </a:r>
            <a:r>
              <a:rPr lang="en-US" altLang="zh-CN" b="1" smtClean="0">
                <a:solidFill>
                  <a:srgbClr val="CC3300"/>
                </a:solidFill>
              </a:rPr>
              <a:t>M</a:t>
            </a:r>
            <a:r>
              <a:rPr lang="zh-CN" altLang="en-US" b="1" smtClean="0">
                <a:solidFill>
                  <a:srgbClr val="CC3300"/>
                </a:solidFill>
              </a:rPr>
              <a:t>。</a:t>
            </a:r>
            <a:r>
              <a:rPr lang="zh-CN" altLang="en-US" smtClean="0"/>
              <a:t>如果该条件不满足，按照式</a:t>
            </a:r>
            <a:r>
              <a:rPr lang="en-US" altLang="zh-CN" smtClean="0"/>
              <a:t>(3.1.5)</a:t>
            </a:r>
            <a:r>
              <a:rPr lang="zh-CN" altLang="en-US" smtClean="0"/>
              <a:t>将</a:t>
            </a:r>
            <a:r>
              <a:rPr lang="en-US" altLang="zh-CN" smtClean="0"/>
              <a:t>x(n)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进行延拓时，    中将发生时域混叠，由式</a:t>
            </a:r>
            <a:r>
              <a:rPr lang="en-US" altLang="zh-CN" smtClean="0"/>
              <a:t>(3.1.8)</a:t>
            </a:r>
            <a:r>
              <a:rPr lang="zh-CN" altLang="en-US" smtClean="0"/>
              <a:t>得到的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X(k)</a:t>
            </a:r>
            <a:r>
              <a:rPr lang="zh-CN" altLang="en-US" smtClean="0"/>
              <a:t>不再是</a:t>
            </a:r>
            <a:r>
              <a:rPr lang="en-US" altLang="zh-CN" smtClean="0"/>
              <a:t>x(n)</a:t>
            </a:r>
            <a:r>
              <a:rPr lang="zh-CN" altLang="en-US" smtClean="0"/>
              <a:t>的</a:t>
            </a:r>
            <a:r>
              <a:rPr lang="en-US" altLang="zh-CN" smtClean="0"/>
              <a:t>DFT</a:t>
            </a:r>
            <a:r>
              <a:rPr lang="zh-CN" altLang="en-US" smtClean="0"/>
              <a:t>，这时以上讲的</a:t>
            </a:r>
            <a:r>
              <a:rPr lang="en-US" altLang="zh-CN" smtClean="0"/>
              <a:t>DFS</a:t>
            </a:r>
            <a:r>
              <a:rPr lang="zh-CN" altLang="en-US" smtClean="0"/>
              <a:t>和</a:t>
            </a:r>
            <a:r>
              <a:rPr lang="en-US" altLang="zh-CN" smtClean="0"/>
              <a:t>DFT</a:t>
            </a:r>
            <a:r>
              <a:rPr lang="zh-CN" altLang="en-US" smtClean="0"/>
              <a:t>之间的关系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不再成立。 </a:t>
            </a:r>
          </a:p>
        </p:txBody>
      </p:sp>
      <p:graphicFrame>
        <p:nvGraphicFramePr>
          <p:cNvPr id="22531" name="Object 6"/>
          <p:cNvGraphicFramePr>
            <a:graphicFrameLocks noChangeAspect="1"/>
          </p:cNvGraphicFramePr>
          <p:nvPr/>
        </p:nvGraphicFramePr>
        <p:xfrm>
          <a:off x="2051050" y="1484313"/>
          <a:ext cx="2808288" cy="892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0" r:id="rId3" imgW="1320227" imgH="418918" progId="Equation.3">
                  <p:embed/>
                </p:oleObj>
              </mc:Choice>
              <mc:Fallback>
                <p:oleObj r:id="rId3" imgW="1320227" imgH="418918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484313"/>
                        <a:ext cx="2808288" cy="892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2" name="Object 7"/>
          <p:cNvGraphicFramePr>
            <a:graphicFrameLocks noChangeAspect="1"/>
          </p:cNvGraphicFramePr>
          <p:nvPr/>
        </p:nvGraphicFramePr>
        <p:xfrm>
          <a:off x="2124075" y="2347913"/>
          <a:ext cx="2592388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1" r:id="rId5" imgW="1066337" imgH="215806" progId="Equation.3">
                  <p:embed/>
                </p:oleObj>
              </mc:Choice>
              <mc:Fallback>
                <p:oleObj r:id="rId5" imgW="1066337" imgH="2158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347913"/>
                        <a:ext cx="2592388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3" name="Text Box 8"/>
          <p:cNvSpPr txBox="1">
            <a:spLocks noChangeArrowheads="1"/>
          </p:cNvSpPr>
          <p:nvPr/>
        </p:nvSpPr>
        <p:spPr bwMode="auto">
          <a:xfrm>
            <a:off x="7021513" y="1606550"/>
            <a:ext cx="1065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(3.1.7)</a:t>
            </a:r>
          </a:p>
        </p:txBody>
      </p:sp>
      <p:sp>
        <p:nvSpPr>
          <p:cNvPr id="22534" name="Text Box 9"/>
          <p:cNvSpPr txBox="1">
            <a:spLocks noChangeArrowheads="1"/>
          </p:cNvSpPr>
          <p:nvPr/>
        </p:nvSpPr>
        <p:spPr bwMode="auto">
          <a:xfrm>
            <a:off x="7021513" y="2327275"/>
            <a:ext cx="1065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(3.1.8)</a:t>
            </a:r>
          </a:p>
        </p:txBody>
      </p:sp>
      <p:graphicFrame>
        <p:nvGraphicFramePr>
          <p:cNvPr id="657418" name="Object 10"/>
          <p:cNvGraphicFramePr>
            <a:graphicFrameLocks noChangeAspect="1"/>
          </p:cNvGraphicFramePr>
          <p:nvPr/>
        </p:nvGraphicFramePr>
        <p:xfrm>
          <a:off x="2339975" y="4221163"/>
          <a:ext cx="792163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72" r:id="rId7" imgW="355292" imgH="203024" progId="Equation.3">
                  <p:embed/>
                </p:oleObj>
              </mc:Choice>
              <mc:Fallback>
                <p:oleObj r:id="rId7" imgW="355292" imgH="203024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221163"/>
                        <a:ext cx="792163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36" name="AutoShape 13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22537" name="Rectangle 14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22538" name="AutoShape 15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22539" name="Rectangle 16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74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574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574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574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574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574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74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5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476250"/>
            <a:ext cx="7991475" cy="42672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也可以表示成矩阵形式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式中，</a:t>
            </a:r>
            <a:r>
              <a:rPr lang="en-US" altLang="zh-CN" b="1" smtClean="0"/>
              <a:t>X</a:t>
            </a:r>
            <a:r>
              <a:rPr lang="zh-CN" altLang="en-US" smtClean="0"/>
              <a:t>是</a:t>
            </a:r>
            <a:r>
              <a:rPr lang="en-US" altLang="zh-CN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频域序列向量</a:t>
            </a:r>
            <a:r>
              <a:rPr lang="en-US" altLang="zh-CN" smtClean="0"/>
              <a:t>: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en-US" altLang="zh-CN" b="1" smtClean="0"/>
              <a:t>x</a:t>
            </a:r>
            <a:r>
              <a:rPr lang="zh-CN" altLang="en-US" smtClean="0"/>
              <a:t>是时域序列向量</a:t>
            </a:r>
            <a:r>
              <a:rPr lang="en-US" altLang="zh-CN" smtClean="0"/>
              <a:t>: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en-US" altLang="zh-CN" b="1" smtClean="0"/>
              <a:t>D</a:t>
            </a:r>
            <a:r>
              <a:rPr lang="en-US" altLang="zh-CN" i="1" baseline="-25000" smtClean="0"/>
              <a:t>N</a:t>
            </a:r>
            <a:r>
              <a:rPr lang="zh-CN" altLang="en-US" smtClean="0"/>
              <a:t>称为</a:t>
            </a:r>
            <a:r>
              <a:rPr lang="en-US" altLang="zh-CN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矩阵，定义为</a:t>
            </a:r>
          </a:p>
        </p:txBody>
      </p:sp>
      <p:graphicFrame>
        <p:nvGraphicFramePr>
          <p:cNvPr id="23555" name="Object 4"/>
          <p:cNvGraphicFramePr>
            <a:graphicFrameLocks noChangeAspect="1"/>
          </p:cNvGraphicFramePr>
          <p:nvPr/>
        </p:nvGraphicFramePr>
        <p:xfrm>
          <a:off x="1474788" y="692150"/>
          <a:ext cx="5762625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5" r:id="rId3" imgW="3086100" imgH="419100" progId="Equation.3">
                  <p:embed/>
                </p:oleObj>
              </mc:Choice>
              <mc:Fallback>
                <p:oleObj r:id="rId3" imgW="30861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788" y="692150"/>
                        <a:ext cx="5762625" cy="782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56" name="Object 5"/>
          <p:cNvGraphicFramePr>
            <a:graphicFrameLocks noChangeAspect="1"/>
          </p:cNvGraphicFramePr>
          <p:nvPr/>
        </p:nvGraphicFramePr>
        <p:xfrm>
          <a:off x="3490913" y="1844675"/>
          <a:ext cx="1295400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6" r:id="rId5" imgW="558558" imgH="203112" progId="Equation.DSMT4">
                  <p:embed/>
                </p:oleObj>
              </mc:Choice>
              <mc:Fallback>
                <p:oleObj r:id="rId5" imgW="558558" imgH="20311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0913" y="1844675"/>
                        <a:ext cx="1295400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911" name="Object 7"/>
          <p:cNvGraphicFramePr>
            <a:graphicFrameLocks noChangeAspect="1"/>
          </p:cNvGraphicFramePr>
          <p:nvPr/>
        </p:nvGraphicFramePr>
        <p:xfrm>
          <a:off x="2265363" y="2779713"/>
          <a:ext cx="4537075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7" r:id="rId7" imgW="2349500" imgH="215900" progId="Equation.DSMT4">
                  <p:embed/>
                </p:oleObj>
              </mc:Choice>
              <mc:Fallback>
                <p:oleObj r:id="rId7" imgW="2349500" imgH="2159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5363" y="2779713"/>
                        <a:ext cx="4537075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913" name="Object 9"/>
          <p:cNvGraphicFramePr>
            <a:graphicFrameLocks noChangeAspect="1"/>
          </p:cNvGraphicFramePr>
          <p:nvPr/>
        </p:nvGraphicFramePr>
        <p:xfrm>
          <a:off x="2265363" y="3571875"/>
          <a:ext cx="4465637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8" r:id="rId9" imgW="2145369" imgH="215806" progId="Equation.DSMT4">
                  <p:embed/>
                </p:oleObj>
              </mc:Choice>
              <mc:Fallback>
                <p:oleObj r:id="rId9" imgW="2145369" imgH="215806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5363" y="3571875"/>
                        <a:ext cx="4465637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5915" name="Object 11"/>
          <p:cNvGraphicFramePr>
            <a:graphicFrameLocks noChangeAspect="1"/>
          </p:cNvGraphicFramePr>
          <p:nvPr/>
        </p:nvGraphicFramePr>
        <p:xfrm>
          <a:off x="1906588" y="4437063"/>
          <a:ext cx="4752975" cy="1836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619" r:id="rId11" imgW="2387600" imgH="927100" progId="Equation.DSMT4">
                  <p:embed/>
                </p:oleObj>
              </mc:Choice>
              <mc:Fallback>
                <p:oleObj r:id="rId11" imgW="2387600" imgH="927100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8" y="4437063"/>
                        <a:ext cx="4752975" cy="1836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5917" name="Text Box 13"/>
          <p:cNvSpPr txBox="1">
            <a:spLocks noChangeArrowheads="1"/>
          </p:cNvSpPr>
          <p:nvPr/>
        </p:nvSpPr>
        <p:spPr bwMode="auto">
          <a:xfrm>
            <a:off x="7380288" y="5084763"/>
            <a:ext cx="1235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(3.1.12)</a:t>
            </a:r>
          </a:p>
        </p:txBody>
      </p:sp>
      <p:sp>
        <p:nvSpPr>
          <p:cNvPr id="23561" name="AutoShape 16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23562" name="Rectangle 17">
            <a:hlinkClick r:id="rId13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23563" name="AutoShape 18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23564" name="Rectangle 19">
            <a:hlinkClick r:id="rId14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5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59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35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590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35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359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set>
                                      <p:cBhvr>
                                        <p:cTn id="19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o>
                                        <p:strVal val="-45.0"/>
                                      </p:to>
                                    </p:set>
                                    <p:anim calcmode="lin" valueType="num">
                                      <p:cBhvr>
                                        <p:cTn id="20" dur="455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6359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45"/>
                                          </p:val>
                                        </p:tav>
                                        <p:tav tm="69900">
                                          <p:val>
                                            <p:fltVal val="45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45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56" decel="50000" autoRev="1" fill="hold">
                                          <p:stCondLst>
                                            <p:cond delay="455"/>
                                          </p:stCondLst>
                                        </p:cTn>
                                        <p:tgtEl>
                                          <p:spTgt spid="635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(0.354*#ppt_w-0.172*#ppt_h)-#ppt_h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36" fill="hold">
                                          <p:stCondLst>
                                            <p:cond delay="864"/>
                                          </p:stCondLst>
                                        </p:cTn>
                                        <p:tgtEl>
                                          <p:spTgt spid="6359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(0.354*#ppt_w-0.172*#ppt_h)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35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35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59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359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359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359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 fill="hold"/>
                                        <p:tgtEl>
                                          <p:spTgt spid="635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359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5917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9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836613"/>
            <a:ext cx="7920037" cy="5113337"/>
          </a:xfrm>
        </p:spPr>
        <p:txBody>
          <a:bodyPr/>
          <a:lstStyle/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也可以表示为矩阵形式</a:t>
            </a:r>
            <a:r>
              <a:rPr lang="en-US" altLang="zh-CN" smtClean="0"/>
              <a:t>: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  称为</a:t>
            </a:r>
            <a:r>
              <a:rPr lang="en-US" altLang="zh-CN" i="1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IDFT</a:t>
            </a:r>
            <a:r>
              <a:rPr lang="zh-CN" altLang="en-US" smtClean="0"/>
              <a:t>矩阵，定义为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从式</a:t>
            </a:r>
            <a:r>
              <a:rPr lang="en-US" altLang="zh-CN" smtClean="0"/>
              <a:t>(3.1.12)</a:t>
            </a:r>
            <a:r>
              <a:rPr lang="zh-CN" altLang="en-US" smtClean="0"/>
              <a:t>和式</a:t>
            </a:r>
            <a:r>
              <a:rPr lang="en-US" altLang="zh-CN" smtClean="0"/>
              <a:t>(3.1.14)</a:t>
            </a:r>
            <a:r>
              <a:rPr lang="zh-CN" altLang="en-US" smtClean="0"/>
              <a:t>，我们可以发现</a:t>
            </a:r>
          </a:p>
        </p:txBody>
      </p:sp>
      <p:graphicFrame>
        <p:nvGraphicFramePr>
          <p:cNvPr id="24579" name="Object 4"/>
          <p:cNvGraphicFramePr>
            <a:graphicFrameLocks noChangeAspect="1"/>
          </p:cNvGraphicFramePr>
          <p:nvPr/>
        </p:nvGraphicFramePr>
        <p:xfrm>
          <a:off x="1331913" y="908050"/>
          <a:ext cx="6119812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0" r:id="rId3" imgW="3314700" imgH="419100" progId="Equation.3">
                  <p:embed/>
                </p:oleObj>
              </mc:Choice>
              <mc:Fallback>
                <p:oleObj r:id="rId3" imgW="33147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908050"/>
                        <a:ext cx="6119812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80" name="Object 5"/>
          <p:cNvGraphicFramePr>
            <a:graphicFrameLocks noChangeAspect="1"/>
          </p:cNvGraphicFramePr>
          <p:nvPr/>
        </p:nvGraphicFramePr>
        <p:xfrm>
          <a:off x="3419475" y="2060575"/>
          <a:ext cx="1512888" cy="569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1" r:id="rId5" imgW="583693" imgH="215713" progId="Equation.DSMT4">
                  <p:embed/>
                </p:oleObj>
              </mc:Choice>
              <mc:Fallback>
                <p:oleObj r:id="rId5" imgW="583693" imgH="215713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060575"/>
                        <a:ext cx="1512888" cy="569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935" name="Object 7"/>
          <p:cNvGraphicFramePr>
            <a:graphicFrameLocks noChangeAspect="1"/>
          </p:cNvGraphicFramePr>
          <p:nvPr/>
        </p:nvGraphicFramePr>
        <p:xfrm>
          <a:off x="684213" y="2636838"/>
          <a:ext cx="431800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2" r:id="rId7" imgW="241091" imgH="215713" progId="Equation.DSMT4">
                  <p:embed/>
                </p:oleObj>
              </mc:Choice>
              <mc:Fallback>
                <p:oleObj r:id="rId7" imgW="241091" imgH="215713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636838"/>
                        <a:ext cx="431800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6937" name="Object 9"/>
          <p:cNvGraphicFramePr>
            <a:graphicFrameLocks noChangeAspect="1"/>
          </p:cNvGraphicFramePr>
          <p:nvPr/>
        </p:nvGraphicFramePr>
        <p:xfrm>
          <a:off x="1835150" y="3068638"/>
          <a:ext cx="5040313" cy="167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3" r:id="rId9" imgW="2768600" imgH="927100" progId="Equation.DSMT4">
                  <p:embed/>
                </p:oleObj>
              </mc:Choice>
              <mc:Fallback>
                <p:oleObj r:id="rId9" imgW="2768600" imgH="9271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068638"/>
                        <a:ext cx="5040313" cy="167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6939" name="Text Box 11"/>
          <p:cNvSpPr txBox="1">
            <a:spLocks noChangeArrowheads="1"/>
          </p:cNvSpPr>
          <p:nvPr/>
        </p:nvSpPr>
        <p:spPr bwMode="auto">
          <a:xfrm>
            <a:off x="7451725" y="3500438"/>
            <a:ext cx="1235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(3.1.14)</a:t>
            </a:r>
          </a:p>
        </p:txBody>
      </p:sp>
      <p:sp>
        <p:nvSpPr>
          <p:cNvPr id="24584" name="Rectangle 13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36940" name="Object 12"/>
          <p:cNvGraphicFramePr>
            <a:graphicFrameLocks noChangeAspect="1"/>
          </p:cNvGraphicFramePr>
          <p:nvPr/>
        </p:nvGraphicFramePr>
        <p:xfrm>
          <a:off x="3779838" y="5157788"/>
          <a:ext cx="1512887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644" r:id="rId11" imgW="698197" imgH="355446" progId="Equation.DSMT4">
                  <p:embed/>
                </p:oleObj>
              </mc:Choice>
              <mc:Fallback>
                <p:oleObj r:id="rId11" imgW="698197" imgH="355446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9838" y="5157788"/>
                        <a:ext cx="1512887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6" name="AutoShape 16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24587" name="Rectangle 17">
            <a:hlinkClick r:id="rId13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24588" name="AutoShape 18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24589" name="Rectangle 19">
            <a:hlinkClick r:id="rId14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36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36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36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369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369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369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369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369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369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369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369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369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9" presetClass="entr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36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36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369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369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636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636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0" fill="hold"/>
                                        <p:tgtEl>
                                          <p:spTgt spid="636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2000" fill="hold"/>
                                        <p:tgtEl>
                                          <p:spTgt spid="6369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6369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2000" fill="hold"/>
                                        <p:tgtEl>
                                          <p:spTgt spid="63694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72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000" fill="hold"/>
                                        <p:tgtEl>
                                          <p:spTgt spid="6369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000" fill="hold"/>
                                        <p:tgtEl>
                                          <p:spTgt spid="6369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693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620713"/>
            <a:ext cx="6859587" cy="615950"/>
          </a:xfrm>
        </p:spPr>
        <p:txBody>
          <a:bodyPr/>
          <a:lstStyle/>
          <a:p>
            <a:pPr eaLnBrk="1" hangingPunct="1"/>
            <a:r>
              <a:rPr lang="en-US" altLang="zh-CN" smtClean="0"/>
              <a:t>3.2 DFT</a:t>
            </a:r>
            <a:r>
              <a:rPr lang="zh-CN" altLang="en-US" smtClean="0"/>
              <a:t>的主要性质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412875"/>
            <a:ext cx="7993062" cy="4267200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zh-CN" altLang="en-US" smtClean="0"/>
              <a:t>与序列的</a:t>
            </a:r>
            <a:r>
              <a:rPr lang="en-US" altLang="zh-CN" smtClean="0"/>
              <a:t>FT</a:t>
            </a:r>
            <a:r>
              <a:rPr lang="zh-CN" altLang="en-US" smtClean="0"/>
              <a:t>类似，</a:t>
            </a:r>
            <a:r>
              <a:rPr lang="en-US" altLang="zh-CN" smtClean="0"/>
              <a:t>DFT</a:t>
            </a:r>
            <a:r>
              <a:rPr lang="zh-CN" altLang="en-US" smtClean="0"/>
              <a:t>也有许多重要的性质。其中一些性质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本质上与</a:t>
            </a:r>
            <a:r>
              <a:rPr lang="en-US" altLang="zh-CN" smtClean="0"/>
              <a:t>FT</a:t>
            </a:r>
            <a:r>
              <a:rPr lang="zh-CN" altLang="en-US" smtClean="0"/>
              <a:t>的相应性质相同，但是某些其他性质稍微有些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差别。</a:t>
            </a:r>
          </a:p>
          <a:p>
            <a:pPr marL="876300" lvl="1" indent="-419100" eaLnBrk="1" hangingPunct="1">
              <a:buFontTx/>
              <a:buAutoNum type="circleNumDbPlain"/>
            </a:pPr>
            <a:endParaRPr lang="zh-CN" altLang="en-US" b="1" smtClean="0"/>
          </a:p>
          <a:p>
            <a:pPr marL="876300" lvl="1" indent="-419100" eaLnBrk="1" hangingPunct="1">
              <a:buFontTx/>
              <a:buAutoNum type="circleNumDbPlain"/>
            </a:pPr>
            <a:endParaRPr lang="zh-CN" altLang="en-US" b="1" smtClean="0"/>
          </a:p>
          <a:p>
            <a:pPr marL="876300" lvl="1" indent="-419100" eaLnBrk="1" hangingPunct="1">
              <a:buFontTx/>
              <a:buAutoNum type="circleNumDbPlain"/>
            </a:pPr>
            <a:endParaRPr lang="en-US" altLang="zh-CN" b="1" smtClean="0"/>
          </a:p>
          <a:p>
            <a:pPr marL="876300" lvl="1" indent="-419100" eaLnBrk="1" hangingPunct="1">
              <a:buFontTx/>
              <a:buAutoNum type="circleNumDbPlain"/>
            </a:pPr>
            <a:endParaRPr lang="zh-CN" altLang="en-US" b="1" smtClean="0"/>
          </a:p>
          <a:p>
            <a:pPr marL="876300" lvl="1" indent="-419100" eaLnBrk="1" hangingPunct="1">
              <a:buFontTx/>
              <a:buAutoNum type="circleNumDbPlain"/>
            </a:pPr>
            <a:endParaRPr lang="zh-CN" altLang="en-US" b="1" smtClean="0"/>
          </a:p>
        </p:txBody>
      </p:sp>
      <p:sp>
        <p:nvSpPr>
          <p:cNvPr id="25604" name="AutoShape 5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25605" name="Rectangle 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25606" name="Rectangl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476375" y="2636838"/>
            <a:ext cx="18684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zh-CN" altLang="en-US" b="1">
                <a:latin typeface="Arial" panose="020B0604020202020204" pitchFamily="34" charset="0"/>
              </a:rPr>
              <a:t>线性性质</a:t>
            </a:r>
            <a:r>
              <a:rPr lang="zh-CN" altLang="en-US" sz="28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5607" name="Rectangle 8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1476375" y="3141663"/>
            <a:ext cx="3063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p"/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altLang="zh-CN" b="1">
                <a:latin typeface="Arial" panose="020B0604020202020204" pitchFamily="34" charset="0"/>
              </a:rPr>
              <a:t>DFT</a:t>
            </a:r>
            <a:r>
              <a:rPr lang="zh-CN" altLang="en-US" b="1">
                <a:latin typeface="Arial" panose="020B0604020202020204" pitchFamily="34" charset="0"/>
              </a:rPr>
              <a:t>的隐含周期性</a:t>
            </a:r>
            <a:r>
              <a:rPr lang="zh-CN" altLang="en-US" sz="28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5608" name="Rectangle 9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1476375" y="3644900"/>
            <a:ext cx="24812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zh-CN" altLang="en-US" b="1">
                <a:latin typeface="Arial" panose="020B0604020202020204" pitchFamily="34" charset="0"/>
              </a:rPr>
              <a:t>循环移位性质</a:t>
            </a:r>
            <a:r>
              <a:rPr lang="zh-CN" altLang="en-US" sz="28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5609" name="Rectangle 10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1476375" y="4149725"/>
            <a:ext cx="30734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zh-CN" altLang="en-US" b="1">
                <a:latin typeface="Arial" panose="020B0604020202020204" pitchFamily="34" charset="0"/>
              </a:rPr>
              <a:t>复共轭序列的</a:t>
            </a:r>
            <a:r>
              <a:rPr lang="en-US" altLang="zh-CN" b="1">
                <a:latin typeface="Arial" panose="020B0604020202020204" pitchFamily="34" charset="0"/>
              </a:rPr>
              <a:t>DFT</a:t>
            </a:r>
            <a:r>
              <a:rPr lang="en-US" altLang="zh-CN" sz="28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5610" name="Rectangle 11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1476375" y="4652963"/>
            <a:ext cx="3063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p"/>
            </a:pPr>
            <a:r>
              <a:rPr lang="en-US" altLang="zh-CN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altLang="zh-CN" b="1">
                <a:latin typeface="Arial" panose="020B0604020202020204" pitchFamily="34" charset="0"/>
              </a:rPr>
              <a:t>DFT</a:t>
            </a:r>
            <a:r>
              <a:rPr lang="zh-CN" altLang="en-US" b="1">
                <a:latin typeface="Arial" panose="020B0604020202020204" pitchFamily="34" charset="0"/>
              </a:rPr>
              <a:t>的共轭对称性</a:t>
            </a:r>
            <a:r>
              <a:rPr lang="zh-CN" altLang="en-US" sz="28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25611" name="Text Box 15">
            <a:hlinkClick r:id="rId8" action="ppaction://hlinksldjump"/>
          </p:cNvPr>
          <p:cNvSpPr txBox="1">
            <a:spLocks noChangeArrowheads="1"/>
          </p:cNvSpPr>
          <p:nvPr/>
        </p:nvSpPr>
        <p:spPr bwMode="auto">
          <a:xfrm>
            <a:off x="1476375" y="5157788"/>
            <a:ext cx="23828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b="1">
                <a:latin typeface="Arial" panose="020B0604020202020204" pitchFamily="34" charset="0"/>
              </a:rPr>
              <a:t>  循环卷积定理</a:t>
            </a:r>
          </a:p>
        </p:txBody>
      </p:sp>
      <p:sp>
        <p:nvSpPr>
          <p:cNvPr id="25612" name="Text Box 16">
            <a:hlinkClick r:id="rId9" action="ppaction://hlinksldjump"/>
          </p:cNvPr>
          <p:cNvSpPr txBox="1">
            <a:spLocks noChangeArrowheads="1"/>
          </p:cNvSpPr>
          <p:nvPr/>
        </p:nvSpPr>
        <p:spPr bwMode="auto">
          <a:xfrm>
            <a:off x="1476375" y="5661025"/>
            <a:ext cx="29956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p"/>
            </a:pPr>
            <a:r>
              <a:rPr lang="zh-CN" altLang="en-US" b="1">
                <a:latin typeface="Arial" panose="020B0604020202020204" pitchFamily="34" charset="0"/>
              </a:rPr>
              <a:t>  离散巴塞伐尔定理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557338"/>
            <a:ext cx="7993062" cy="2736850"/>
          </a:xfrm>
        </p:spPr>
        <p:txBody>
          <a:bodyPr/>
          <a:lstStyle/>
          <a:p>
            <a:pPr marL="457200" indent="-457200" eaLnBrk="1" hangingPunct="1">
              <a:buFontTx/>
              <a:buAutoNum type="circleNumDbPlain"/>
            </a:pPr>
            <a:r>
              <a:rPr lang="zh-CN" altLang="en-US" b="1" smtClean="0"/>
              <a:t> 线性性质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  设有限长序列          的长度分别为      ，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                  ，</a:t>
            </a:r>
            <a:r>
              <a:rPr lang="en-US" altLang="zh-CN" smtClean="0"/>
              <a:t>a</a:t>
            </a:r>
            <a:r>
              <a:rPr lang="zh-CN" altLang="en-US" smtClean="0"/>
              <a:t>和</a:t>
            </a:r>
            <a:r>
              <a:rPr lang="en-US" altLang="zh-CN" smtClean="0"/>
              <a:t>b</a:t>
            </a:r>
            <a:r>
              <a:rPr lang="zh-CN" altLang="en-US" smtClean="0"/>
              <a:t>为常数。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则</a:t>
            </a:r>
          </a:p>
          <a:p>
            <a:pPr marL="457200" indent="-457200" eaLnBrk="1" hangingPunct="1">
              <a:buFontTx/>
              <a:buNone/>
            </a:pPr>
            <a:endParaRPr lang="zh-CN" altLang="en-US" smtClean="0"/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式中             ，                             。</a:t>
            </a:r>
          </a:p>
          <a:p>
            <a:pPr marL="457200" indent="-457200" eaLnBrk="1" hangingPunct="1">
              <a:buFontTx/>
              <a:buNone/>
            </a:pPr>
            <a:endParaRPr lang="zh-CN" altLang="en-US" smtClean="0"/>
          </a:p>
        </p:txBody>
      </p:sp>
      <p:graphicFrame>
        <p:nvGraphicFramePr>
          <p:cNvPr id="659460" name="Object 4"/>
          <p:cNvGraphicFramePr>
            <a:graphicFrameLocks noChangeAspect="1"/>
          </p:cNvGraphicFramePr>
          <p:nvPr/>
        </p:nvGraphicFramePr>
        <p:xfrm>
          <a:off x="2771775" y="2060575"/>
          <a:ext cx="165735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8" r:id="rId3" imgW="723586" imgH="203112" progId="Equation.DSMT4">
                  <p:embed/>
                </p:oleObj>
              </mc:Choice>
              <mc:Fallback>
                <p:oleObj r:id="rId3" imgW="723586" imgH="20311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060575"/>
                        <a:ext cx="1657350" cy="452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9462" name="Object 6"/>
          <p:cNvGraphicFramePr>
            <a:graphicFrameLocks noChangeAspect="1"/>
          </p:cNvGraphicFramePr>
          <p:nvPr/>
        </p:nvGraphicFramePr>
        <p:xfrm>
          <a:off x="6084888" y="2060575"/>
          <a:ext cx="1042987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09" r:id="rId5" imgW="457002" imgH="203112" progId="Equation.DSMT4">
                  <p:embed/>
                </p:oleObj>
              </mc:Choice>
              <mc:Fallback>
                <p:oleObj r:id="rId5" imgW="457002" imgH="203112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84888" y="2060575"/>
                        <a:ext cx="1042987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9464" name="Object 8"/>
          <p:cNvGraphicFramePr>
            <a:graphicFrameLocks noChangeAspect="1"/>
          </p:cNvGraphicFramePr>
          <p:nvPr/>
        </p:nvGraphicFramePr>
        <p:xfrm>
          <a:off x="827088" y="2492375"/>
          <a:ext cx="252095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0" r:id="rId7" imgW="1206500" imgH="203200" progId="Equation.DSMT4">
                  <p:embed/>
                </p:oleObj>
              </mc:Choice>
              <mc:Fallback>
                <p:oleObj r:id="rId7" imgW="1206500" imgH="2032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492375"/>
                        <a:ext cx="252095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9466" name="Object 10"/>
          <p:cNvGraphicFramePr>
            <a:graphicFrameLocks noChangeAspect="1"/>
          </p:cNvGraphicFramePr>
          <p:nvPr/>
        </p:nvGraphicFramePr>
        <p:xfrm>
          <a:off x="1547813" y="3284538"/>
          <a:ext cx="5616575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1" r:id="rId9" imgW="2832100" imgH="203200" progId="Equation.DSMT4">
                  <p:embed/>
                </p:oleObj>
              </mc:Choice>
              <mc:Fallback>
                <p:oleObj r:id="rId9" imgW="2832100" imgH="203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3284538"/>
                        <a:ext cx="5616575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9468" name="Object 12"/>
          <p:cNvGraphicFramePr>
            <a:graphicFrameLocks noChangeAspect="1"/>
          </p:cNvGraphicFramePr>
          <p:nvPr/>
        </p:nvGraphicFramePr>
        <p:xfrm>
          <a:off x="1258888" y="3789363"/>
          <a:ext cx="208915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2" r:id="rId11" imgW="1015559" imgH="215806" progId="Equation.DSMT4">
                  <p:embed/>
                </p:oleObj>
              </mc:Choice>
              <mc:Fallback>
                <p:oleObj r:id="rId11" imgW="1015559" imgH="215806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789363"/>
                        <a:ext cx="208915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9470" name="Object 14"/>
          <p:cNvGraphicFramePr>
            <a:graphicFrameLocks noChangeAspect="1"/>
          </p:cNvGraphicFramePr>
          <p:nvPr/>
        </p:nvGraphicFramePr>
        <p:xfrm>
          <a:off x="3348038" y="3789363"/>
          <a:ext cx="2376487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3" r:id="rId13" imgW="1206500" imgH="203200" progId="Equation.DSMT4">
                  <p:embed/>
                </p:oleObj>
              </mc:Choice>
              <mc:Fallback>
                <p:oleObj r:id="rId13" imgW="1206500" imgH="2032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789363"/>
                        <a:ext cx="2376487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9472" name="Object 16"/>
          <p:cNvGraphicFramePr>
            <a:graphicFrameLocks noChangeAspect="1"/>
          </p:cNvGraphicFramePr>
          <p:nvPr/>
        </p:nvGraphicFramePr>
        <p:xfrm>
          <a:off x="5724525" y="3789363"/>
          <a:ext cx="2339975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714" r:id="rId15" imgW="1193800" imgH="203200" progId="Equation.DSMT4">
                  <p:embed/>
                </p:oleObj>
              </mc:Choice>
              <mc:Fallback>
                <p:oleObj r:id="rId15" imgW="1193800" imgH="203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24525" y="3789363"/>
                        <a:ext cx="2339975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4" name="AutoShape 20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26635" name="Rectangle 21">
            <a:hlinkClick r:id="rId17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26636" name="AutoShape 22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26637" name="Rectangle 23">
            <a:hlinkClick r:id="rId18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594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59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5945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59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5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5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5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65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65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65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65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33191" name="Object 7"/>
          <p:cNvGraphicFramePr>
            <a:graphicFrameLocks noGrp="1" noChangeAspect="1"/>
          </p:cNvGraphicFramePr>
          <p:nvPr>
            <p:ph type="title"/>
          </p:nvPr>
        </p:nvGraphicFramePr>
        <p:xfrm>
          <a:off x="5219700" y="4078288"/>
          <a:ext cx="936625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8" name="Equation" r:id="rId3" imgW="457002" imgH="203112" progId="Equation.DSMT4">
                  <p:embed/>
                </p:oleObj>
              </mc:Choice>
              <mc:Fallback>
                <p:oleObj name="Equation" r:id="rId3" imgW="457002" imgH="203112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4078288"/>
                        <a:ext cx="936625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31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11188" y="981075"/>
            <a:ext cx="7993062" cy="4560888"/>
          </a:xfrm>
        </p:spPr>
        <p:txBody>
          <a:bodyPr/>
          <a:lstStyle/>
          <a:p>
            <a:pPr marL="381000" indent="-381000" eaLnBrk="1" hangingPunct="1">
              <a:buFontTx/>
              <a:buAutoNum type="circleNumDbPlain" startAt="2"/>
            </a:pPr>
            <a:r>
              <a:rPr lang="en-US" altLang="zh-CN" b="1" smtClean="0"/>
              <a:t>DFT</a:t>
            </a:r>
            <a:r>
              <a:rPr lang="zh-CN" altLang="en-US" b="1" smtClean="0"/>
              <a:t>的隐含周期性</a:t>
            </a:r>
            <a:r>
              <a:rPr lang="zh-CN" altLang="en-US" smtClean="0"/>
              <a:t> </a:t>
            </a:r>
          </a:p>
          <a:p>
            <a:pPr marL="381000" indent="-381000" eaLnBrk="1" hangingPunct="1">
              <a:buFontTx/>
              <a:buNone/>
            </a:pPr>
            <a:r>
              <a:rPr lang="zh-CN" altLang="en-US" smtClean="0"/>
              <a:t>在第一节中，</a:t>
            </a:r>
            <a:r>
              <a:rPr lang="en-US" altLang="zh-CN" smtClean="0"/>
              <a:t>DFT</a:t>
            </a:r>
            <a:r>
              <a:rPr lang="zh-CN" altLang="en-US" smtClean="0"/>
              <a:t>和</a:t>
            </a:r>
            <a:r>
              <a:rPr lang="en-US" altLang="zh-CN" smtClean="0"/>
              <a:t>IDFT</a:t>
            </a:r>
            <a:r>
              <a:rPr lang="zh-CN" altLang="en-US" smtClean="0"/>
              <a:t>只定义了</a:t>
            </a:r>
            <a:r>
              <a:rPr lang="en-US" altLang="zh-CN" smtClean="0"/>
              <a:t>X(k)</a:t>
            </a:r>
            <a:r>
              <a:rPr lang="zh-CN" altLang="en-US" smtClean="0"/>
              <a:t>和</a:t>
            </a:r>
            <a:r>
              <a:rPr lang="en-US" altLang="zh-CN" smtClean="0"/>
              <a:t>x(n)</a:t>
            </a:r>
            <a:r>
              <a:rPr lang="zh-CN" altLang="en-US" smtClean="0"/>
              <a:t>在变换区间上</a:t>
            </a:r>
          </a:p>
          <a:p>
            <a:pPr marL="381000" indent="-381000" eaLnBrk="1" hangingPunct="1">
              <a:buFontTx/>
              <a:buNone/>
            </a:pPr>
            <a:r>
              <a:rPr lang="zh-CN" altLang="en-US" smtClean="0"/>
              <a:t>的</a:t>
            </a:r>
            <a:r>
              <a:rPr lang="en-US" altLang="zh-CN" smtClean="0"/>
              <a:t>N</a:t>
            </a:r>
            <a:r>
              <a:rPr lang="zh-CN" altLang="en-US" smtClean="0"/>
              <a:t>个值。如果使</a:t>
            </a:r>
            <a:r>
              <a:rPr lang="en-US" altLang="zh-CN" smtClean="0"/>
              <a:t>DFT</a:t>
            </a:r>
            <a:r>
              <a:rPr lang="zh-CN" altLang="en-US" smtClean="0"/>
              <a:t>中</a:t>
            </a:r>
            <a:r>
              <a:rPr lang="en-US" altLang="zh-CN" smtClean="0"/>
              <a:t>k</a:t>
            </a:r>
            <a:r>
              <a:rPr lang="zh-CN" altLang="en-US" smtClean="0"/>
              <a:t>的取值域为</a:t>
            </a:r>
            <a:r>
              <a:rPr lang="en-US" altLang="zh-CN" smtClean="0"/>
              <a:t>[-∞</a:t>
            </a:r>
            <a:r>
              <a:rPr lang="zh-CN" altLang="en-US" smtClean="0"/>
              <a:t>，∞</a:t>
            </a:r>
            <a:r>
              <a:rPr lang="en-US" altLang="zh-CN" smtClean="0"/>
              <a:t>]</a:t>
            </a:r>
            <a:r>
              <a:rPr lang="zh-CN" altLang="en-US" smtClean="0"/>
              <a:t>，就会发现</a:t>
            </a:r>
          </a:p>
          <a:p>
            <a:pPr marL="381000" indent="-381000" eaLnBrk="1" hangingPunct="1">
              <a:buFontTx/>
              <a:buNone/>
            </a:pPr>
            <a:r>
              <a:rPr lang="en-US" altLang="zh-CN" smtClean="0"/>
              <a:t>X(k)</a:t>
            </a:r>
            <a:r>
              <a:rPr lang="zh-CN" altLang="en-US" smtClean="0"/>
              <a:t>是以</a:t>
            </a:r>
            <a:r>
              <a:rPr lang="en-US" altLang="zh-CN" smtClean="0"/>
              <a:t>N</a:t>
            </a:r>
            <a:r>
              <a:rPr lang="zh-CN" altLang="en-US" smtClean="0"/>
              <a:t>为周期的，即</a:t>
            </a:r>
          </a:p>
          <a:p>
            <a:pPr marL="381000" indent="-381000" eaLnBrk="1" hangingPunct="1">
              <a:buFontTx/>
              <a:buNone/>
            </a:pPr>
            <a:r>
              <a:rPr lang="zh-CN" altLang="en-US" smtClean="0"/>
              <a:t>                 </a:t>
            </a:r>
            <a:r>
              <a:rPr lang="en-US" altLang="zh-CN" smtClean="0"/>
              <a:t>X(k + mN) = X(k) </a:t>
            </a:r>
          </a:p>
          <a:p>
            <a:pPr marL="381000" indent="-381000" eaLnBrk="1" hangingPunct="1">
              <a:buFontTx/>
              <a:buNone/>
            </a:pPr>
            <a:r>
              <a:rPr lang="zh-CN" altLang="en-US" smtClean="0"/>
              <a:t>称</a:t>
            </a:r>
            <a:r>
              <a:rPr lang="en-US" altLang="zh-CN" smtClean="0"/>
              <a:t>X(k)</a:t>
            </a:r>
            <a:r>
              <a:rPr lang="zh-CN" altLang="en-US" smtClean="0"/>
              <a:t>的这一特性为</a:t>
            </a:r>
            <a:r>
              <a:rPr lang="en-US" altLang="zh-CN" smtClean="0"/>
              <a:t>DFT</a:t>
            </a:r>
            <a:r>
              <a:rPr lang="zh-CN" altLang="en-US" smtClean="0"/>
              <a:t>的隐含周期性。</a:t>
            </a:r>
          </a:p>
          <a:p>
            <a:pPr marL="381000" indent="-381000" eaLnBrk="1" hangingPunct="1"/>
            <a:endParaRPr lang="zh-CN" altLang="en-US" smtClean="0"/>
          </a:p>
          <a:p>
            <a:pPr marL="381000" indent="-381000" eaLnBrk="1" hangingPunct="1">
              <a:buClr>
                <a:srgbClr val="CC3300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mtClean="0"/>
              <a:t>物理意义：</a:t>
            </a:r>
            <a:r>
              <a:rPr lang="en-US" altLang="zh-CN" smtClean="0"/>
              <a:t>X(k)</a:t>
            </a:r>
            <a:r>
              <a:rPr lang="zh-CN" altLang="en-US" smtClean="0"/>
              <a:t>为     在区间      上的</a:t>
            </a:r>
            <a:r>
              <a:rPr lang="en-US" altLang="zh-CN" smtClean="0"/>
              <a:t>N</a:t>
            </a:r>
            <a:r>
              <a:rPr lang="zh-CN" altLang="en-US" smtClean="0"/>
              <a:t>点等间隔采样。             </a:t>
            </a:r>
          </a:p>
          <a:p>
            <a:pPr marL="381000" indent="-381000" eaLnBrk="1" hangingPunct="1">
              <a:buClr>
                <a:srgbClr val="CC3300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mtClean="0"/>
              <a:t>     以</a:t>
            </a:r>
            <a:r>
              <a:rPr lang="en-US" altLang="zh-CN" smtClean="0"/>
              <a:t>2</a:t>
            </a:r>
            <a:r>
              <a:rPr lang="el-GR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zh-CN" altLang="el-GR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为周期，</a:t>
            </a:r>
            <a:r>
              <a:rPr lang="el-GR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(k)</a:t>
            </a:r>
            <a:r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以</a:t>
            </a:r>
            <a:r>
              <a:rPr lang="en-US" altLang="zh-CN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zh-CN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为周期。</a:t>
            </a:r>
          </a:p>
        </p:txBody>
      </p:sp>
      <p:graphicFrame>
        <p:nvGraphicFramePr>
          <p:cNvPr id="733188" name="Object 4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042988" y="4870450"/>
          <a:ext cx="865187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89" name="Equation" r:id="rId5" imgW="482391" imgH="228501" progId="Equation.DSMT4">
                  <p:embed/>
                </p:oleObj>
              </mc:Choice>
              <mc:Fallback>
                <p:oleObj name="Equation" r:id="rId5" imgW="482391" imgH="228501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870450"/>
                        <a:ext cx="865187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3192" name="Object 8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492500" y="4149725"/>
          <a:ext cx="8636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7690" name="Equation" r:id="rId7" imgW="482391" imgH="228501" progId="Equation.DSMT4">
                  <p:embed/>
                </p:oleObj>
              </mc:Choice>
              <mc:Fallback>
                <p:oleObj name="Equation" r:id="rId7" imgW="482391" imgH="228501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4149725"/>
                        <a:ext cx="86360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4" name="AutoShape 11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27655" name="Rectangle 12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27656" name="AutoShape 13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27657" name="Rectangle 14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19" dur="80"/>
                                        <p:tgtEl>
                                          <p:spTgt spid="733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0" dur="80"/>
                                        <p:tgtEl>
                                          <p:spTgt spid="733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1" dur="80"/>
                                        <p:tgtEl>
                                          <p:spTgt spid="7331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4" dur="80"/>
                                        <p:tgtEl>
                                          <p:spTgt spid="733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5" dur="80"/>
                                        <p:tgtEl>
                                          <p:spTgt spid="733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80"/>
                                        <p:tgtEl>
                                          <p:spTgt spid="73318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733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733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33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908050"/>
            <a:ext cx="7993062" cy="4681538"/>
          </a:xfrm>
        </p:spPr>
        <p:txBody>
          <a:bodyPr/>
          <a:lstStyle/>
          <a:p>
            <a:pPr marL="457200" indent="-457200" eaLnBrk="1" hangingPunct="1">
              <a:buFontTx/>
              <a:buAutoNum type="circleNumDbPlain" startAt="3"/>
            </a:pPr>
            <a:r>
              <a:rPr lang="zh-CN" altLang="en-US" b="1" smtClean="0"/>
              <a:t>循环移位性质</a:t>
            </a:r>
          </a:p>
          <a:p>
            <a:pPr marL="457200" indent="-457200" eaLnBrk="1" hangingPunct="1">
              <a:buFontTx/>
              <a:buNone/>
            </a:pPr>
            <a:r>
              <a:rPr lang="en-US" altLang="zh-CN" smtClean="0"/>
              <a:t> ⑴ </a:t>
            </a:r>
            <a:r>
              <a:rPr lang="zh-CN" altLang="en-US" smtClean="0"/>
              <a:t>有限长序列的循环移位 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设序列</a:t>
            </a:r>
            <a:r>
              <a:rPr lang="en-US" altLang="zh-CN" smtClean="0"/>
              <a:t>x(n)</a:t>
            </a:r>
            <a:r>
              <a:rPr lang="zh-CN" altLang="en-US" smtClean="0"/>
              <a:t>的长度为</a:t>
            </a:r>
            <a:r>
              <a:rPr lang="en-US" altLang="zh-CN" smtClean="0"/>
              <a:t>M</a:t>
            </a:r>
            <a:r>
              <a:rPr lang="zh-CN" altLang="en-US" smtClean="0"/>
              <a:t>，对</a:t>
            </a:r>
            <a:r>
              <a:rPr lang="en-US" altLang="zh-CN" smtClean="0"/>
              <a:t>x(n)</a:t>
            </a:r>
            <a:r>
              <a:rPr lang="zh-CN" altLang="en-US" smtClean="0"/>
              <a:t>以</a:t>
            </a:r>
            <a:r>
              <a:rPr lang="en-US" altLang="zh-CN" smtClean="0"/>
              <a:t>N</a:t>
            </a:r>
            <a:r>
              <a:rPr lang="zh-CN" altLang="en-US" smtClean="0"/>
              <a:t>（</a:t>
            </a:r>
            <a:r>
              <a:rPr lang="en-US" altLang="zh-CN" smtClean="0"/>
              <a:t>N ≥M</a:t>
            </a:r>
            <a:r>
              <a:rPr lang="zh-CN" altLang="en-US" smtClean="0"/>
              <a:t>）为周期进行周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期延拓，得到</a:t>
            </a:r>
          </a:p>
          <a:p>
            <a:pPr marL="457200" indent="-457200" eaLnBrk="1" hangingPunct="1">
              <a:buFontTx/>
              <a:buNone/>
            </a:pPr>
            <a:endParaRPr lang="en-US" altLang="zh-CN" smtClean="0"/>
          </a:p>
          <a:p>
            <a:pPr marL="457200" indent="-457200" eaLnBrk="1" hangingPunct="1">
              <a:buFontTx/>
              <a:buNone/>
            </a:pPr>
            <a:r>
              <a:rPr lang="zh-CN" altLang="en-US" b="1" smtClean="0"/>
              <a:t>定义</a:t>
            </a:r>
            <a:r>
              <a:rPr lang="en-US" altLang="zh-CN" smtClean="0"/>
              <a:t>x(n)</a:t>
            </a:r>
            <a:r>
              <a:rPr lang="zh-CN" altLang="en-US" smtClean="0"/>
              <a:t>的循环移位序列为</a:t>
            </a:r>
          </a:p>
          <a:p>
            <a:pPr marL="457200" indent="-457200" eaLnBrk="1" hangingPunct="1">
              <a:buFontTx/>
              <a:buNone/>
            </a:pPr>
            <a:endParaRPr lang="en-US" altLang="zh-CN" smtClean="0"/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上式表示</a:t>
            </a:r>
            <a:r>
              <a:rPr lang="zh-CN" altLang="en-US" smtClean="0">
                <a:solidFill>
                  <a:srgbClr val="FF0000"/>
                </a:solidFill>
              </a:rPr>
              <a:t>将序列</a:t>
            </a:r>
            <a:r>
              <a:rPr lang="en-US" altLang="zh-CN" smtClean="0">
                <a:solidFill>
                  <a:srgbClr val="FF0000"/>
                </a:solidFill>
              </a:rPr>
              <a:t>x(n)</a:t>
            </a:r>
            <a:r>
              <a:rPr lang="zh-CN" altLang="en-US" smtClean="0">
                <a:solidFill>
                  <a:srgbClr val="FF0000"/>
                </a:solidFill>
              </a:rPr>
              <a:t>以</a:t>
            </a:r>
            <a:r>
              <a:rPr lang="en-US" altLang="zh-CN" smtClean="0">
                <a:solidFill>
                  <a:srgbClr val="FF0000"/>
                </a:solidFill>
              </a:rPr>
              <a:t>N</a:t>
            </a:r>
            <a:r>
              <a:rPr lang="zh-CN" altLang="en-US" smtClean="0">
                <a:solidFill>
                  <a:srgbClr val="FF0000"/>
                </a:solidFill>
              </a:rPr>
              <a:t>为周期进行周期延拓，再左移</a:t>
            </a:r>
            <a:r>
              <a:rPr lang="en-US" altLang="zh-CN" smtClean="0">
                <a:solidFill>
                  <a:srgbClr val="FF0000"/>
                </a:solidFill>
              </a:rPr>
              <a:t>m</a:t>
            </a:r>
            <a:r>
              <a:rPr lang="zh-CN" altLang="en-US" smtClean="0">
                <a:solidFill>
                  <a:srgbClr val="FF0000"/>
                </a:solidFill>
              </a:rPr>
              <a:t>个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>
                <a:solidFill>
                  <a:srgbClr val="FF0000"/>
                </a:solidFill>
              </a:rPr>
              <a:t>单位并取主值序列</a:t>
            </a:r>
            <a:r>
              <a:rPr lang="zh-CN" altLang="en-US" smtClean="0"/>
              <a:t>， 就得到</a:t>
            </a:r>
            <a:r>
              <a:rPr lang="en-US" altLang="zh-CN" smtClean="0"/>
              <a:t>x(n)</a:t>
            </a:r>
            <a:r>
              <a:rPr lang="zh-CN" altLang="en-US" smtClean="0"/>
              <a:t>的循环移位序列</a:t>
            </a:r>
            <a:r>
              <a:rPr lang="en-US" altLang="zh-CN" smtClean="0"/>
              <a:t>y(n)</a:t>
            </a:r>
            <a:r>
              <a:rPr lang="zh-CN" altLang="en-US" smtClean="0"/>
              <a:t>。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下图中</a:t>
            </a:r>
            <a:r>
              <a:rPr lang="en-US" altLang="zh-CN" smtClean="0"/>
              <a:t>(a)</a:t>
            </a:r>
            <a:r>
              <a:rPr lang="zh-CN" altLang="en-US" smtClean="0"/>
              <a:t>、</a:t>
            </a:r>
            <a:r>
              <a:rPr lang="en-US" altLang="zh-CN" smtClean="0"/>
              <a:t>(b)</a:t>
            </a:r>
            <a:r>
              <a:rPr lang="zh-CN" altLang="en-US" smtClean="0"/>
              <a:t>、</a:t>
            </a:r>
            <a:r>
              <a:rPr lang="en-US" altLang="zh-CN" smtClean="0"/>
              <a:t>(c)</a:t>
            </a:r>
            <a:r>
              <a:rPr lang="zh-CN" altLang="en-US" smtClean="0"/>
              <a:t>和</a:t>
            </a:r>
            <a:r>
              <a:rPr lang="en-US" altLang="zh-CN" smtClean="0"/>
              <a:t>(d)</a:t>
            </a:r>
            <a:r>
              <a:rPr lang="zh-CN" altLang="en-US" smtClean="0"/>
              <a:t>分别描述了</a:t>
            </a:r>
            <a:r>
              <a:rPr lang="en-US" altLang="zh-CN" smtClean="0"/>
              <a:t>x(n)</a:t>
            </a:r>
            <a:r>
              <a:rPr lang="zh-CN" altLang="en-US" smtClean="0"/>
              <a:t>、    、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       和</a:t>
            </a:r>
            <a:r>
              <a:rPr lang="en-US" altLang="zh-CN" smtClean="0"/>
              <a:t>y(n)</a:t>
            </a:r>
            <a:r>
              <a:rPr lang="zh-CN" altLang="en-US" smtClean="0"/>
              <a:t>。图中</a:t>
            </a:r>
            <a:r>
              <a:rPr lang="en-US" altLang="zh-CN" smtClean="0"/>
              <a:t>M=6</a:t>
            </a:r>
            <a:r>
              <a:rPr lang="zh-CN" altLang="en-US" smtClean="0"/>
              <a:t>，</a:t>
            </a:r>
            <a:r>
              <a:rPr lang="en-US" altLang="zh-CN" smtClean="0"/>
              <a:t>N=8</a:t>
            </a:r>
            <a:r>
              <a:rPr lang="zh-CN" altLang="en-US" smtClean="0"/>
              <a:t>，</a:t>
            </a:r>
            <a:r>
              <a:rPr lang="en-US" altLang="zh-CN" smtClean="0"/>
              <a:t>m=2</a:t>
            </a:r>
            <a:r>
              <a:rPr lang="zh-CN" altLang="en-US" smtClean="0"/>
              <a:t>。 </a:t>
            </a:r>
            <a:endParaRPr lang="en-US" altLang="zh-CN" smtClean="0"/>
          </a:p>
        </p:txBody>
      </p:sp>
      <p:graphicFrame>
        <p:nvGraphicFramePr>
          <p:cNvPr id="664580" name="Object 4"/>
          <p:cNvGraphicFramePr>
            <a:graphicFrameLocks noChangeAspect="1"/>
          </p:cNvGraphicFramePr>
          <p:nvPr/>
        </p:nvGraphicFramePr>
        <p:xfrm>
          <a:off x="3492500" y="2565400"/>
          <a:ext cx="2159000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3" r:id="rId3" imgW="888614" imgH="203112" progId="Equation.3">
                  <p:embed/>
                </p:oleObj>
              </mc:Choice>
              <mc:Fallback>
                <p:oleObj r:id="rId3" imgW="888614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565400"/>
                        <a:ext cx="2159000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582" name="Object 6"/>
          <p:cNvGraphicFramePr>
            <a:graphicFrameLocks noChangeAspect="1"/>
          </p:cNvGraphicFramePr>
          <p:nvPr/>
        </p:nvGraphicFramePr>
        <p:xfrm>
          <a:off x="1835150" y="3573463"/>
          <a:ext cx="5545138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4" r:id="rId5" imgW="2374900" imgH="203200" progId="Equation.3">
                  <p:embed/>
                </p:oleObj>
              </mc:Choice>
              <mc:Fallback>
                <p:oleObj r:id="rId5" imgW="2374900" imgH="203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3573463"/>
                        <a:ext cx="5545138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584" name="Object 8"/>
          <p:cNvGraphicFramePr>
            <a:graphicFrameLocks noChangeAspect="1"/>
          </p:cNvGraphicFramePr>
          <p:nvPr/>
        </p:nvGraphicFramePr>
        <p:xfrm>
          <a:off x="6659563" y="4868863"/>
          <a:ext cx="719137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5" r:id="rId7" imgW="393529" imgH="228501" progId="Equation.3">
                  <p:embed/>
                </p:oleObj>
              </mc:Choice>
              <mc:Fallback>
                <p:oleObj r:id="rId7" imgW="393529" imgH="228501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59563" y="4868863"/>
                        <a:ext cx="719137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4586" name="Object 10"/>
          <p:cNvGraphicFramePr>
            <a:graphicFrameLocks noChangeAspect="1"/>
          </p:cNvGraphicFramePr>
          <p:nvPr/>
        </p:nvGraphicFramePr>
        <p:xfrm>
          <a:off x="684213" y="5373688"/>
          <a:ext cx="11525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8726" r:id="rId9" imgW="647700" imgH="228600" progId="Equation.3">
                  <p:embed/>
                </p:oleObj>
              </mc:Choice>
              <mc:Fallback>
                <p:oleObj r:id="rId9" imgW="6477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373688"/>
                        <a:ext cx="11525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9" name="AutoShape 14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28680" name="Rectangle 15">
            <a:hlinkClick r:id="rId11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28681" name="AutoShape 16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28682" name="Rectangle 17">
            <a:hlinkClick r:id="rId12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6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6457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6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6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66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645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6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6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6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645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645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645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645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645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64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6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6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6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6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6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6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64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476250"/>
            <a:ext cx="6624638" cy="534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699" name="Text Box 5"/>
          <p:cNvSpPr txBox="1">
            <a:spLocks noChangeArrowheads="1"/>
          </p:cNvSpPr>
          <p:nvPr/>
        </p:nvSpPr>
        <p:spPr bwMode="auto">
          <a:xfrm>
            <a:off x="2771775" y="5876925"/>
            <a:ext cx="3232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latin typeface="Arial" panose="020B0604020202020204" pitchFamily="34" charset="0"/>
              </a:rPr>
              <a:t>序列的循环移位过程示意图</a:t>
            </a:r>
          </a:p>
        </p:txBody>
      </p:sp>
      <p:sp>
        <p:nvSpPr>
          <p:cNvPr id="29700" name="AutoShape 8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29701" name="Rectangle 9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29702" name="AutoShape 10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29703" name="Rectangle 11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549275"/>
            <a:ext cx="7272337" cy="5616575"/>
          </a:xfrm>
        </p:spPr>
        <p:txBody>
          <a:bodyPr/>
          <a:lstStyle/>
          <a:p>
            <a:pPr marL="457200" indent="-457200" eaLnBrk="1" hangingPunct="1">
              <a:lnSpc>
                <a:spcPct val="90000"/>
              </a:lnSpc>
            </a:pPr>
            <a:endParaRPr lang="zh-CN" altLang="en-US" smtClean="0"/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zh-CN" altLang="en-US" smtClean="0"/>
              <a:t>⑵ 循环移位性质 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zh-CN" altLang="en-US" smtClean="0"/>
              <a:t>设序列</a:t>
            </a:r>
            <a:r>
              <a:rPr lang="en-US" altLang="zh-CN" i="1" smtClean="0"/>
              <a:t>x</a:t>
            </a:r>
            <a:r>
              <a:rPr lang="en-US" altLang="zh-CN" smtClean="0"/>
              <a:t>(</a:t>
            </a:r>
            <a:r>
              <a:rPr lang="en-US" altLang="zh-CN" i="1" smtClean="0"/>
              <a:t>n</a:t>
            </a:r>
            <a:r>
              <a:rPr lang="en-US" altLang="zh-CN" smtClean="0"/>
              <a:t>)</a:t>
            </a:r>
            <a:r>
              <a:rPr lang="zh-CN" altLang="en-US" smtClean="0"/>
              <a:t>长度为</a:t>
            </a:r>
            <a:r>
              <a:rPr lang="en-US" altLang="zh-CN" i="1" smtClean="0"/>
              <a:t>M</a:t>
            </a:r>
            <a:r>
              <a:rPr lang="zh-CN" altLang="en-US" smtClean="0"/>
              <a:t>，</a:t>
            </a:r>
            <a:r>
              <a:rPr lang="en-US" altLang="zh-CN" i="1" smtClean="0"/>
              <a:t>x</a:t>
            </a:r>
            <a:r>
              <a:rPr lang="en-US" altLang="zh-CN" smtClean="0"/>
              <a:t>(</a:t>
            </a:r>
            <a:r>
              <a:rPr lang="en-US" altLang="zh-CN" i="1" smtClean="0"/>
              <a:t>n</a:t>
            </a:r>
            <a:r>
              <a:rPr lang="en-US" altLang="zh-CN" smtClean="0"/>
              <a:t>)</a:t>
            </a:r>
            <a:r>
              <a:rPr lang="zh-CN" altLang="en-US" smtClean="0"/>
              <a:t>的循环移位序列为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zh-CN" altLang="en-US" smtClean="0"/>
              <a:t>                              ，   </a:t>
            </a:r>
            <a:r>
              <a:rPr lang="en-US" altLang="zh-CN" i="1" smtClean="0"/>
              <a:t>N </a:t>
            </a:r>
            <a:r>
              <a:rPr lang="en-US" altLang="zh-CN" smtClean="0"/>
              <a:t>≥</a:t>
            </a:r>
            <a:r>
              <a:rPr lang="en-US" altLang="zh-CN" i="1" smtClean="0"/>
              <a:t>M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zh-CN" altLang="en-US" i="1" smtClean="0"/>
              <a:t>则</a:t>
            </a:r>
            <a:r>
              <a:rPr lang="zh-CN" altLang="en-US" smtClean="0"/>
              <a:t> 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endParaRPr lang="zh-CN" altLang="en-US" smtClean="0"/>
          </a:p>
          <a:p>
            <a:pPr marL="457200" indent="-457200" eaLnBrk="1" hangingPunct="1">
              <a:lnSpc>
                <a:spcPct val="90000"/>
              </a:lnSpc>
              <a:buFontTx/>
              <a:buAutoNum type="circleNumDbPlain" startAt="4"/>
            </a:pPr>
            <a:r>
              <a:rPr lang="zh-CN" altLang="en-US" b="1" smtClean="0"/>
              <a:t>复共轭序列的</a:t>
            </a:r>
            <a:r>
              <a:rPr lang="en-US" altLang="zh-CN" b="1" smtClean="0"/>
              <a:t>DFT</a:t>
            </a:r>
            <a:r>
              <a:rPr lang="en-US" altLang="zh-CN" smtClean="0"/>
              <a:t> 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zh-CN" altLang="en-US" smtClean="0"/>
              <a:t>假设用    表示</a:t>
            </a:r>
            <a:r>
              <a:rPr lang="en-US" altLang="zh-CN" i="1" smtClean="0"/>
              <a:t>x</a:t>
            </a:r>
            <a:r>
              <a:rPr lang="en-US" altLang="zh-CN" smtClean="0"/>
              <a:t>(</a:t>
            </a:r>
            <a:r>
              <a:rPr lang="en-US" altLang="zh-CN" i="1" smtClean="0"/>
              <a:t>n</a:t>
            </a:r>
            <a:r>
              <a:rPr lang="en-US" altLang="zh-CN" smtClean="0"/>
              <a:t>)</a:t>
            </a:r>
            <a:r>
              <a:rPr lang="zh-CN" altLang="en-US" smtClean="0"/>
              <a:t>的复共轭序列，长度为</a:t>
            </a:r>
            <a:r>
              <a:rPr lang="en-US" altLang="zh-CN" i="1" smtClean="0"/>
              <a:t>N</a:t>
            </a:r>
            <a:r>
              <a:rPr lang="zh-CN" altLang="en-US" smtClean="0"/>
              <a:t>，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zh-CN" altLang="en-US" smtClean="0"/>
              <a:t>且               ，则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zh-CN" altLang="en-US" smtClean="0"/>
              <a:t>                         ，   </a:t>
            </a:r>
            <a:r>
              <a:rPr lang="en-US" altLang="zh-CN" i="1" smtClean="0"/>
              <a:t>k</a:t>
            </a:r>
            <a:r>
              <a:rPr lang="en-US" altLang="zh-CN" smtClean="0"/>
              <a:t>=0,1,2,…,</a:t>
            </a:r>
            <a:r>
              <a:rPr lang="en-US" altLang="zh-CN" i="1" smtClean="0"/>
              <a:t>N-</a:t>
            </a:r>
            <a:r>
              <a:rPr lang="en-US" altLang="zh-CN" smtClean="0"/>
              <a:t>1 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zh-CN" altLang="en-US" smtClean="0"/>
              <a:t>式中，          。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endParaRPr lang="zh-CN" altLang="en-US" smtClean="0"/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r>
              <a:rPr lang="zh-CN" altLang="en-US" smtClean="0"/>
              <a:t>同样：</a:t>
            </a:r>
          </a:p>
          <a:p>
            <a:pPr marL="457200" indent="-457200" eaLnBrk="1" hangingPunct="1">
              <a:lnSpc>
                <a:spcPct val="90000"/>
              </a:lnSpc>
              <a:buFontTx/>
              <a:buNone/>
            </a:pPr>
            <a:endParaRPr lang="zh-CN" altLang="en-US" smtClean="0"/>
          </a:p>
        </p:txBody>
      </p:sp>
      <p:sp>
        <p:nvSpPr>
          <p:cNvPr id="30723" name="Rectangle 5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60484" name="Object 4"/>
          <p:cNvGraphicFramePr>
            <a:graphicFrameLocks noChangeAspect="1"/>
          </p:cNvGraphicFramePr>
          <p:nvPr/>
        </p:nvGraphicFramePr>
        <p:xfrm>
          <a:off x="2484438" y="1773238"/>
          <a:ext cx="2871787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0" r:id="rId3" imgW="1384300" imgH="203200" progId="Equation.3">
                  <p:embed/>
                </p:oleObj>
              </mc:Choice>
              <mc:Fallback>
                <p:oleObj r:id="rId3" imgW="1384300" imgH="203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1773238"/>
                        <a:ext cx="2871787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5" name="Rectangle 7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60486" name="Object 6"/>
          <p:cNvGraphicFramePr>
            <a:graphicFrameLocks noChangeAspect="1"/>
          </p:cNvGraphicFramePr>
          <p:nvPr/>
        </p:nvGraphicFramePr>
        <p:xfrm>
          <a:off x="2771775" y="2420938"/>
          <a:ext cx="36417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1" r:id="rId5" imgW="1803400" imgH="215900" progId="Equation.3">
                  <p:embed/>
                </p:oleObj>
              </mc:Choice>
              <mc:Fallback>
                <p:oleObj r:id="rId5" imgW="1803400" imgH="215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420938"/>
                        <a:ext cx="3641725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7" name="Rectangle 9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60488" name="Object 8"/>
          <p:cNvGraphicFramePr>
            <a:graphicFrameLocks noChangeAspect="1"/>
          </p:cNvGraphicFramePr>
          <p:nvPr/>
        </p:nvGraphicFramePr>
        <p:xfrm>
          <a:off x="1979613" y="3357563"/>
          <a:ext cx="701675" cy="474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2" r:id="rId7" imgW="330057" imgH="215806" progId="Equation.3">
                  <p:embed/>
                </p:oleObj>
              </mc:Choice>
              <mc:Fallback>
                <p:oleObj r:id="rId7" imgW="330057" imgH="21580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357563"/>
                        <a:ext cx="701675" cy="474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29" name="Rectangle 11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60490" name="Object 10"/>
          <p:cNvGraphicFramePr>
            <a:graphicFrameLocks noChangeAspect="1"/>
          </p:cNvGraphicFramePr>
          <p:nvPr/>
        </p:nvGraphicFramePr>
        <p:xfrm>
          <a:off x="1476375" y="3789363"/>
          <a:ext cx="22415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3" r:id="rId9" imgW="1091726" imgH="203112" progId="Equation.3">
                  <p:embed/>
                </p:oleObj>
              </mc:Choice>
              <mc:Fallback>
                <p:oleObj r:id="rId9" imgW="1091726" imgH="203112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789363"/>
                        <a:ext cx="224155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1" name="Rectangle 13"/>
          <p:cNvSpPr>
            <a:spLocks noChangeArrowheads="1"/>
          </p:cNvSpPr>
          <p:nvPr/>
        </p:nvSpPr>
        <p:spPr bwMode="auto">
          <a:xfrm>
            <a:off x="0" y="33194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60492" name="Object 12"/>
          <p:cNvGraphicFramePr>
            <a:graphicFrameLocks noChangeAspect="1"/>
          </p:cNvGraphicFramePr>
          <p:nvPr/>
        </p:nvGraphicFramePr>
        <p:xfrm>
          <a:off x="2124075" y="4149725"/>
          <a:ext cx="2736850" cy="452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4" r:id="rId11" imgW="1358310" imgH="215806" progId="Equation.3">
                  <p:embed/>
                </p:oleObj>
              </mc:Choice>
              <mc:Fallback>
                <p:oleObj r:id="rId11" imgW="1358310" imgH="215806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149725"/>
                        <a:ext cx="2736850" cy="452438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20000"/>
                        </a:scheme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3" name="Rectangle 15"/>
          <p:cNvSpPr>
            <a:spLocks noChangeArrowheads="1"/>
          </p:cNvSpPr>
          <p:nvPr/>
        </p:nvSpPr>
        <p:spPr bwMode="auto">
          <a:xfrm>
            <a:off x="0" y="33337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60494" name="Object 14"/>
          <p:cNvGraphicFramePr>
            <a:graphicFrameLocks noChangeAspect="1"/>
          </p:cNvGraphicFramePr>
          <p:nvPr/>
        </p:nvGraphicFramePr>
        <p:xfrm>
          <a:off x="1908175" y="4581525"/>
          <a:ext cx="16097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5" r:id="rId13" imgW="774364" imgH="190417" progId="Equation.3">
                  <p:embed/>
                </p:oleObj>
              </mc:Choice>
              <mc:Fallback>
                <p:oleObj r:id="rId13" imgW="774364" imgH="190417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4581525"/>
                        <a:ext cx="16097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0504" name="Object 24"/>
          <p:cNvGraphicFramePr>
            <a:graphicFrameLocks noChangeAspect="1"/>
          </p:cNvGraphicFramePr>
          <p:nvPr/>
        </p:nvGraphicFramePr>
        <p:xfrm>
          <a:off x="2627313" y="5373688"/>
          <a:ext cx="4176712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16" name="Equation" r:id="rId15" imgW="1651000" imgH="241300" progId="Equation.DSMT4">
                  <p:embed/>
                </p:oleObj>
              </mc:Choice>
              <mc:Fallback>
                <p:oleObj name="Equation" r:id="rId15" imgW="1651000" imgH="241300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373688"/>
                        <a:ext cx="4176712" cy="447675"/>
                      </a:xfrm>
                      <a:prstGeom prst="rect">
                        <a:avLst/>
                      </a:prstGeom>
                      <a:solidFill>
                        <a:schemeClr val="accent1">
                          <a:alpha val="20000"/>
                        </a:scheme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36" name="AutoShape 25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30737" name="Rectangle 26">
            <a:hlinkClick r:id="rId17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30738" name="AutoShape 27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30739" name="Rectangle 28">
            <a:hlinkClick r:id="rId18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6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6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6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6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6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6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6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6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604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604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604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604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604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604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604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604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604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9" dur="500"/>
                                        <p:tgtEl>
                                          <p:spTgt spid="6604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6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6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6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604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6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6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6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604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6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6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6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604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6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6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6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604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6604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6604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6604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6604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6604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6604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6604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6604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66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0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9" dur="500"/>
                                        <p:tgtEl>
                                          <p:spTgt spid="66048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692150"/>
            <a:ext cx="7993063" cy="5472113"/>
          </a:xfrm>
        </p:spPr>
        <p:txBody>
          <a:bodyPr/>
          <a:lstStyle/>
          <a:p>
            <a:pPr marL="457200" indent="-457200" eaLnBrk="1" hangingPunct="1">
              <a:buFontTx/>
              <a:buAutoNum type="circleNumDbPlain" startAt="5"/>
            </a:pPr>
            <a:r>
              <a:rPr lang="en-US" altLang="zh-CN" b="1" smtClean="0"/>
              <a:t>DFT</a:t>
            </a:r>
            <a:r>
              <a:rPr lang="zh-CN" altLang="en-US" b="1" smtClean="0"/>
              <a:t>的共轭对称性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上一章介绍了序列</a:t>
            </a:r>
            <a:r>
              <a:rPr lang="en-US" altLang="zh-CN" smtClean="0"/>
              <a:t>FT</a:t>
            </a:r>
            <a:r>
              <a:rPr lang="zh-CN" altLang="en-US" smtClean="0"/>
              <a:t>的共轭对称性，</a:t>
            </a:r>
            <a:r>
              <a:rPr lang="en-US" altLang="zh-CN" smtClean="0"/>
              <a:t>DFT</a:t>
            </a:r>
            <a:r>
              <a:rPr lang="zh-CN" altLang="en-US" smtClean="0"/>
              <a:t>也有类似的共轭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对称性质。但</a:t>
            </a:r>
            <a:r>
              <a:rPr lang="en-US" altLang="zh-CN" smtClean="0">
                <a:solidFill>
                  <a:srgbClr val="CC3300"/>
                </a:solidFill>
              </a:rPr>
              <a:t>FT</a:t>
            </a:r>
            <a:r>
              <a:rPr lang="zh-CN" altLang="en-US" smtClean="0">
                <a:solidFill>
                  <a:srgbClr val="CC3300"/>
                </a:solidFill>
              </a:rPr>
              <a:t>中的共轭对称是指对坐标原点的共轭对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>
                <a:solidFill>
                  <a:srgbClr val="CC3300"/>
                </a:solidFill>
              </a:rPr>
              <a:t>称，在</a:t>
            </a:r>
            <a:r>
              <a:rPr lang="en-US" altLang="zh-CN" smtClean="0">
                <a:solidFill>
                  <a:srgbClr val="CC3300"/>
                </a:solidFill>
              </a:rPr>
              <a:t>DFT</a:t>
            </a:r>
            <a:r>
              <a:rPr lang="zh-CN" altLang="en-US" smtClean="0">
                <a:solidFill>
                  <a:srgbClr val="CC3300"/>
                </a:solidFill>
              </a:rPr>
              <a:t>中指的是对变换区间的中心，即</a:t>
            </a:r>
            <a:r>
              <a:rPr lang="en-US" altLang="zh-CN" smtClean="0">
                <a:solidFill>
                  <a:srgbClr val="CC3300"/>
                </a:solidFill>
              </a:rPr>
              <a:t>N/2</a:t>
            </a:r>
            <a:r>
              <a:rPr lang="zh-CN" altLang="en-US" smtClean="0">
                <a:solidFill>
                  <a:srgbClr val="CC3300"/>
                </a:solidFill>
              </a:rPr>
              <a:t>点的共轭对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>
                <a:solidFill>
                  <a:srgbClr val="CC3300"/>
                </a:solidFill>
              </a:rPr>
              <a:t>称。</a:t>
            </a:r>
            <a:r>
              <a:rPr lang="zh-CN" altLang="en-US" smtClean="0"/>
              <a:t> </a:t>
            </a:r>
          </a:p>
          <a:p>
            <a:pPr marL="457200" indent="-457200" eaLnBrk="1" hangingPunct="1">
              <a:buFontTx/>
              <a:buNone/>
            </a:pPr>
            <a:r>
              <a:rPr lang="en-US" altLang="zh-CN" smtClean="0"/>
              <a:t>⑴ </a:t>
            </a:r>
            <a:r>
              <a:rPr lang="zh-CN" altLang="en-US" smtClean="0"/>
              <a:t>有限长共轭对称序列和共轭反对称序列 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假设有限长序列    满足下式</a:t>
            </a:r>
          </a:p>
          <a:p>
            <a:pPr marL="457200" indent="-457200" eaLnBrk="1" hangingPunct="1">
              <a:buFontTx/>
              <a:buNone/>
            </a:pPr>
            <a:r>
              <a:rPr lang="en-US" altLang="zh-CN" i="1" smtClean="0"/>
              <a:t>                      </a:t>
            </a:r>
            <a:r>
              <a:rPr lang="zh-CN" altLang="en-US" smtClean="0"/>
              <a:t>，      </a:t>
            </a:r>
            <a:r>
              <a:rPr lang="en-US" altLang="zh-CN" smtClean="0"/>
              <a:t>n=0,1,2,…,N-1 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则称    为</a:t>
            </a:r>
            <a:r>
              <a:rPr lang="zh-CN" altLang="en-US" b="1" i="1" smtClean="0">
                <a:solidFill>
                  <a:srgbClr val="CC3300"/>
                </a:solidFill>
              </a:rPr>
              <a:t>共轭对称序列</a:t>
            </a:r>
            <a:r>
              <a:rPr lang="zh-CN" altLang="en-US" smtClean="0"/>
              <a:t>。 </a:t>
            </a:r>
            <a:endParaRPr lang="en-US" altLang="zh-CN" smtClean="0"/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假设有限长序列    满足下式</a:t>
            </a:r>
          </a:p>
          <a:p>
            <a:pPr marL="457200" indent="-457200" eaLnBrk="1" hangingPunct="1">
              <a:buFontTx/>
              <a:buNone/>
            </a:pPr>
            <a:r>
              <a:rPr lang="en-US" altLang="zh-CN" i="1" smtClean="0"/>
              <a:t>                      </a:t>
            </a:r>
            <a:r>
              <a:rPr lang="zh-CN" altLang="en-US" smtClean="0"/>
              <a:t>，      </a:t>
            </a:r>
            <a:r>
              <a:rPr lang="en-US" altLang="zh-CN" smtClean="0"/>
              <a:t>n=0,1,2,…,N-1 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则称其为</a:t>
            </a:r>
            <a:r>
              <a:rPr lang="zh-CN" altLang="en-US" b="1" i="1" smtClean="0">
                <a:solidFill>
                  <a:srgbClr val="CC3300"/>
                </a:solidFill>
              </a:rPr>
              <a:t>共轭反对称序列</a:t>
            </a:r>
            <a:r>
              <a:rPr lang="zh-CN" altLang="en-US" smtClean="0"/>
              <a:t>。 </a:t>
            </a:r>
            <a:endParaRPr lang="en-US" altLang="zh-CN" smtClean="0"/>
          </a:p>
        </p:txBody>
      </p:sp>
      <p:graphicFrame>
        <p:nvGraphicFramePr>
          <p:cNvPr id="662532" name="Object 4"/>
          <p:cNvGraphicFramePr>
            <a:graphicFrameLocks noChangeAspect="1"/>
          </p:cNvGraphicFramePr>
          <p:nvPr/>
        </p:nvGraphicFramePr>
        <p:xfrm>
          <a:off x="2916238" y="3357563"/>
          <a:ext cx="719137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8" r:id="rId3" imgW="368300" imgH="228600" progId="Equation.3">
                  <p:embed/>
                </p:oleObj>
              </mc:Choice>
              <mc:Fallback>
                <p:oleObj r:id="rId3" imgW="3683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357563"/>
                        <a:ext cx="719137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2534" name="Object 6"/>
          <p:cNvGraphicFramePr>
            <a:graphicFrameLocks noChangeAspect="1"/>
          </p:cNvGraphicFramePr>
          <p:nvPr/>
        </p:nvGraphicFramePr>
        <p:xfrm>
          <a:off x="2051050" y="3787775"/>
          <a:ext cx="2160588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09" r:id="rId5" imgW="1054100" imgH="241300" progId="Equation.3">
                  <p:embed/>
                </p:oleObj>
              </mc:Choice>
              <mc:Fallback>
                <p:oleObj r:id="rId5" imgW="10541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3787775"/>
                        <a:ext cx="2160588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2536" name="Object 8"/>
          <p:cNvGraphicFramePr>
            <a:graphicFrameLocks noChangeAspect="1"/>
          </p:cNvGraphicFramePr>
          <p:nvPr/>
        </p:nvGraphicFramePr>
        <p:xfrm>
          <a:off x="1403350" y="4219575"/>
          <a:ext cx="719138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0" r:id="rId7" imgW="368300" imgH="228600" progId="Equation.3">
                  <p:embed/>
                </p:oleObj>
              </mc:Choice>
              <mc:Fallback>
                <p:oleObj r:id="rId7" imgW="3683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4219575"/>
                        <a:ext cx="719138" cy="442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0" name="Rectangle 10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62537" name="Object 9"/>
          <p:cNvGraphicFramePr>
            <a:graphicFrameLocks noChangeAspect="1"/>
          </p:cNvGraphicFramePr>
          <p:nvPr/>
        </p:nvGraphicFramePr>
        <p:xfrm>
          <a:off x="2916238" y="4652963"/>
          <a:ext cx="720725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1" r:id="rId8" imgW="368300" imgH="228600" progId="Equation.3">
                  <p:embed/>
                </p:oleObj>
              </mc:Choice>
              <mc:Fallback>
                <p:oleObj r:id="rId8" imgW="3683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652963"/>
                        <a:ext cx="720725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2" name="Rectangle 12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62539" name="Object 11"/>
          <p:cNvGraphicFramePr>
            <a:graphicFrameLocks noChangeAspect="1"/>
          </p:cNvGraphicFramePr>
          <p:nvPr/>
        </p:nvGraphicFramePr>
        <p:xfrm>
          <a:off x="1908175" y="5056188"/>
          <a:ext cx="2446338" cy="490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812" r:id="rId10" imgW="1193800" imgH="241300" progId="Equation.3">
                  <p:embed/>
                </p:oleObj>
              </mc:Choice>
              <mc:Fallback>
                <p:oleObj r:id="rId10" imgW="1193800" imgH="2413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056188"/>
                        <a:ext cx="2446338" cy="490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4" name="AutoShape 15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31755" name="Rectangle 16">
            <a:hlinkClick r:id="rId12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31756" name="AutoShape 17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31757" name="Rectangle 18">
            <a:hlinkClick r:id="rId13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6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625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625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1" dur="80"/>
                                        <p:tgtEl>
                                          <p:spTgt spid="66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2" dur="80"/>
                                        <p:tgtEl>
                                          <p:spTgt spid="66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80"/>
                                        <p:tgtEl>
                                          <p:spTgt spid="66253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25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6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625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6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6253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625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625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62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62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625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625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66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6625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6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625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66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662531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625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6625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6625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6625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268413"/>
            <a:ext cx="7632700" cy="4267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任一有限长序列</a:t>
            </a:r>
            <a:r>
              <a:rPr lang="en-US" altLang="zh-CN" smtClean="0"/>
              <a:t>x(n)</a:t>
            </a:r>
            <a:r>
              <a:rPr lang="zh-CN" altLang="en-US" smtClean="0"/>
              <a:t>都可以用它的共轭对称分量和共轭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反对称分量之和表示，即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将上式中的</a:t>
            </a:r>
            <a:r>
              <a:rPr lang="en-US" altLang="zh-CN" smtClean="0"/>
              <a:t>n</a:t>
            </a:r>
            <a:r>
              <a:rPr lang="zh-CN" altLang="en-US" smtClean="0"/>
              <a:t>用</a:t>
            </a:r>
            <a:r>
              <a:rPr lang="en-US" altLang="zh-CN" smtClean="0"/>
              <a:t>N-n</a:t>
            </a:r>
            <a:r>
              <a:rPr lang="zh-CN" altLang="en-US" smtClean="0"/>
              <a:t>代替，并两边取共轭，得到 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由上面两式得到    和    与原序列</a:t>
            </a:r>
            <a:r>
              <a:rPr lang="en-US" altLang="zh-CN" smtClean="0"/>
              <a:t>x(n)</a:t>
            </a:r>
            <a:r>
              <a:rPr lang="zh-CN" altLang="en-US" smtClean="0"/>
              <a:t>的关系为 </a:t>
            </a:r>
          </a:p>
        </p:txBody>
      </p:sp>
      <p:graphicFrame>
        <p:nvGraphicFramePr>
          <p:cNvPr id="32771" name="Object 4"/>
          <p:cNvGraphicFramePr>
            <a:graphicFrameLocks noChangeAspect="1"/>
          </p:cNvGraphicFramePr>
          <p:nvPr/>
        </p:nvGraphicFramePr>
        <p:xfrm>
          <a:off x="2914650" y="2132013"/>
          <a:ext cx="2665413" cy="515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2" r:id="rId3" imgW="1181100" imgH="228600" progId="Equation.3">
                  <p:embed/>
                </p:oleObj>
              </mc:Choice>
              <mc:Fallback>
                <p:oleObj r:id="rId3" imgW="118110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4650" y="2132013"/>
                        <a:ext cx="2665413" cy="515937"/>
                      </a:xfrm>
                      <a:prstGeom prst="rect">
                        <a:avLst/>
                      </a:prstGeom>
                      <a:solidFill>
                        <a:srgbClr val="FF0000">
                          <a:alpha val="20000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558" name="Object 6"/>
          <p:cNvGraphicFramePr>
            <a:graphicFrameLocks noChangeAspect="1"/>
          </p:cNvGraphicFramePr>
          <p:nvPr/>
        </p:nvGraphicFramePr>
        <p:xfrm>
          <a:off x="1547813" y="2997200"/>
          <a:ext cx="61214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3" r:id="rId5" imgW="2844800" imgH="241300" progId="Equation.3">
                  <p:embed/>
                </p:oleObj>
              </mc:Choice>
              <mc:Fallback>
                <p:oleObj r:id="rId5" imgW="2844800" imgH="241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2997200"/>
                        <a:ext cx="61214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560" name="Object 8"/>
          <p:cNvGraphicFramePr>
            <a:graphicFrameLocks noChangeAspect="1"/>
          </p:cNvGraphicFramePr>
          <p:nvPr/>
        </p:nvGraphicFramePr>
        <p:xfrm>
          <a:off x="2987675" y="3500438"/>
          <a:ext cx="719138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4" r:id="rId7" imgW="368300" imgH="228600" progId="Equation.3">
                  <p:embed/>
                </p:oleObj>
              </mc:Choice>
              <mc:Fallback>
                <p:oleObj r:id="rId7" imgW="3683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3500438"/>
                        <a:ext cx="719138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561" name="Object 9"/>
          <p:cNvGraphicFramePr>
            <a:graphicFrameLocks noChangeAspect="1"/>
          </p:cNvGraphicFramePr>
          <p:nvPr/>
        </p:nvGraphicFramePr>
        <p:xfrm>
          <a:off x="3922713" y="3500438"/>
          <a:ext cx="720725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5" r:id="rId9" imgW="368300" imgH="228600" progId="Equation.3">
                  <p:embed/>
                </p:oleObj>
              </mc:Choice>
              <mc:Fallback>
                <p:oleObj r:id="rId9" imgW="368300" imgH="2286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2713" y="3500438"/>
                        <a:ext cx="720725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562" name="Object 10"/>
          <p:cNvGraphicFramePr>
            <a:graphicFrameLocks noChangeAspect="1"/>
          </p:cNvGraphicFramePr>
          <p:nvPr/>
        </p:nvGraphicFramePr>
        <p:xfrm>
          <a:off x="2700338" y="4005263"/>
          <a:ext cx="3167062" cy="7191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6" r:id="rId11" imgW="1548728" imgH="355446" progId="Equation.3">
                  <p:embed/>
                </p:oleObj>
              </mc:Choice>
              <mc:Fallback>
                <p:oleObj r:id="rId11" imgW="1548728" imgH="355446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005263"/>
                        <a:ext cx="3167062" cy="7191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3564" name="Object 12"/>
          <p:cNvGraphicFramePr>
            <a:graphicFrameLocks noChangeAspect="1"/>
          </p:cNvGraphicFramePr>
          <p:nvPr/>
        </p:nvGraphicFramePr>
        <p:xfrm>
          <a:off x="2700338" y="4724400"/>
          <a:ext cx="3240087" cy="730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847" r:id="rId13" imgW="1562100" imgH="355600" progId="Equation.3">
                  <p:embed/>
                </p:oleObj>
              </mc:Choice>
              <mc:Fallback>
                <p:oleObj r:id="rId13" imgW="1562100" imgH="3556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4724400"/>
                        <a:ext cx="3240087" cy="730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3568" name="AutoShape 16"/>
          <p:cNvSpPr>
            <a:spLocks noChangeArrowheads="1"/>
          </p:cNvSpPr>
          <p:nvPr/>
        </p:nvSpPr>
        <p:spPr bwMode="auto">
          <a:xfrm>
            <a:off x="2484438" y="4005263"/>
            <a:ext cx="3600450" cy="1439862"/>
          </a:xfrm>
          <a:prstGeom prst="roundRect">
            <a:avLst>
              <a:gd name="adj" fmla="val 16667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2778" name="AutoShape 17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32779" name="Rectangle 18">
            <a:hlinkClick r:id="rId15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32780" name="AutoShape 19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32781" name="Rectangle 20">
            <a:hlinkClick r:id="rId16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35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6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6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6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6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635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635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635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635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635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635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635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63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63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635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635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635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635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635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635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635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635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635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635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635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635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981075"/>
            <a:ext cx="7848600" cy="51847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mtClean="0"/>
              <a:t>⑵ DFT</a:t>
            </a:r>
            <a:r>
              <a:rPr lang="zh-CN" altLang="en-US" smtClean="0"/>
              <a:t>的共轭对称性质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假设序列</a:t>
            </a:r>
            <a:r>
              <a:rPr lang="en-US" altLang="zh-CN" smtClean="0"/>
              <a:t>x(n)</a:t>
            </a:r>
            <a:r>
              <a:rPr lang="zh-CN" altLang="en-US" smtClean="0"/>
              <a:t>长度为</a:t>
            </a:r>
            <a:r>
              <a:rPr lang="en-US" altLang="zh-CN" smtClean="0"/>
              <a:t>N</a:t>
            </a:r>
            <a:r>
              <a:rPr lang="zh-CN" altLang="en-US" smtClean="0"/>
              <a:t>，其</a:t>
            </a:r>
            <a:r>
              <a:rPr lang="en-US" altLang="zh-CN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用</a:t>
            </a:r>
            <a:r>
              <a:rPr lang="en-US" altLang="zh-CN" smtClean="0"/>
              <a:t>X(k)</a:t>
            </a:r>
            <a:r>
              <a:rPr lang="zh-CN" altLang="en-US" smtClean="0"/>
              <a:t>表示。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① </a:t>
            </a:r>
            <a:r>
              <a:rPr lang="zh-CN" altLang="en-US" smtClean="0"/>
              <a:t>将序列</a:t>
            </a:r>
            <a:r>
              <a:rPr lang="en-US" altLang="zh-CN" smtClean="0"/>
              <a:t>x(n)</a:t>
            </a:r>
            <a:r>
              <a:rPr lang="zh-CN" altLang="en-US" smtClean="0"/>
              <a:t>分成实部和虚部，相应</a:t>
            </a:r>
            <a:r>
              <a:rPr lang="en-US" altLang="zh-CN" smtClean="0"/>
              <a:t>x(n)</a:t>
            </a:r>
            <a:r>
              <a:rPr lang="zh-CN" altLang="en-US" smtClean="0"/>
              <a:t>的</a:t>
            </a:r>
            <a:r>
              <a:rPr lang="en-US" altLang="zh-CN" smtClean="0"/>
              <a:t>DFT</a:t>
            </a:r>
            <a:r>
              <a:rPr lang="zh-CN" altLang="en-US" smtClean="0"/>
              <a:t>分成共轭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对称和共轭反对称两部分。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即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式中，                       ，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则 </a:t>
            </a:r>
            <a:endParaRPr lang="en-US" altLang="zh-CN" smtClean="0"/>
          </a:p>
        </p:txBody>
      </p:sp>
      <p:graphicFrame>
        <p:nvGraphicFramePr>
          <p:cNvPr id="665604" name="Object 4"/>
          <p:cNvGraphicFramePr>
            <a:graphicFrameLocks noChangeAspect="1"/>
          </p:cNvGraphicFramePr>
          <p:nvPr/>
        </p:nvGraphicFramePr>
        <p:xfrm>
          <a:off x="3059113" y="2781300"/>
          <a:ext cx="2808287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4" r:id="rId3" imgW="1320227" imgH="418918" progId="Equation.3">
                  <p:embed/>
                </p:oleObj>
              </mc:Choice>
              <mc:Fallback>
                <p:oleObj r:id="rId3" imgW="1320227" imgH="41891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781300"/>
                        <a:ext cx="2808287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06" name="Object 6"/>
          <p:cNvGraphicFramePr>
            <a:graphicFrameLocks noChangeAspect="1"/>
          </p:cNvGraphicFramePr>
          <p:nvPr/>
        </p:nvGraphicFramePr>
        <p:xfrm>
          <a:off x="1692275" y="3646488"/>
          <a:ext cx="3744913" cy="398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5" r:id="rId5" imgW="1879600" imgH="203200" progId="Equation.3">
                  <p:embed/>
                </p:oleObj>
              </mc:Choice>
              <mc:Fallback>
                <p:oleObj r:id="rId5" imgW="1879600" imgH="203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646488"/>
                        <a:ext cx="3744913" cy="398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08" name="Object 8"/>
          <p:cNvGraphicFramePr>
            <a:graphicFrameLocks noChangeAspect="1"/>
          </p:cNvGraphicFramePr>
          <p:nvPr/>
        </p:nvGraphicFramePr>
        <p:xfrm>
          <a:off x="3203575" y="4221163"/>
          <a:ext cx="2520950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6" r:id="rId7" imgW="1219200" imgH="228600" progId="Equation.3">
                  <p:embed/>
                </p:oleObj>
              </mc:Choice>
              <mc:Fallback>
                <p:oleObj r:id="rId7" imgW="12192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4221163"/>
                        <a:ext cx="2520950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5610" name="Object 10"/>
          <p:cNvGraphicFramePr>
            <a:graphicFrameLocks noChangeAspect="1"/>
          </p:cNvGraphicFramePr>
          <p:nvPr/>
        </p:nvGraphicFramePr>
        <p:xfrm>
          <a:off x="3203575" y="4724400"/>
          <a:ext cx="2520950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847" r:id="rId9" imgW="1270000" imgH="228600" progId="Equation.DSMT4">
                  <p:embed/>
                </p:oleObj>
              </mc:Choice>
              <mc:Fallback>
                <p:oleObj r:id="rId9" imgW="1270000" imgH="2286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4724400"/>
                        <a:ext cx="2520950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14" name="AutoShape 14"/>
          <p:cNvSpPr>
            <a:spLocks noChangeArrowheads="1"/>
          </p:cNvSpPr>
          <p:nvPr/>
        </p:nvSpPr>
        <p:spPr bwMode="auto">
          <a:xfrm>
            <a:off x="2987675" y="4149725"/>
            <a:ext cx="2808288" cy="1079500"/>
          </a:xfrm>
          <a:prstGeom prst="roundRect">
            <a:avLst>
              <a:gd name="adj" fmla="val 16667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3800" name="AutoShape 15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33801" name="Rectangle 16">
            <a:hlinkClick r:id="rId11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33802" name="AutoShape 17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33803" name="Rectangle 18">
            <a:hlinkClick r:id="rId12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560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6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56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656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656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6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6560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56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56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65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65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6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6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900" decel="100000" fill="hold"/>
                                        <p:tgtEl>
                                          <p:spTgt spid="66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6560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656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65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900" decel="100000" fill="hold"/>
                                        <p:tgtEl>
                                          <p:spTgt spid="66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65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656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656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900" decel="100000" fill="hold"/>
                                        <p:tgtEl>
                                          <p:spTgt spid="66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656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656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656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900" decel="100000" fill="hold"/>
                                        <p:tgtEl>
                                          <p:spTgt spid="665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656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1773238"/>
            <a:ext cx="7705725" cy="34559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② 将序列</a:t>
            </a:r>
            <a:r>
              <a:rPr lang="en-US" altLang="zh-CN" smtClean="0"/>
              <a:t>x(n)</a:t>
            </a:r>
            <a:r>
              <a:rPr lang="zh-CN" altLang="en-US" smtClean="0"/>
              <a:t>分成共轭对称和共轭反对称两部分，相应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x(n)</a:t>
            </a:r>
            <a:r>
              <a:rPr lang="zh-CN" altLang="en-US" smtClean="0"/>
              <a:t>的</a:t>
            </a:r>
            <a:r>
              <a:rPr lang="en-US" altLang="zh-CN" smtClean="0"/>
              <a:t>DFT</a:t>
            </a:r>
            <a:r>
              <a:rPr lang="zh-CN" altLang="en-US" smtClean="0"/>
              <a:t>分成实部和虚部两部分，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即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式中，            ，            ，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则</a:t>
            </a:r>
          </a:p>
          <a:p>
            <a:pPr eaLnBrk="1" hangingPunct="1">
              <a:buFontTx/>
              <a:buNone/>
            </a:pPr>
            <a:endParaRPr lang="zh-CN" altLang="en-US" smtClean="0"/>
          </a:p>
        </p:txBody>
      </p:sp>
      <p:graphicFrame>
        <p:nvGraphicFramePr>
          <p:cNvPr id="666628" name="Object 4"/>
          <p:cNvGraphicFramePr>
            <a:graphicFrameLocks noChangeAspect="1"/>
          </p:cNvGraphicFramePr>
          <p:nvPr/>
        </p:nvGraphicFramePr>
        <p:xfrm>
          <a:off x="2987675" y="2708275"/>
          <a:ext cx="2665413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79" r:id="rId3" imgW="1257300" imgH="419100" progId="Equation.3">
                  <p:embed/>
                </p:oleObj>
              </mc:Choice>
              <mc:Fallback>
                <p:oleObj r:id="rId3" imgW="12573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2708275"/>
                        <a:ext cx="2665413" cy="889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6630" name="Object 6"/>
          <p:cNvGraphicFramePr>
            <a:graphicFrameLocks noChangeAspect="1"/>
          </p:cNvGraphicFramePr>
          <p:nvPr/>
        </p:nvGraphicFramePr>
        <p:xfrm>
          <a:off x="1692275" y="3573463"/>
          <a:ext cx="2016125" cy="427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0" r:id="rId5" imgW="939392" imgH="203112" progId="Equation.3">
                  <p:embed/>
                </p:oleObj>
              </mc:Choice>
              <mc:Fallback>
                <p:oleObj r:id="rId5" imgW="939392" imgH="20311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573463"/>
                        <a:ext cx="2016125" cy="427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6632" name="Object 8"/>
          <p:cNvGraphicFramePr>
            <a:graphicFrameLocks noChangeAspect="1"/>
          </p:cNvGraphicFramePr>
          <p:nvPr/>
        </p:nvGraphicFramePr>
        <p:xfrm>
          <a:off x="3708400" y="3573463"/>
          <a:ext cx="2016125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1" r:id="rId7" imgW="1002865" imgH="203112" progId="Equation.3">
                  <p:embed/>
                </p:oleObj>
              </mc:Choice>
              <mc:Fallback>
                <p:oleObj r:id="rId7" imgW="1002865" imgH="20311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3573463"/>
                        <a:ext cx="2016125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6634" name="Object 10"/>
          <p:cNvGraphicFramePr>
            <a:graphicFrameLocks noChangeAspect="1"/>
          </p:cNvGraphicFramePr>
          <p:nvPr/>
        </p:nvGraphicFramePr>
        <p:xfrm>
          <a:off x="3059113" y="4149725"/>
          <a:ext cx="2736850" cy="512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2" r:id="rId9" imgW="1219200" imgH="228600" progId="Equation.3">
                  <p:embed/>
                </p:oleObj>
              </mc:Choice>
              <mc:Fallback>
                <p:oleObj r:id="rId9" imgW="1219200" imgH="228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4149725"/>
                        <a:ext cx="2736850" cy="512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6636" name="Object 12"/>
          <p:cNvGraphicFramePr>
            <a:graphicFrameLocks noChangeAspect="1"/>
          </p:cNvGraphicFramePr>
          <p:nvPr/>
        </p:nvGraphicFramePr>
        <p:xfrm>
          <a:off x="2987675" y="4652963"/>
          <a:ext cx="2881313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883" r:id="rId11" imgW="1257300" imgH="228600" progId="Equation.DSMT4">
                  <p:embed/>
                </p:oleObj>
              </mc:Choice>
              <mc:Fallback>
                <p:oleObj r:id="rId11" imgW="1257300" imgH="2286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652963"/>
                        <a:ext cx="2881313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6640" name="AutoShape 16"/>
          <p:cNvSpPr>
            <a:spLocks noChangeArrowheads="1"/>
          </p:cNvSpPr>
          <p:nvPr/>
        </p:nvSpPr>
        <p:spPr bwMode="auto">
          <a:xfrm>
            <a:off x="2843213" y="4076700"/>
            <a:ext cx="3095625" cy="1152525"/>
          </a:xfrm>
          <a:prstGeom prst="roundRect">
            <a:avLst>
              <a:gd name="adj" fmla="val 16667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34825" name="AutoShape 17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34826" name="Rectangle 18">
            <a:hlinkClick r:id="rId13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34827" name="AutoShape 19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34828" name="Rectangle 20">
            <a:hlinkClick r:id="rId14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66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666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666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66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6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6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66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6662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3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66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1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666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6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66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6666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6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908050"/>
            <a:ext cx="7848600" cy="4968875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zh-CN" altLang="en-US" smtClean="0"/>
              <a:t>③ 实信号</a:t>
            </a:r>
            <a:r>
              <a:rPr lang="en-US" altLang="zh-CN" smtClean="0"/>
              <a:t>DFT</a:t>
            </a:r>
            <a:r>
              <a:rPr lang="zh-CN" altLang="en-US" smtClean="0"/>
              <a:t>的特点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设</a:t>
            </a:r>
            <a:r>
              <a:rPr lang="en-US" altLang="zh-CN" smtClean="0"/>
              <a:t>x(n)</a:t>
            </a:r>
            <a:r>
              <a:rPr lang="zh-CN" altLang="en-US" smtClean="0"/>
              <a:t>是长度为</a:t>
            </a:r>
            <a:r>
              <a:rPr lang="en-US" altLang="zh-CN" smtClean="0"/>
              <a:t>N</a:t>
            </a:r>
            <a:r>
              <a:rPr lang="zh-CN" altLang="en-US" smtClean="0"/>
              <a:t>的实序列，其</a:t>
            </a:r>
            <a:r>
              <a:rPr lang="en-US" altLang="zh-CN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用</a:t>
            </a:r>
            <a:r>
              <a:rPr lang="en-US" altLang="zh-CN" smtClean="0"/>
              <a:t>X(k)</a:t>
            </a:r>
            <a:r>
              <a:rPr lang="zh-CN" altLang="en-US" smtClean="0"/>
              <a:t>表示，我们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从</a:t>
            </a:r>
            <a:r>
              <a:rPr lang="en-US" altLang="zh-CN" smtClean="0"/>
              <a:t>①</a:t>
            </a:r>
            <a:r>
              <a:rPr lang="zh-CN" altLang="en-US" smtClean="0"/>
              <a:t>的结论可知道</a:t>
            </a:r>
            <a:r>
              <a:rPr lang="en-US" altLang="zh-CN" smtClean="0"/>
              <a:t>X(k)</a:t>
            </a:r>
            <a:r>
              <a:rPr lang="zh-CN" altLang="en-US" smtClean="0"/>
              <a:t>具有共轭对称性质，即</a:t>
            </a:r>
          </a:p>
          <a:p>
            <a:pPr marL="457200" indent="-457200" eaLnBrk="1" hangingPunct="1">
              <a:buFontTx/>
              <a:buNone/>
            </a:pPr>
            <a:endParaRPr lang="zh-CN" altLang="en-US" smtClean="0"/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如果将</a:t>
            </a:r>
            <a:r>
              <a:rPr lang="en-US" altLang="zh-CN" smtClean="0"/>
              <a:t>X(k)</a:t>
            </a:r>
            <a:r>
              <a:rPr lang="zh-CN" altLang="en-US" smtClean="0"/>
              <a:t>写成极坐标形式              ，由共轭对称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性质，说明</a:t>
            </a:r>
            <a:r>
              <a:rPr lang="en-US" altLang="zh-CN" smtClean="0"/>
              <a:t>X(k)</a:t>
            </a:r>
            <a:r>
              <a:rPr lang="zh-CN" altLang="en-US" smtClean="0"/>
              <a:t>的模关于 </a:t>
            </a:r>
            <a:r>
              <a:rPr lang="en-US" altLang="zh-CN" smtClean="0"/>
              <a:t>k = N/2</a:t>
            </a:r>
            <a:r>
              <a:rPr lang="zh-CN" altLang="en-US" smtClean="0"/>
              <a:t>点偶对称 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                      ，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利用</a:t>
            </a:r>
            <a:r>
              <a:rPr lang="en-US" altLang="zh-CN" smtClean="0"/>
              <a:t>DFT</a:t>
            </a:r>
            <a:r>
              <a:rPr lang="zh-CN" altLang="en-US" smtClean="0"/>
              <a:t>的共轭对称性质可以减小实序列的</a:t>
            </a:r>
            <a:r>
              <a:rPr lang="en-US" altLang="zh-CN" smtClean="0"/>
              <a:t>DFT</a:t>
            </a:r>
            <a:r>
              <a:rPr lang="zh-CN" altLang="en-US" smtClean="0"/>
              <a:t>计算量：</a:t>
            </a:r>
          </a:p>
          <a:p>
            <a:pPr marL="457200" indent="-457200" eaLnBrk="1" hangingPunct="1">
              <a:buFontTx/>
              <a:buNone/>
            </a:pPr>
            <a:r>
              <a:rPr lang="en-US" altLang="zh-CN" smtClean="0"/>
              <a:t>a)  </a:t>
            </a:r>
            <a:r>
              <a:rPr lang="zh-CN" altLang="en-US" smtClean="0"/>
              <a:t>利用计算一个复序列的</a:t>
            </a:r>
            <a:r>
              <a:rPr lang="en-US" altLang="zh-CN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，很容易求得两个不同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  的实序列的</a:t>
            </a:r>
            <a:r>
              <a:rPr lang="en-US" altLang="zh-CN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；</a:t>
            </a:r>
          </a:p>
          <a:p>
            <a:pPr marL="457200" indent="-457200" eaLnBrk="1" hangingPunct="1">
              <a:buFontTx/>
              <a:buNone/>
            </a:pPr>
            <a:r>
              <a:rPr lang="en-US" altLang="zh-CN" smtClean="0"/>
              <a:t>b)  </a:t>
            </a:r>
            <a:r>
              <a:rPr lang="zh-CN" altLang="en-US" smtClean="0"/>
              <a:t>实序列的</a:t>
            </a:r>
            <a:r>
              <a:rPr lang="en-US" altLang="zh-CN" smtClean="0"/>
              <a:t>2N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，可以用复序列的</a:t>
            </a:r>
            <a:r>
              <a:rPr lang="en-US" altLang="zh-CN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得到。 </a:t>
            </a:r>
          </a:p>
        </p:txBody>
      </p:sp>
      <p:graphicFrame>
        <p:nvGraphicFramePr>
          <p:cNvPr id="667652" name="Object 4"/>
          <p:cNvGraphicFramePr>
            <a:graphicFrameLocks noChangeAspect="1"/>
          </p:cNvGraphicFramePr>
          <p:nvPr/>
        </p:nvGraphicFramePr>
        <p:xfrm>
          <a:off x="3275013" y="2203450"/>
          <a:ext cx="2160587" cy="460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2" r:id="rId3" imgW="1028254" imgH="215806" progId="Equation.3">
                  <p:embed/>
                </p:oleObj>
              </mc:Choice>
              <mc:Fallback>
                <p:oleObj r:id="rId3" imgW="1028254" imgH="21580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5013" y="2203450"/>
                        <a:ext cx="2160587" cy="460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54" name="Object 6"/>
          <p:cNvGraphicFramePr>
            <a:graphicFrameLocks noChangeAspect="1"/>
          </p:cNvGraphicFramePr>
          <p:nvPr/>
        </p:nvGraphicFramePr>
        <p:xfrm>
          <a:off x="4498975" y="2708275"/>
          <a:ext cx="2124075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3" r:id="rId5" imgW="1066800" imgH="228600" progId="Equation.3">
                  <p:embed/>
                </p:oleObj>
              </mc:Choice>
              <mc:Fallback>
                <p:oleObj r:id="rId5" imgW="1066800" imgH="228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8975" y="2708275"/>
                        <a:ext cx="2124075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56" name="Object 8"/>
          <p:cNvGraphicFramePr>
            <a:graphicFrameLocks noChangeAspect="1"/>
          </p:cNvGraphicFramePr>
          <p:nvPr/>
        </p:nvGraphicFramePr>
        <p:xfrm>
          <a:off x="1906588" y="3571875"/>
          <a:ext cx="2160587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4" r:id="rId7" imgW="1104421" imgH="215806" progId="Equation.3">
                  <p:embed/>
                </p:oleObj>
              </mc:Choice>
              <mc:Fallback>
                <p:oleObj r:id="rId7" imgW="1104421" imgH="215806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6588" y="3571875"/>
                        <a:ext cx="2160587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7658" name="Object 10"/>
          <p:cNvGraphicFramePr>
            <a:graphicFrameLocks noChangeAspect="1"/>
          </p:cNvGraphicFramePr>
          <p:nvPr/>
        </p:nvGraphicFramePr>
        <p:xfrm>
          <a:off x="4643438" y="3643313"/>
          <a:ext cx="1871662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5895" r:id="rId9" imgW="977900" imgH="190500" progId="Equation.3">
                  <p:embed/>
                </p:oleObj>
              </mc:Choice>
              <mc:Fallback>
                <p:oleObj r:id="rId9" imgW="977900" imgH="190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3643313"/>
                        <a:ext cx="1871662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7" name="AutoShape 15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35848" name="Rectangle 16">
            <a:hlinkClick r:id="rId11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35849" name="AutoShape 17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35850" name="Rectangle 18">
            <a:hlinkClick r:id="rId12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  <p:sp>
        <p:nvSpPr>
          <p:cNvPr id="35851" name="AutoShape 19"/>
          <p:cNvSpPr>
            <a:spLocks noChangeArrowheads="1"/>
          </p:cNvSpPr>
          <p:nvPr/>
        </p:nvSpPr>
        <p:spPr bwMode="auto">
          <a:xfrm>
            <a:off x="611188" y="4005263"/>
            <a:ext cx="7993062" cy="1800225"/>
          </a:xfrm>
          <a:prstGeom prst="roundRect">
            <a:avLst>
              <a:gd name="adj" fmla="val 16667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6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6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6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6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6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6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6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6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676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676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67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67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1" dur="80"/>
                                        <p:tgtEl>
                                          <p:spTgt spid="66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2" dur="80"/>
                                        <p:tgtEl>
                                          <p:spTgt spid="66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3" dur="80"/>
                                        <p:tgtEl>
                                          <p:spTgt spid="6676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6" dur="80"/>
                                        <p:tgtEl>
                                          <p:spTgt spid="66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7" dur="80"/>
                                        <p:tgtEl>
                                          <p:spTgt spid="66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8" dur="80"/>
                                        <p:tgtEl>
                                          <p:spTgt spid="6676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1" dur="80"/>
                                        <p:tgtEl>
                                          <p:spTgt spid="66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2" dur="80"/>
                                        <p:tgtEl>
                                          <p:spTgt spid="66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3" dur="80"/>
                                        <p:tgtEl>
                                          <p:spTgt spid="6676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6" dur="80"/>
                                        <p:tgtEl>
                                          <p:spTgt spid="66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7" dur="80"/>
                                        <p:tgtEl>
                                          <p:spTgt spid="66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8" dur="80"/>
                                        <p:tgtEl>
                                          <p:spTgt spid="66765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908050"/>
            <a:ext cx="7920037" cy="4968875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en-US" altLang="zh-CN" dirty="0" smtClean="0"/>
              <a:t>a) </a:t>
            </a:r>
            <a:r>
              <a:rPr lang="zh-CN" altLang="en-US" dirty="0" smtClean="0"/>
              <a:t>设          是实序列，长度均为</a:t>
            </a:r>
            <a:r>
              <a:rPr lang="en-US" altLang="zh-CN" dirty="0" smtClean="0"/>
              <a:t>N</a:t>
            </a:r>
            <a:r>
              <a:rPr lang="zh-CN" altLang="en-US" dirty="0" smtClean="0"/>
              <a:t>，用它们构成一个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dirty="0" smtClean="0"/>
              <a:t>复序列 </a:t>
            </a:r>
          </a:p>
          <a:p>
            <a:pPr marL="457200" indent="-457200" eaLnBrk="1" hangingPunct="1">
              <a:buFontTx/>
              <a:buNone/>
            </a:pPr>
            <a:endParaRPr lang="en-US" altLang="zh-CN" dirty="0" smtClean="0"/>
          </a:p>
          <a:p>
            <a:pPr marL="457200" indent="-457200" eaLnBrk="1" hangingPunct="1">
              <a:buFontTx/>
              <a:buNone/>
            </a:pPr>
            <a:r>
              <a:rPr lang="zh-CN" altLang="en-US" dirty="0" smtClean="0"/>
              <a:t>对上式进行</a:t>
            </a:r>
            <a:r>
              <a:rPr lang="en-US" altLang="zh-CN" dirty="0" smtClean="0"/>
              <a:t>N</a:t>
            </a:r>
            <a:r>
              <a:rPr lang="zh-CN" altLang="en-US" dirty="0" smtClean="0"/>
              <a:t>点</a:t>
            </a:r>
            <a:r>
              <a:rPr lang="en-US" altLang="zh-CN" dirty="0" smtClean="0"/>
              <a:t>DFT</a:t>
            </a:r>
            <a:r>
              <a:rPr lang="zh-CN" altLang="en-US" dirty="0" smtClean="0"/>
              <a:t>，得到</a:t>
            </a:r>
          </a:p>
          <a:p>
            <a:pPr marL="457200" indent="-457200" eaLnBrk="1" hangingPunct="1">
              <a:buFontTx/>
              <a:buNone/>
            </a:pPr>
            <a:endParaRPr lang="en-US" altLang="zh-CN" dirty="0" smtClean="0"/>
          </a:p>
          <a:p>
            <a:pPr marL="457200" indent="-457200" eaLnBrk="1" hangingPunct="1">
              <a:buFontTx/>
              <a:buNone/>
            </a:pPr>
            <a:r>
              <a:rPr lang="zh-CN" altLang="en-US" dirty="0" smtClean="0"/>
              <a:t>利用</a:t>
            </a:r>
            <a:r>
              <a:rPr lang="en-US" altLang="zh-CN" dirty="0" smtClean="0"/>
              <a:t>①</a:t>
            </a:r>
            <a:r>
              <a:rPr lang="zh-CN" altLang="en-US" dirty="0" smtClean="0"/>
              <a:t>的结论可以得到</a:t>
            </a:r>
          </a:p>
          <a:p>
            <a:pPr marL="457200" indent="-457200" eaLnBrk="1" hangingPunct="1">
              <a:buFontTx/>
              <a:buNone/>
            </a:pPr>
            <a:endParaRPr lang="en-US" altLang="zh-CN" dirty="0" smtClean="0"/>
          </a:p>
          <a:p>
            <a:pPr marL="457200" indent="-457200" eaLnBrk="1" hangingPunct="1">
              <a:buFontTx/>
              <a:buNone/>
            </a:pPr>
            <a:endParaRPr lang="en-US" altLang="zh-CN" dirty="0" smtClean="0"/>
          </a:p>
          <a:p>
            <a:pPr marL="457200" indent="-457200" eaLnBrk="1" hangingPunct="1">
              <a:buFontTx/>
              <a:buNone/>
            </a:pPr>
            <a:endParaRPr lang="en-US" altLang="zh-CN" dirty="0" smtClean="0"/>
          </a:p>
          <a:p>
            <a:pPr marL="457200" indent="-457200" eaLnBrk="1" hangingPunct="1">
              <a:buFontTx/>
              <a:buNone/>
            </a:pPr>
            <a:r>
              <a:rPr lang="zh-CN" altLang="en-US" dirty="0" smtClean="0"/>
              <a:t>这样只计算一个</a:t>
            </a:r>
            <a:r>
              <a:rPr lang="en-US" altLang="zh-CN" dirty="0" smtClean="0"/>
              <a:t>N</a:t>
            </a:r>
            <a:r>
              <a:rPr lang="zh-CN" altLang="en-US" dirty="0" smtClean="0"/>
              <a:t>点</a:t>
            </a:r>
            <a:r>
              <a:rPr lang="en-US" altLang="zh-CN" dirty="0" smtClean="0"/>
              <a:t>DFT</a:t>
            </a:r>
            <a:r>
              <a:rPr lang="zh-CN" altLang="en-US" dirty="0" smtClean="0"/>
              <a:t>，得到</a:t>
            </a:r>
            <a:r>
              <a:rPr lang="en-US" altLang="zh-CN" dirty="0" smtClean="0"/>
              <a:t>X(k)</a:t>
            </a:r>
            <a:r>
              <a:rPr lang="zh-CN" altLang="en-US" dirty="0" smtClean="0"/>
              <a:t>，用上面两式容易得到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dirty="0" smtClean="0"/>
              <a:t>两个实序列的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点</a:t>
            </a:r>
            <a:r>
              <a:rPr lang="en-US" altLang="zh-CN" dirty="0" smtClean="0"/>
              <a:t>DFT</a:t>
            </a:r>
            <a:r>
              <a:rPr lang="zh-CN" altLang="en-US" dirty="0" smtClean="0"/>
              <a:t>。 </a:t>
            </a:r>
            <a:endParaRPr lang="en-US" altLang="zh-CN" dirty="0" smtClean="0"/>
          </a:p>
        </p:txBody>
      </p:sp>
      <p:graphicFrame>
        <p:nvGraphicFramePr>
          <p:cNvPr id="668676" name="Object 4"/>
          <p:cNvGraphicFramePr>
            <a:graphicFrameLocks noChangeAspect="1"/>
          </p:cNvGraphicFramePr>
          <p:nvPr/>
        </p:nvGraphicFramePr>
        <p:xfrm>
          <a:off x="1547813" y="908050"/>
          <a:ext cx="1584325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8" r:id="rId3" imgW="723586" imgH="203112" progId="Equation.3">
                  <p:embed/>
                </p:oleObj>
              </mc:Choice>
              <mc:Fallback>
                <p:oleObj r:id="rId3" imgW="723586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7813" y="908050"/>
                        <a:ext cx="1584325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678" name="Object 6"/>
          <p:cNvGraphicFramePr>
            <a:graphicFrameLocks noChangeAspect="1"/>
          </p:cNvGraphicFramePr>
          <p:nvPr/>
        </p:nvGraphicFramePr>
        <p:xfrm>
          <a:off x="3059113" y="1773238"/>
          <a:ext cx="26638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29" r:id="rId5" imgW="1129810" imgH="203112" progId="Equation.3">
                  <p:embed/>
                </p:oleObj>
              </mc:Choice>
              <mc:Fallback>
                <p:oleObj r:id="rId5" imgW="1129810" imgH="20311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773238"/>
                        <a:ext cx="26638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680" name="Object 8"/>
          <p:cNvGraphicFramePr>
            <a:graphicFrameLocks noChangeAspect="1"/>
          </p:cNvGraphicFramePr>
          <p:nvPr/>
        </p:nvGraphicFramePr>
        <p:xfrm>
          <a:off x="2555875" y="2636838"/>
          <a:ext cx="4537075" cy="512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0" r:id="rId7" imgW="2019300" imgH="228600" progId="Equation.3">
                  <p:embed/>
                </p:oleObj>
              </mc:Choice>
              <mc:Fallback>
                <p:oleObj r:id="rId7" imgW="2019300" imgH="228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636838"/>
                        <a:ext cx="4537075" cy="512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682" name="Object 10"/>
          <p:cNvGraphicFramePr>
            <a:graphicFrameLocks noChangeAspect="1"/>
          </p:cNvGraphicFramePr>
          <p:nvPr/>
        </p:nvGraphicFramePr>
        <p:xfrm>
          <a:off x="1042988" y="3500438"/>
          <a:ext cx="6119812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1" r:id="rId9" imgW="2959100" imgH="355600" progId="Equation.3">
                  <p:embed/>
                </p:oleObj>
              </mc:Choice>
              <mc:Fallback>
                <p:oleObj r:id="rId9" imgW="2959100" imgH="3556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500438"/>
                        <a:ext cx="6119812" cy="728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8684" name="Object 12"/>
          <p:cNvGraphicFramePr>
            <a:graphicFrameLocks noChangeAspect="1"/>
          </p:cNvGraphicFramePr>
          <p:nvPr/>
        </p:nvGraphicFramePr>
        <p:xfrm>
          <a:off x="1042988" y="4149725"/>
          <a:ext cx="6265862" cy="749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6932" r:id="rId11" imgW="3213100" imgH="381000" progId="Equation.3">
                  <p:embed/>
                </p:oleObj>
              </mc:Choice>
              <mc:Fallback>
                <p:oleObj r:id="rId11" imgW="3213100" imgH="3810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149725"/>
                        <a:ext cx="6265862" cy="749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8686" name="Text Box 14"/>
          <p:cNvSpPr txBox="1">
            <a:spLocks noChangeArrowheads="1"/>
          </p:cNvSpPr>
          <p:nvPr/>
        </p:nvSpPr>
        <p:spPr bwMode="auto">
          <a:xfrm>
            <a:off x="7524750" y="3644900"/>
            <a:ext cx="1235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(3.2.18)</a:t>
            </a:r>
          </a:p>
        </p:txBody>
      </p:sp>
      <p:sp>
        <p:nvSpPr>
          <p:cNvPr id="668688" name="Text Box 16"/>
          <p:cNvSpPr txBox="1">
            <a:spLocks noChangeArrowheads="1"/>
          </p:cNvSpPr>
          <p:nvPr/>
        </p:nvSpPr>
        <p:spPr bwMode="auto">
          <a:xfrm>
            <a:off x="7524750" y="4221163"/>
            <a:ext cx="1270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800">
                <a:latin typeface="Arial" panose="020B0604020202020204" pitchFamily="34" charset="0"/>
              </a:rPr>
              <a:t>(</a:t>
            </a:r>
            <a:r>
              <a:rPr lang="en-US" altLang="zh-CN">
                <a:latin typeface="Arial" panose="020B0604020202020204" pitchFamily="34" charset="0"/>
              </a:rPr>
              <a:t>3.2.19</a:t>
            </a:r>
            <a:r>
              <a:rPr lang="en-US" altLang="zh-CN" sz="2800">
                <a:latin typeface="Arial" panose="020B0604020202020204" pitchFamily="34" charset="0"/>
              </a:rPr>
              <a:t>)</a:t>
            </a:r>
          </a:p>
        </p:txBody>
      </p:sp>
      <p:sp>
        <p:nvSpPr>
          <p:cNvPr id="36874" name="AutoShape 19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36875" name="Rectangle 20">
            <a:hlinkClick r:id="rId13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36876" name="AutoShape 21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36877" name="Rectangle 22">
            <a:hlinkClick r:id="rId14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86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686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6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6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6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686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686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686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6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6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6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686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6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6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6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6867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8686" grpId="0"/>
      <p:bldP spid="668688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6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981075"/>
            <a:ext cx="7848600" cy="511175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mtClean="0"/>
              <a:t>b) </a:t>
            </a:r>
            <a:r>
              <a:rPr lang="zh-CN" altLang="en-US" smtClean="0"/>
              <a:t>通过复序列的</a:t>
            </a:r>
            <a:r>
              <a:rPr lang="en-US" altLang="zh-CN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得到实序列的</a:t>
            </a:r>
            <a:r>
              <a:rPr lang="en-US" altLang="zh-CN" smtClean="0"/>
              <a:t>2N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。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设   是一个长度为</a:t>
            </a:r>
            <a:r>
              <a:rPr lang="en-US" altLang="zh-CN" smtClean="0"/>
              <a:t>2N</a:t>
            </a:r>
            <a:r>
              <a:rPr lang="zh-CN" altLang="en-US" smtClean="0"/>
              <a:t>的实序列，首先分别用   中的偶数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点和奇数点形成两个长度为</a:t>
            </a:r>
            <a:r>
              <a:rPr lang="en-US" altLang="zh-CN" smtClean="0"/>
              <a:t>N</a:t>
            </a:r>
            <a:r>
              <a:rPr lang="zh-CN" altLang="en-US" smtClean="0"/>
              <a:t>的新序列         ，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即 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再由         构造长度为</a:t>
            </a:r>
            <a:r>
              <a:rPr lang="en-US" altLang="zh-CN" smtClean="0"/>
              <a:t>N</a:t>
            </a:r>
            <a:r>
              <a:rPr lang="zh-CN" altLang="en-US" smtClean="0"/>
              <a:t>的复序列</a:t>
            </a:r>
            <a:r>
              <a:rPr lang="en-US" altLang="zh-CN" smtClean="0"/>
              <a:t>x(n)</a:t>
            </a:r>
            <a:r>
              <a:rPr lang="zh-CN" altLang="en-US" smtClean="0"/>
              <a:t>，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即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计算</a:t>
            </a:r>
            <a:r>
              <a:rPr lang="en-US" altLang="zh-CN" smtClean="0"/>
              <a:t>x(n)</a:t>
            </a:r>
            <a:r>
              <a:rPr lang="zh-CN" altLang="en-US" smtClean="0"/>
              <a:t>的</a:t>
            </a:r>
            <a:r>
              <a:rPr lang="en-US" altLang="zh-CN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，因为          均是实序列，利用式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(3.2.18)</a:t>
            </a:r>
            <a:r>
              <a:rPr lang="zh-CN" altLang="en-US" smtClean="0"/>
              <a:t>和式</a:t>
            </a:r>
            <a:r>
              <a:rPr lang="en-US" altLang="zh-CN" smtClean="0"/>
              <a:t>(3.2.19)</a:t>
            </a:r>
            <a:r>
              <a:rPr lang="zh-CN" altLang="en-US" smtClean="0"/>
              <a:t>得到         。最后由        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以得到实序列</a:t>
            </a:r>
            <a:r>
              <a:rPr lang="en-US" altLang="zh-CN" smtClean="0"/>
              <a:t>v(n)</a:t>
            </a:r>
            <a:r>
              <a:rPr lang="zh-CN" altLang="en-US" smtClean="0"/>
              <a:t>的</a:t>
            </a:r>
            <a:r>
              <a:rPr lang="en-US" altLang="zh-CN" smtClean="0"/>
              <a:t>2N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，即</a:t>
            </a:r>
            <a:r>
              <a:rPr lang="en-US" altLang="zh-CN" smtClean="0"/>
              <a:t>V(k)</a:t>
            </a:r>
            <a:r>
              <a:rPr lang="zh-CN" altLang="en-US" smtClean="0"/>
              <a:t>。 </a:t>
            </a:r>
          </a:p>
        </p:txBody>
      </p:sp>
      <p:graphicFrame>
        <p:nvGraphicFramePr>
          <p:cNvPr id="669700" name="Object 4"/>
          <p:cNvGraphicFramePr>
            <a:graphicFrameLocks noChangeAspect="1"/>
          </p:cNvGraphicFramePr>
          <p:nvPr/>
        </p:nvGraphicFramePr>
        <p:xfrm>
          <a:off x="1116013" y="1484313"/>
          <a:ext cx="57626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8" r:id="rId3" imgW="266469" imgH="190335" progId="Equation.3">
                  <p:embed/>
                </p:oleObj>
              </mc:Choice>
              <mc:Fallback>
                <p:oleObj r:id="rId3" imgW="266469" imgH="19033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484313"/>
                        <a:ext cx="576262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02" name="Object 6"/>
          <p:cNvGraphicFramePr>
            <a:graphicFrameLocks noChangeAspect="1"/>
          </p:cNvGraphicFramePr>
          <p:nvPr/>
        </p:nvGraphicFramePr>
        <p:xfrm>
          <a:off x="5867400" y="1916113"/>
          <a:ext cx="1476375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39" r:id="rId5" imgW="723586" imgH="203112" progId="Equation.3">
                  <p:embed/>
                </p:oleObj>
              </mc:Choice>
              <mc:Fallback>
                <p:oleObj r:id="rId5" imgW="723586" imgH="20311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916113"/>
                        <a:ext cx="1476375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04" name="Object 8"/>
          <p:cNvGraphicFramePr>
            <a:graphicFrameLocks noChangeAspect="1"/>
          </p:cNvGraphicFramePr>
          <p:nvPr/>
        </p:nvGraphicFramePr>
        <p:xfrm>
          <a:off x="6732588" y="1484313"/>
          <a:ext cx="576262" cy="412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0" r:id="rId7" imgW="266469" imgH="190335" progId="Equation.3">
                  <p:embed/>
                </p:oleObj>
              </mc:Choice>
              <mc:Fallback>
                <p:oleObj r:id="rId7" imgW="266469" imgH="19033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1484313"/>
                        <a:ext cx="576262" cy="4127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05" name="Object 9"/>
          <p:cNvGraphicFramePr>
            <a:graphicFrameLocks noChangeAspect="1"/>
          </p:cNvGraphicFramePr>
          <p:nvPr/>
        </p:nvGraphicFramePr>
        <p:xfrm>
          <a:off x="2484438" y="2349500"/>
          <a:ext cx="1728787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1" r:id="rId8" imgW="736600" imgH="203200" progId="Equation.3">
                  <p:embed/>
                </p:oleObj>
              </mc:Choice>
              <mc:Fallback>
                <p:oleObj r:id="rId8" imgW="736600" imgH="20320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2349500"/>
                        <a:ext cx="1728787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07" name="Object 11"/>
          <p:cNvGraphicFramePr>
            <a:graphicFrameLocks noChangeAspect="1"/>
          </p:cNvGraphicFramePr>
          <p:nvPr/>
        </p:nvGraphicFramePr>
        <p:xfrm>
          <a:off x="2339975" y="2852738"/>
          <a:ext cx="2016125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2" r:id="rId10" imgW="926698" imgH="203112" progId="Equation.3">
                  <p:embed/>
                </p:oleObj>
              </mc:Choice>
              <mc:Fallback>
                <p:oleObj r:id="rId10" imgW="926698" imgH="203112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2852738"/>
                        <a:ext cx="2016125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09" name="Object 13"/>
          <p:cNvGraphicFramePr>
            <a:graphicFrameLocks noChangeAspect="1"/>
          </p:cNvGraphicFramePr>
          <p:nvPr/>
        </p:nvGraphicFramePr>
        <p:xfrm>
          <a:off x="5148263" y="2420938"/>
          <a:ext cx="15843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3" r:id="rId12" imgW="774364" imgH="203112" progId="Equation.3">
                  <p:embed/>
                </p:oleObj>
              </mc:Choice>
              <mc:Fallback>
                <p:oleObj r:id="rId12" imgW="774364" imgH="203112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2420938"/>
                        <a:ext cx="15843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11" name="Object 15"/>
          <p:cNvGraphicFramePr>
            <a:graphicFrameLocks noChangeAspect="1"/>
          </p:cNvGraphicFramePr>
          <p:nvPr/>
        </p:nvGraphicFramePr>
        <p:xfrm>
          <a:off x="5148263" y="2852738"/>
          <a:ext cx="15843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4" r:id="rId14" imgW="774364" imgH="203112" progId="Equation.3">
                  <p:embed/>
                </p:oleObj>
              </mc:Choice>
              <mc:Fallback>
                <p:oleObj r:id="rId14" imgW="774364" imgH="203112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2852738"/>
                        <a:ext cx="15843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13" name="Object 17"/>
          <p:cNvGraphicFramePr>
            <a:graphicFrameLocks noChangeAspect="1"/>
          </p:cNvGraphicFramePr>
          <p:nvPr/>
        </p:nvGraphicFramePr>
        <p:xfrm>
          <a:off x="1403350" y="3213100"/>
          <a:ext cx="147637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5" r:id="rId15" imgW="723586" imgH="203112" progId="Equation.3">
                  <p:embed/>
                </p:oleObj>
              </mc:Choice>
              <mc:Fallback>
                <p:oleObj r:id="rId15" imgW="723586" imgH="203112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3213100"/>
                        <a:ext cx="1476375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14" name="Object 18"/>
          <p:cNvGraphicFramePr>
            <a:graphicFrameLocks noChangeAspect="1"/>
          </p:cNvGraphicFramePr>
          <p:nvPr/>
        </p:nvGraphicFramePr>
        <p:xfrm>
          <a:off x="1979613" y="3573463"/>
          <a:ext cx="2665412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6" r:id="rId16" imgW="1129810" imgH="203112" progId="Equation.DSMT4">
                  <p:embed/>
                </p:oleObj>
              </mc:Choice>
              <mc:Fallback>
                <p:oleObj r:id="rId16" imgW="1129810" imgH="203112" progId="Equation.DSMT4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573463"/>
                        <a:ext cx="2665412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16" name="Object 20"/>
          <p:cNvGraphicFramePr>
            <a:graphicFrameLocks noChangeAspect="1"/>
          </p:cNvGraphicFramePr>
          <p:nvPr/>
        </p:nvGraphicFramePr>
        <p:xfrm>
          <a:off x="5148263" y="3644900"/>
          <a:ext cx="15843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7" r:id="rId18" imgW="774364" imgH="203112" progId="Equation.3">
                  <p:embed/>
                </p:oleObj>
              </mc:Choice>
              <mc:Fallback>
                <p:oleObj r:id="rId18" imgW="774364" imgH="203112" progId="Equation.3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3644900"/>
                        <a:ext cx="15843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17" name="Object 21"/>
          <p:cNvGraphicFramePr>
            <a:graphicFrameLocks noChangeAspect="1"/>
          </p:cNvGraphicFramePr>
          <p:nvPr/>
        </p:nvGraphicFramePr>
        <p:xfrm>
          <a:off x="4211638" y="4076700"/>
          <a:ext cx="1476375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8" r:id="rId19" imgW="723586" imgH="203112" progId="Equation.3">
                  <p:embed/>
                </p:oleObj>
              </mc:Choice>
              <mc:Fallback>
                <p:oleObj r:id="rId19" imgW="723586" imgH="203112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4076700"/>
                        <a:ext cx="1476375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18" name="Object 22"/>
          <p:cNvGraphicFramePr>
            <a:graphicFrameLocks noChangeAspect="1"/>
          </p:cNvGraphicFramePr>
          <p:nvPr/>
        </p:nvGraphicFramePr>
        <p:xfrm>
          <a:off x="4427538" y="4581525"/>
          <a:ext cx="151130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49" r:id="rId20" imgW="812447" imgH="203112" progId="Equation.DSMT4">
                  <p:embed/>
                </p:oleObj>
              </mc:Choice>
              <mc:Fallback>
                <p:oleObj r:id="rId20" imgW="812447" imgH="203112" progId="Equation.DSMT4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7538" y="4581525"/>
                        <a:ext cx="151130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69720" name="Object 24"/>
          <p:cNvGraphicFramePr>
            <a:graphicFrameLocks noChangeAspect="1"/>
          </p:cNvGraphicFramePr>
          <p:nvPr/>
        </p:nvGraphicFramePr>
        <p:xfrm>
          <a:off x="7019925" y="4581525"/>
          <a:ext cx="1511300" cy="373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050" r:id="rId22" imgW="812447" imgH="203112" progId="Equation.DSMT4">
                  <p:embed/>
                </p:oleObj>
              </mc:Choice>
              <mc:Fallback>
                <p:oleObj r:id="rId22" imgW="812447" imgH="203112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4581525"/>
                        <a:ext cx="1511300" cy="373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904" name="AutoShape 27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37905" name="Rectangle 28">
            <a:hlinkClick r:id="rId23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37906" name="AutoShape 29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37907" name="Rectangle 30">
            <a:hlinkClick r:id="rId24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6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6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6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6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6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6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66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697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697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697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697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697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697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697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697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697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697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69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69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697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6697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5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696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5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6696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6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6696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6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7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66969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7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66969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66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8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4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66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8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9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1" dur="1000"/>
                                        <p:tgtEl>
                                          <p:spTgt spid="6697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9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9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6697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9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00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6697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0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0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05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97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06" dur="1000"/>
                                        <p:tgtEl>
                                          <p:spTgt spid="669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900113" y="620713"/>
            <a:ext cx="7402512" cy="576262"/>
          </a:xfrm>
        </p:spPr>
        <p:txBody>
          <a:bodyPr/>
          <a:lstStyle/>
          <a:p>
            <a:pPr eaLnBrk="1" hangingPunct="1"/>
            <a:r>
              <a:rPr lang="zh-CN" altLang="en-US" sz="2800" smtClean="0"/>
              <a:t>实序列</a:t>
            </a:r>
            <a:r>
              <a:rPr lang="en-US" altLang="zh-CN" sz="2800" smtClean="0"/>
              <a:t>2N</a:t>
            </a:r>
            <a:r>
              <a:rPr lang="zh-CN" altLang="en-US" sz="2800" smtClean="0"/>
              <a:t>点的</a:t>
            </a:r>
            <a:r>
              <a:rPr lang="en-US" altLang="zh-CN" sz="2800" smtClean="0"/>
              <a:t>DFT</a:t>
            </a:r>
            <a:r>
              <a:rPr lang="zh-CN" altLang="en-US" sz="2800" smtClean="0"/>
              <a:t>，拆分重组为</a:t>
            </a:r>
            <a:r>
              <a:rPr lang="en-US" altLang="zh-CN" sz="2800" smtClean="0"/>
              <a:t>N</a:t>
            </a:r>
            <a:r>
              <a:rPr lang="zh-CN" altLang="en-US" sz="2800" smtClean="0"/>
              <a:t>点复序列</a:t>
            </a:r>
            <a:r>
              <a:rPr lang="en-US" altLang="zh-CN" sz="2800" smtClean="0"/>
              <a:t>DFT</a:t>
            </a:r>
          </a:p>
        </p:txBody>
      </p:sp>
      <p:sp>
        <p:nvSpPr>
          <p:cNvPr id="746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341438"/>
            <a:ext cx="7689850" cy="4267200"/>
          </a:xfrm>
        </p:spPr>
        <p:txBody>
          <a:bodyPr/>
          <a:lstStyle/>
          <a:p>
            <a:pPr eaLnBrk="1" hangingPunct="1">
              <a:spcBef>
                <a:spcPct val="30000"/>
              </a:spcBef>
              <a:buFontTx/>
              <a:buNone/>
            </a:pPr>
            <a:r>
              <a:rPr kumimoji="1" lang="zh-CN" altLang="en-US" sz="2800" b="1" smtClean="0">
                <a:sym typeface="Symbol" panose="05050102010706020507" pitchFamily="18" charset="2"/>
              </a:rPr>
              <a:t>例如 </a:t>
            </a:r>
            <a:r>
              <a:rPr kumimoji="1" lang="zh-CN" altLang="en-US" smtClean="0">
                <a:sym typeface="Symbol" panose="05050102010706020507" pitchFamily="18" charset="2"/>
              </a:rPr>
              <a:t>      是实序列，长度为</a:t>
            </a:r>
            <a:r>
              <a:rPr kumimoji="1" lang="en-US" altLang="zh-CN" smtClean="0">
                <a:sym typeface="Symbol" panose="05050102010706020507" pitchFamily="18" charset="2"/>
              </a:rPr>
              <a:t>2N</a:t>
            </a:r>
          </a:p>
          <a:p>
            <a:pPr eaLnBrk="1" hangingPunct="1">
              <a:spcBef>
                <a:spcPct val="30000"/>
              </a:spcBef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</a:pPr>
            <a:r>
              <a:rPr kumimoji="1" lang="zh-CN" altLang="en-US" smtClean="0">
                <a:sym typeface="Symbol" panose="05050102010706020507" pitchFamily="18" charset="2"/>
              </a:rPr>
              <a:t>拆分</a:t>
            </a:r>
          </a:p>
          <a:p>
            <a:pPr eaLnBrk="1" hangingPunct="1">
              <a:spcBef>
                <a:spcPct val="30000"/>
              </a:spcBef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</a:pPr>
            <a:r>
              <a:rPr kumimoji="1" lang="zh-CN" altLang="en-US" smtClean="0">
                <a:sym typeface="Symbol" panose="05050102010706020507" pitchFamily="18" charset="2"/>
              </a:rPr>
              <a:t>重组</a:t>
            </a:r>
          </a:p>
          <a:p>
            <a:pPr eaLnBrk="1" hangingPunct="1">
              <a:buClr>
                <a:srgbClr val="CC3300"/>
              </a:buClr>
              <a:buSzPct val="70000"/>
              <a:buFont typeface="Wingdings" panose="05000000000000000000" pitchFamily="2" charset="2"/>
              <a:buChar char="u"/>
            </a:pPr>
            <a:r>
              <a:rPr kumimoji="1" lang="en-US" altLang="zh-CN" smtClean="0">
                <a:sym typeface="Symbol" panose="05050102010706020507" pitchFamily="18" charset="2"/>
              </a:rPr>
              <a:t>N</a:t>
            </a:r>
            <a:r>
              <a:rPr kumimoji="1" lang="zh-CN" altLang="en-US" smtClean="0">
                <a:sym typeface="Symbol" panose="05050102010706020507" pitchFamily="18" charset="2"/>
              </a:rPr>
              <a:t>点</a:t>
            </a:r>
            <a:r>
              <a:rPr kumimoji="1" lang="en-US" altLang="zh-CN" smtClean="0">
                <a:sym typeface="Symbol" panose="05050102010706020507" pitchFamily="18" charset="2"/>
              </a:rPr>
              <a:t>DFT</a:t>
            </a:r>
          </a:p>
          <a:p>
            <a:pPr eaLnBrk="1" hangingPunct="1"/>
            <a:endParaRPr lang="zh-CN" altLang="en-US" smtClean="0"/>
          </a:p>
        </p:txBody>
      </p:sp>
      <p:graphicFrame>
        <p:nvGraphicFramePr>
          <p:cNvPr id="746500" name="Object 4"/>
          <p:cNvGraphicFramePr>
            <a:graphicFrameLocks noChangeAspect="1"/>
          </p:cNvGraphicFramePr>
          <p:nvPr/>
        </p:nvGraphicFramePr>
        <p:xfrm>
          <a:off x="1908175" y="1412875"/>
          <a:ext cx="647700" cy="449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7" name="Equation" r:id="rId3" imgW="304536" imgH="203024" progId="Equation.DSMT4">
                  <p:embed/>
                </p:oleObj>
              </mc:Choice>
              <mc:Fallback>
                <p:oleObj name="Equation" r:id="rId3" imgW="304536" imgH="203024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1412875"/>
                        <a:ext cx="647700" cy="449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01" name="Object 5"/>
          <p:cNvGraphicFramePr>
            <a:graphicFrameLocks noChangeAspect="1"/>
          </p:cNvGraphicFramePr>
          <p:nvPr/>
        </p:nvGraphicFramePr>
        <p:xfrm>
          <a:off x="2051050" y="1916113"/>
          <a:ext cx="5257800" cy="436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8" name="Equation" r:id="rId5" imgW="2870200" imgH="228600" progId="Equation.DSMT4">
                  <p:embed/>
                </p:oleObj>
              </mc:Choice>
              <mc:Fallback>
                <p:oleObj name="Equation" r:id="rId5" imgW="28702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916113"/>
                        <a:ext cx="5257800" cy="436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02" name="Object 6"/>
          <p:cNvGraphicFramePr>
            <a:graphicFrameLocks noChangeAspect="1"/>
          </p:cNvGraphicFramePr>
          <p:nvPr/>
        </p:nvGraphicFramePr>
        <p:xfrm>
          <a:off x="2195513" y="2420938"/>
          <a:ext cx="4105275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8999" name="Equation" r:id="rId7" imgW="2197100" imgH="228600" progId="Equation.DSMT4">
                  <p:embed/>
                </p:oleObj>
              </mc:Choice>
              <mc:Fallback>
                <p:oleObj name="Equation" r:id="rId7" imgW="2197100" imgH="2286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420938"/>
                        <a:ext cx="4105275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03" name="Object 7"/>
          <p:cNvGraphicFramePr>
            <a:graphicFrameLocks noChangeAspect="1"/>
          </p:cNvGraphicFramePr>
          <p:nvPr/>
        </p:nvGraphicFramePr>
        <p:xfrm>
          <a:off x="1116013" y="3213100"/>
          <a:ext cx="712787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0" name="Equation" r:id="rId9" imgW="3505200" imgH="431800" progId="Equation.DSMT4">
                  <p:embed/>
                </p:oleObj>
              </mc:Choice>
              <mc:Fallback>
                <p:oleObj name="Equation" r:id="rId9" imgW="3505200" imgH="4318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3213100"/>
                        <a:ext cx="712787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04" name="Object 8"/>
          <p:cNvGraphicFramePr>
            <a:graphicFrameLocks noChangeAspect="1"/>
          </p:cNvGraphicFramePr>
          <p:nvPr/>
        </p:nvGraphicFramePr>
        <p:xfrm>
          <a:off x="1763713" y="4941888"/>
          <a:ext cx="29019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1" name="Equation" r:id="rId11" imgW="1269449" imgH="241195" progId="Equation.DSMT4">
                  <p:embed/>
                </p:oleObj>
              </mc:Choice>
              <mc:Fallback>
                <p:oleObj name="Equation" r:id="rId11" imgW="1269449" imgH="241195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941888"/>
                        <a:ext cx="29019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05" name="Object 9"/>
          <p:cNvGraphicFramePr>
            <a:graphicFrameLocks noChangeAspect="1"/>
          </p:cNvGraphicFramePr>
          <p:nvPr/>
        </p:nvGraphicFramePr>
        <p:xfrm>
          <a:off x="1763713" y="4005263"/>
          <a:ext cx="4608512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2" name="Equation" r:id="rId13" imgW="2032000" imgH="431800" progId="Equation.DSMT4">
                  <p:embed/>
                </p:oleObj>
              </mc:Choice>
              <mc:Fallback>
                <p:oleObj name="Equation" r:id="rId13" imgW="2032000" imgH="431800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4005263"/>
                        <a:ext cx="4608512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6506" name="Object 10"/>
          <p:cNvGraphicFramePr>
            <a:graphicFrameLocks noChangeAspect="1"/>
          </p:cNvGraphicFramePr>
          <p:nvPr/>
        </p:nvGraphicFramePr>
        <p:xfrm>
          <a:off x="1763713" y="5589588"/>
          <a:ext cx="5616575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003" name="Equation" r:id="rId15" imgW="2438400" imgH="241300" progId="Equation.DSMT4">
                  <p:embed/>
                </p:oleObj>
              </mc:Choice>
              <mc:Fallback>
                <p:oleObj name="Equation" r:id="rId15" imgW="2438400" imgH="2413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5589588"/>
                        <a:ext cx="5616575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8923" name="AutoShape 11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38924" name="Rectangle 12">
            <a:hlinkClick r:id="rId17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38925" name="AutoShape 13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38926" name="Rectangle 14">
            <a:hlinkClick r:id="rId18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64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465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465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4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464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746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746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4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464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6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6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4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464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4650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7465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465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465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465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465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465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465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7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549275"/>
            <a:ext cx="8135937" cy="5545138"/>
          </a:xfrm>
        </p:spPr>
        <p:txBody>
          <a:bodyPr/>
          <a:lstStyle/>
          <a:p>
            <a:pPr marL="457200" indent="-457200" eaLnBrk="1" hangingPunct="1">
              <a:buFontTx/>
              <a:buAutoNum type="circleNumDbPlain" startAt="6"/>
            </a:pPr>
            <a:r>
              <a:rPr lang="zh-CN" altLang="en-US" b="1" smtClean="0"/>
              <a:t>循环卷积定理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>
                <a:solidFill>
                  <a:srgbClr val="CC3300"/>
                </a:solidFill>
              </a:rPr>
              <a:t>时域循环卷积定理是</a:t>
            </a:r>
            <a:r>
              <a:rPr lang="en-US" altLang="zh-CN" smtClean="0">
                <a:solidFill>
                  <a:srgbClr val="CC3300"/>
                </a:solidFill>
              </a:rPr>
              <a:t>DFT</a:t>
            </a:r>
            <a:r>
              <a:rPr lang="zh-CN" altLang="en-US" smtClean="0">
                <a:solidFill>
                  <a:srgbClr val="CC3300"/>
                </a:solidFill>
              </a:rPr>
              <a:t>中很重要的定理，具有很强的实用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>
                <a:solidFill>
                  <a:srgbClr val="CC3300"/>
                </a:solidFill>
              </a:rPr>
              <a:t>性。已知系统输入和系统的单位脉冲响应，计算系统的输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>
                <a:solidFill>
                  <a:srgbClr val="CC3300"/>
                </a:solidFill>
              </a:rPr>
              <a:t>出，以及</a:t>
            </a:r>
            <a:r>
              <a:rPr lang="en-US" altLang="zh-CN" smtClean="0">
                <a:solidFill>
                  <a:srgbClr val="CC3300"/>
                </a:solidFill>
              </a:rPr>
              <a:t>FIR</a:t>
            </a:r>
            <a:r>
              <a:rPr lang="zh-CN" altLang="en-US" smtClean="0">
                <a:solidFill>
                  <a:srgbClr val="CC3300"/>
                </a:solidFill>
              </a:rPr>
              <a:t>滤波器用</a:t>
            </a:r>
            <a:r>
              <a:rPr lang="en-US" altLang="zh-CN" smtClean="0">
                <a:solidFill>
                  <a:srgbClr val="CC3300"/>
                </a:solidFill>
              </a:rPr>
              <a:t>FFT</a:t>
            </a:r>
            <a:r>
              <a:rPr lang="zh-CN" altLang="en-US" smtClean="0">
                <a:solidFill>
                  <a:srgbClr val="CC3300"/>
                </a:solidFill>
              </a:rPr>
              <a:t>实现等，都是该定理的重要应用。</a:t>
            </a:r>
          </a:p>
          <a:p>
            <a:pPr marL="457200" indent="-457200" eaLnBrk="1" hangingPunct="1">
              <a:buClr>
                <a:schemeClr val="tx2"/>
              </a:buClr>
              <a:buSzPct val="80000"/>
              <a:buFont typeface="Wingdings" panose="05000000000000000000" pitchFamily="2" charset="2"/>
              <a:buChar char="ü"/>
            </a:pPr>
            <a:r>
              <a:rPr lang="en-US" altLang="zh-CN" smtClean="0"/>
              <a:t>1. </a:t>
            </a:r>
            <a:r>
              <a:rPr lang="zh-CN" altLang="en-US" smtClean="0"/>
              <a:t>两个有限长序列的循环卷积 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设序列</a:t>
            </a:r>
            <a:r>
              <a:rPr lang="en-US" altLang="zh-CN" smtClean="0"/>
              <a:t>h(n)</a:t>
            </a:r>
            <a:r>
              <a:rPr lang="zh-CN" altLang="en-US" smtClean="0"/>
              <a:t>和</a:t>
            </a:r>
            <a:r>
              <a:rPr lang="en-US" altLang="zh-CN" smtClean="0"/>
              <a:t>x(n)</a:t>
            </a:r>
            <a:r>
              <a:rPr lang="zh-CN" altLang="en-US" smtClean="0"/>
              <a:t>的长度分别为</a:t>
            </a:r>
            <a:r>
              <a:rPr lang="en-US" altLang="zh-CN" smtClean="0"/>
              <a:t>N</a:t>
            </a:r>
            <a:r>
              <a:rPr lang="zh-CN" altLang="en-US" smtClean="0"/>
              <a:t>和</a:t>
            </a:r>
            <a:r>
              <a:rPr lang="en-US" altLang="zh-CN" smtClean="0"/>
              <a:t>M</a:t>
            </a:r>
            <a:r>
              <a:rPr lang="zh-CN" altLang="en-US" smtClean="0"/>
              <a:t>。</a:t>
            </a:r>
            <a:r>
              <a:rPr lang="en-US" altLang="zh-CN" smtClean="0"/>
              <a:t>h(n)</a:t>
            </a:r>
            <a:r>
              <a:rPr lang="zh-CN" altLang="en-US" smtClean="0"/>
              <a:t>与</a:t>
            </a:r>
            <a:r>
              <a:rPr lang="en-US" altLang="zh-CN" smtClean="0"/>
              <a:t>x(n)</a:t>
            </a:r>
            <a:r>
              <a:rPr lang="zh-CN" altLang="en-US" smtClean="0"/>
              <a:t>的</a:t>
            </a:r>
            <a:r>
              <a:rPr lang="en-US" altLang="zh-CN" smtClean="0"/>
              <a:t>L</a:t>
            </a:r>
            <a:r>
              <a:rPr lang="zh-CN" altLang="en-US" smtClean="0"/>
              <a:t>点循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环卷积定义为</a:t>
            </a:r>
          </a:p>
          <a:p>
            <a:pPr marL="457200" indent="-457200" eaLnBrk="1" hangingPunct="1">
              <a:buFontTx/>
              <a:buNone/>
            </a:pPr>
            <a:endParaRPr lang="zh-CN" altLang="en-US" smtClean="0"/>
          </a:p>
          <a:p>
            <a:pPr marL="457200" indent="-457200" eaLnBrk="1" hangingPunct="1">
              <a:buFontTx/>
              <a:buNone/>
            </a:pPr>
            <a:endParaRPr lang="zh-CN" altLang="en-US" smtClean="0"/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式中，</a:t>
            </a:r>
            <a:r>
              <a:rPr lang="en-US" altLang="zh-CN" smtClean="0"/>
              <a:t>L</a:t>
            </a:r>
            <a:r>
              <a:rPr lang="zh-CN" altLang="en-US" smtClean="0"/>
              <a:t>称为循环卷积的长度，</a:t>
            </a:r>
            <a:r>
              <a:rPr lang="en-US" altLang="zh-CN" smtClean="0"/>
              <a:t>L≥max[N</a:t>
            </a:r>
            <a:r>
              <a:rPr lang="zh-CN" altLang="en-US" smtClean="0"/>
              <a:t>，</a:t>
            </a:r>
            <a:r>
              <a:rPr lang="en-US" altLang="zh-CN" smtClean="0"/>
              <a:t>M]</a:t>
            </a:r>
            <a:r>
              <a:rPr lang="zh-CN" altLang="en-US" smtClean="0"/>
              <a:t>。 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为了区别线性卷积，用   表示循环卷积，用   表示</a:t>
            </a:r>
            <a:r>
              <a:rPr lang="en-US" altLang="zh-CN" smtClean="0"/>
              <a:t>L</a:t>
            </a:r>
            <a:r>
              <a:rPr lang="zh-CN" altLang="en-US" smtClean="0"/>
              <a:t>点循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环卷积，即             </a:t>
            </a:r>
            <a:r>
              <a:rPr lang="en-US" altLang="zh-CN" smtClean="0"/>
              <a:t>x(n)</a:t>
            </a:r>
            <a:r>
              <a:rPr lang="zh-CN" altLang="en-US" smtClean="0"/>
              <a:t>。 </a:t>
            </a:r>
          </a:p>
        </p:txBody>
      </p:sp>
      <p:graphicFrame>
        <p:nvGraphicFramePr>
          <p:cNvPr id="670724" name="Object 4"/>
          <p:cNvGraphicFramePr>
            <a:graphicFrameLocks noChangeAspect="1"/>
          </p:cNvGraphicFramePr>
          <p:nvPr/>
        </p:nvGraphicFramePr>
        <p:xfrm>
          <a:off x="2555875" y="3573463"/>
          <a:ext cx="4175125" cy="947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4" r:id="rId3" imgW="1968500" imgH="444500" progId="Equation.3">
                  <p:embed/>
                </p:oleObj>
              </mc:Choice>
              <mc:Fallback>
                <p:oleObj r:id="rId3" imgW="1968500" imgH="444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573463"/>
                        <a:ext cx="4175125" cy="947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0726" name="Object 6"/>
          <p:cNvGraphicFramePr>
            <a:graphicFrameLocks noChangeAspect="1"/>
          </p:cNvGraphicFramePr>
          <p:nvPr/>
        </p:nvGraphicFramePr>
        <p:xfrm>
          <a:off x="2268538" y="5445125"/>
          <a:ext cx="1512887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9985" r:id="rId5" imgW="698197" imgH="203112" progId="Equation.3">
                  <p:embed/>
                </p:oleObj>
              </mc:Choice>
              <mc:Fallback>
                <p:oleObj r:id="rId5" imgW="698197" imgH="20311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5445125"/>
                        <a:ext cx="1512887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70734" name="Group 14"/>
          <p:cNvGrpSpPr>
            <a:grpSpLocks/>
          </p:cNvGrpSpPr>
          <p:nvPr/>
        </p:nvGrpSpPr>
        <p:grpSpPr bwMode="auto">
          <a:xfrm>
            <a:off x="3851275" y="5013325"/>
            <a:ext cx="360363" cy="360363"/>
            <a:chOff x="1655" y="3294"/>
            <a:chExt cx="227" cy="236"/>
          </a:xfrm>
        </p:grpSpPr>
        <p:sp>
          <p:nvSpPr>
            <p:cNvPr id="39952" name="Oval 15"/>
            <p:cNvSpPr>
              <a:spLocks noChangeArrowheads="1"/>
            </p:cNvSpPr>
            <p:nvPr/>
          </p:nvSpPr>
          <p:spPr bwMode="auto">
            <a:xfrm>
              <a:off x="1655" y="3294"/>
              <a:ext cx="227" cy="227"/>
            </a:xfrm>
            <a:prstGeom prst="ellips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graphicFrame>
          <p:nvGraphicFramePr>
            <p:cNvPr id="39953" name="Object 16"/>
            <p:cNvGraphicFramePr>
              <a:graphicFrameLocks noChangeAspect="1"/>
            </p:cNvGraphicFramePr>
            <p:nvPr/>
          </p:nvGraphicFramePr>
          <p:xfrm>
            <a:off x="1701" y="3339"/>
            <a:ext cx="151" cy="19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9986" name="Equation" r:id="rId7" imgW="114201" imgH="139579" progId="Equation.DSMT4">
                    <p:embed/>
                  </p:oleObj>
                </mc:Choice>
                <mc:Fallback>
                  <p:oleObj name="Equation" r:id="rId7" imgW="114201" imgH="139579" progId="Equation.DSMT4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01" y="3339"/>
                          <a:ext cx="151" cy="19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70737" name="Group 17"/>
          <p:cNvGrpSpPr>
            <a:grpSpLocks/>
          </p:cNvGrpSpPr>
          <p:nvPr/>
        </p:nvGrpSpPr>
        <p:grpSpPr bwMode="auto">
          <a:xfrm>
            <a:off x="3779838" y="5445125"/>
            <a:ext cx="431800" cy="396875"/>
            <a:chOff x="2064" y="3294"/>
            <a:chExt cx="272" cy="276"/>
          </a:xfrm>
        </p:grpSpPr>
        <p:sp>
          <p:nvSpPr>
            <p:cNvPr id="39950" name="Oval 18"/>
            <p:cNvSpPr>
              <a:spLocks noChangeArrowheads="1"/>
            </p:cNvSpPr>
            <p:nvPr/>
          </p:nvSpPr>
          <p:spPr bwMode="auto">
            <a:xfrm>
              <a:off x="2064" y="3294"/>
              <a:ext cx="272" cy="272"/>
            </a:xfrm>
            <a:prstGeom prst="ellips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51" name="Text Box 19"/>
            <p:cNvSpPr txBox="1">
              <a:spLocks noChangeArrowheads="1"/>
            </p:cNvSpPr>
            <p:nvPr/>
          </p:nvSpPr>
          <p:spPr bwMode="auto">
            <a:xfrm>
              <a:off x="2109" y="3294"/>
              <a:ext cx="181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</p:grpSp>
      <p:grpSp>
        <p:nvGrpSpPr>
          <p:cNvPr id="670740" name="Group 20"/>
          <p:cNvGrpSpPr>
            <a:grpSpLocks/>
          </p:cNvGrpSpPr>
          <p:nvPr/>
        </p:nvGrpSpPr>
        <p:grpSpPr bwMode="auto">
          <a:xfrm>
            <a:off x="6732588" y="5013325"/>
            <a:ext cx="431800" cy="396875"/>
            <a:chOff x="2064" y="3294"/>
            <a:chExt cx="272" cy="276"/>
          </a:xfrm>
        </p:grpSpPr>
        <p:sp>
          <p:nvSpPr>
            <p:cNvPr id="39948" name="Oval 21"/>
            <p:cNvSpPr>
              <a:spLocks noChangeArrowheads="1"/>
            </p:cNvSpPr>
            <p:nvPr/>
          </p:nvSpPr>
          <p:spPr bwMode="auto">
            <a:xfrm>
              <a:off x="2064" y="3294"/>
              <a:ext cx="272" cy="272"/>
            </a:xfrm>
            <a:prstGeom prst="ellips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39949" name="Text Box 22"/>
            <p:cNvSpPr txBox="1">
              <a:spLocks noChangeArrowheads="1"/>
            </p:cNvSpPr>
            <p:nvPr/>
          </p:nvSpPr>
          <p:spPr bwMode="auto">
            <a:xfrm>
              <a:off x="2109" y="3294"/>
              <a:ext cx="181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</p:grpSp>
      <p:sp>
        <p:nvSpPr>
          <p:cNvPr id="39944" name="AutoShape 23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39945" name="Rectangle 24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39946" name="AutoShape 25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39947" name="Rectangle 26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67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7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7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67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67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7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7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7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7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7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7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7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7072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707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707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7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7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900" decel="100000" fill="hold"/>
                                        <p:tgtEl>
                                          <p:spTgt spid="67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072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70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70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900" decel="100000" fill="hold"/>
                                        <p:tgtEl>
                                          <p:spTgt spid="670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072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6707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707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900" decel="100000" fill="hold"/>
                                        <p:tgtEl>
                                          <p:spTgt spid="670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07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6707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707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900" decel="100000" fill="hold"/>
                                        <p:tgtEl>
                                          <p:spTgt spid="670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07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6707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707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900" decel="100000" fill="hold"/>
                                        <p:tgtEl>
                                          <p:spTgt spid="670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07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707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6707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900" decel="100000" fill="hold"/>
                                        <p:tgtEl>
                                          <p:spTgt spid="670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07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765175"/>
            <a:ext cx="7993062" cy="525621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有限长序列循环卷积的矩阵形式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上式中右边第一个矩阵称为</a:t>
            </a:r>
            <a:r>
              <a:rPr lang="en-US" altLang="zh-CN" smtClean="0"/>
              <a:t>x(n)</a:t>
            </a:r>
            <a:r>
              <a:rPr lang="zh-CN" altLang="en-US" smtClean="0"/>
              <a:t>的</a:t>
            </a:r>
            <a:r>
              <a:rPr lang="en-US" altLang="zh-CN" smtClean="0"/>
              <a:t>L</a:t>
            </a:r>
            <a:r>
              <a:rPr lang="zh-CN" altLang="en-US" smtClean="0"/>
              <a:t>点循环矩阵，它的特点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是：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(a)</a:t>
            </a:r>
            <a:r>
              <a:rPr lang="zh-CN" altLang="en-US" smtClean="0"/>
              <a:t>第一行是</a:t>
            </a:r>
            <a:r>
              <a:rPr lang="en-US" altLang="zh-CN" smtClean="0"/>
              <a:t>x(n)</a:t>
            </a:r>
            <a:r>
              <a:rPr lang="zh-CN" altLang="en-US" smtClean="0"/>
              <a:t>的</a:t>
            </a:r>
            <a:r>
              <a:rPr lang="en-US" altLang="zh-CN" smtClean="0"/>
              <a:t>L</a:t>
            </a:r>
            <a:r>
              <a:rPr lang="zh-CN" altLang="en-US" smtClean="0"/>
              <a:t>点循环倒相。</a:t>
            </a:r>
            <a:r>
              <a:rPr lang="en-US" altLang="zh-CN" smtClean="0"/>
              <a:t>x(0)</a:t>
            </a:r>
            <a:r>
              <a:rPr lang="zh-CN" altLang="en-US" smtClean="0"/>
              <a:t>不动，后面其它反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转</a:t>
            </a:r>
            <a:r>
              <a:rPr lang="en-US" altLang="zh-CN" smtClean="0"/>
              <a:t>180°</a:t>
            </a:r>
            <a:r>
              <a:rPr lang="zh-CN" altLang="en-US" smtClean="0"/>
              <a:t>放在他的后面。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(b)</a:t>
            </a:r>
            <a:r>
              <a:rPr lang="zh-CN" altLang="en-US" smtClean="0"/>
              <a:t>第二行是第一行向右循环移一位；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(c)</a:t>
            </a:r>
            <a:r>
              <a:rPr lang="zh-CN" altLang="en-US" smtClean="0"/>
              <a:t>第三行是第二行向右循环移一位；依次类推。</a:t>
            </a:r>
          </a:p>
        </p:txBody>
      </p:sp>
      <p:graphicFrame>
        <p:nvGraphicFramePr>
          <p:cNvPr id="686084" name="Object 4"/>
          <p:cNvGraphicFramePr>
            <a:graphicFrameLocks noChangeAspect="1"/>
          </p:cNvGraphicFramePr>
          <p:nvPr/>
        </p:nvGraphicFramePr>
        <p:xfrm>
          <a:off x="1187450" y="1270000"/>
          <a:ext cx="6840538" cy="2016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0978" name="公式" r:id="rId3" imgW="3975100" imgH="1168400" progId="Equation.3">
                  <p:embed/>
                </p:oleObj>
              </mc:Choice>
              <mc:Fallback>
                <p:oleObj name="公式" r:id="rId3" imgW="3975100" imgH="11684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1270000"/>
                        <a:ext cx="6840538" cy="20161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964" name="AutoShape 8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40965" name="Rectangle 9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40966" name="AutoShape 10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40967" name="Rectangle 11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8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860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8608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860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860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7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908050"/>
            <a:ext cx="7991475" cy="4826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例</a:t>
            </a:r>
            <a:r>
              <a:rPr lang="en-US" altLang="zh-CN" smtClean="0"/>
              <a:t>3.2</a:t>
            </a:r>
            <a:r>
              <a:rPr lang="zh-CN" altLang="en-US" smtClean="0"/>
              <a:t>： 计算下面给出的两个长度为</a:t>
            </a:r>
            <a:r>
              <a:rPr lang="en-US" altLang="zh-CN" smtClean="0"/>
              <a:t>4</a:t>
            </a:r>
            <a:r>
              <a:rPr lang="zh-CN" altLang="en-US" smtClean="0"/>
              <a:t>的序列</a:t>
            </a:r>
            <a:r>
              <a:rPr lang="en-US" altLang="zh-CN" smtClean="0"/>
              <a:t>h(n)</a:t>
            </a:r>
            <a:r>
              <a:rPr lang="zh-CN" altLang="en-US" smtClean="0"/>
              <a:t>与</a:t>
            </a:r>
            <a:r>
              <a:rPr lang="en-US" altLang="zh-CN" smtClean="0"/>
              <a:t>x(n)</a:t>
            </a:r>
            <a:r>
              <a:rPr lang="zh-CN" altLang="en-US" smtClean="0"/>
              <a:t>的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4</a:t>
            </a:r>
            <a:r>
              <a:rPr lang="zh-CN" altLang="en-US" smtClean="0"/>
              <a:t>点和</a:t>
            </a:r>
            <a:r>
              <a:rPr lang="en-US" altLang="zh-CN" smtClean="0"/>
              <a:t>8</a:t>
            </a:r>
            <a:r>
              <a:rPr lang="zh-CN" altLang="en-US" smtClean="0"/>
              <a:t>点循环卷积。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解</a:t>
            </a:r>
            <a:r>
              <a:rPr lang="en-US" altLang="zh-CN" b="1" smtClean="0"/>
              <a:t>:</a:t>
            </a:r>
            <a:r>
              <a:rPr lang="en-US" altLang="zh-CN" smtClean="0"/>
              <a:t> </a:t>
            </a:r>
            <a:r>
              <a:rPr lang="zh-CN" altLang="en-US" smtClean="0"/>
              <a:t>按照式</a:t>
            </a:r>
            <a:r>
              <a:rPr lang="en-US" altLang="zh-CN" smtClean="0"/>
              <a:t>(3.2.21)</a:t>
            </a:r>
            <a:r>
              <a:rPr lang="zh-CN" altLang="en-US" smtClean="0"/>
              <a:t>写出</a:t>
            </a:r>
            <a:r>
              <a:rPr lang="en-US" altLang="zh-CN" smtClean="0"/>
              <a:t>h(n)</a:t>
            </a:r>
            <a:r>
              <a:rPr lang="zh-CN" altLang="en-US" smtClean="0"/>
              <a:t>与</a:t>
            </a:r>
            <a:r>
              <a:rPr lang="en-US" altLang="zh-CN" smtClean="0"/>
              <a:t>x(n)</a:t>
            </a:r>
            <a:r>
              <a:rPr lang="zh-CN" altLang="en-US" smtClean="0"/>
              <a:t>的</a:t>
            </a:r>
            <a:r>
              <a:rPr lang="en-US" altLang="zh-CN" smtClean="0"/>
              <a:t>4</a:t>
            </a:r>
            <a:r>
              <a:rPr lang="zh-CN" altLang="en-US" smtClean="0"/>
              <a:t>点循环卷积矩阵形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式为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                        ④</a:t>
            </a:r>
          </a:p>
          <a:p>
            <a:pPr eaLnBrk="1" hangingPunct="1">
              <a:buFontTx/>
              <a:buNone/>
            </a:pPr>
            <a:endParaRPr lang="zh-CN" altLang="en-US" smtClean="0"/>
          </a:p>
        </p:txBody>
      </p:sp>
      <p:graphicFrame>
        <p:nvGraphicFramePr>
          <p:cNvPr id="41987" name="Object 4"/>
          <p:cNvGraphicFramePr>
            <a:graphicFrameLocks noChangeAspect="1"/>
          </p:cNvGraphicFramePr>
          <p:nvPr/>
        </p:nvGraphicFramePr>
        <p:xfrm>
          <a:off x="2124075" y="1773238"/>
          <a:ext cx="4319588" cy="9064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7" r:id="rId3" imgW="2133600" imgH="444500" progId="Equation.3">
                  <p:embed/>
                </p:oleObj>
              </mc:Choice>
              <mc:Fallback>
                <p:oleObj r:id="rId3" imgW="2133600" imgH="4445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773238"/>
                        <a:ext cx="4319588" cy="9064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88" name="Rectangle 7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14758" name="Object 6"/>
          <p:cNvGraphicFramePr>
            <a:graphicFrameLocks noChangeAspect="1"/>
          </p:cNvGraphicFramePr>
          <p:nvPr/>
        </p:nvGraphicFramePr>
        <p:xfrm>
          <a:off x="2916238" y="3573463"/>
          <a:ext cx="1655762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8" r:id="rId5" imgW="698197" imgH="203112" progId="Equation.3">
                  <p:embed/>
                </p:oleObj>
              </mc:Choice>
              <mc:Fallback>
                <p:oleObj r:id="rId5" imgW="698197" imgH="20311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3573463"/>
                        <a:ext cx="1655762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4760" name="Object 8"/>
          <p:cNvGraphicFramePr>
            <a:graphicFrameLocks noChangeAspect="1"/>
          </p:cNvGraphicFramePr>
          <p:nvPr/>
        </p:nvGraphicFramePr>
        <p:xfrm>
          <a:off x="4859338" y="3573463"/>
          <a:ext cx="647700" cy="446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39" r:id="rId7" imgW="279400" imgH="190500" progId="Equation.DSMT4">
                  <p:embed/>
                </p:oleObj>
              </mc:Choice>
              <mc:Fallback>
                <p:oleObj r:id="rId7" imgW="279400" imgH="1905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3573463"/>
                        <a:ext cx="647700" cy="446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1" name="Rectangle 11"/>
          <p:cNvSpPr>
            <a:spLocks noChangeArrowheads="1"/>
          </p:cNvSpPr>
          <p:nvPr/>
        </p:nvSpPr>
        <p:spPr bwMode="auto">
          <a:xfrm>
            <a:off x="0" y="30194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14762" name="Object 10"/>
          <p:cNvGraphicFramePr>
            <a:graphicFrameLocks noChangeAspect="1"/>
          </p:cNvGraphicFramePr>
          <p:nvPr/>
        </p:nvGraphicFramePr>
        <p:xfrm>
          <a:off x="2339975" y="4005263"/>
          <a:ext cx="4103688" cy="181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040" r:id="rId9" imgW="1866900" imgH="825500" progId="Equation.3">
                  <p:embed/>
                </p:oleObj>
              </mc:Choice>
              <mc:Fallback>
                <p:oleObj r:id="rId9" imgW="1866900" imgH="825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975" y="4005263"/>
                        <a:ext cx="4103688" cy="181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3" name="AutoShape 14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41994" name="Rectangle 15">
            <a:hlinkClick r:id="rId11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41995" name="AutoShape 16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41996" name="Rectangle 17">
            <a:hlinkClick r:id="rId12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47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1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1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147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1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1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475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71475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147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147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147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147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147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71476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147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147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341438"/>
            <a:ext cx="7704138" cy="4267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mtClean="0"/>
              <a:t>h(n)</a:t>
            </a:r>
            <a:r>
              <a:rPr lang="zh-CN" altLang="en-US" smtClean="0"/>
              <a:t>与</a:t>
            </a:r>
            <a:r>
              <a:rPr lang="en-US" altLang="zh-CN" smtClean="0"/>
              <a:t>x(n)</a:t>
            </a:r>
            <a:r>
              <a:rPr lang="zh-CN" altLang="en-US" smtClean="0"/>
              <a:t>的</a:t>
            </a:r>
            <a:r>
              <a:rPr lang="en-US" altLang="zh-CN" smtClean="0"/>
              <a:t>8</a:t>
            </a:r>
            <a:r>
              <a:rPr lang="zh-CN" altLang="en-US" smtClean="0"/>
              <a:t>点循环卷积矩阵形式为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                      ⑧</a:t>
            </a:r>
          </a:p>
          <a:p>
            <a:pPr eaLnBrk="1" hangingPunct="1">
              <a:buFontTx/>
              <a:buNone/>
            </a:pPr>
            <a:endParaRPr lang="zh-CN" altLang="en-US" smtClean="0"/>
          </a:p>
        </p:txBody>
      </p:sp>
      <p:graphicFrame>
        <p:nvGraphicFramePr>
          <p:cNvPr id="43011" name="Object 4"/>
          <p:cNvGraphicFramePr>
            <a:graphicFrameLocks noChangeAspect="1"/>
          </p:cNvGraphicFramePr>
          <p:nvPr/>
        </p:nvGraphicFramePr>
        <p:xfrm>
          <a:off x="2771775" y="1773238"/>
          <a:ext cx="1584325" cy="455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49" r:id="rId3" imgW="698197" imgH="203112" progId="Equation.3">
                  <p:embed/>
                </p:oleObj>
              </mc:Choice>
              <mc:Fallback>
                <p:oleObj r:id="rId3" imgW="698197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773238"/>
                        <a:ext cx="1584325" cy="455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3012" name="Object 6"/>
          <p:cNvGraphicFramePr>
            <a:graphicFrameLocks noChangeAspect="1"/>
          </p:cNvGraphicFramePr>
          <p:nvPr/>
        </p:nvGraphicFramePr>
        <p:xfrm>
          <a:off x="4643438" y="1773238"/>
          <a:ext cx="64928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0" r:id="rId5" imgW="279400" imgH="190500" progId="Equation.DSMT4">
                  <p:embed/>
                </p:oleObj>
              </mc:Choice>
              <mc:Fallback>
                <p:oleObj r:id="rId5" imgW="279400" imgH="1905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1773238"/>
                        <a:ext cx="649287" cy="447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3" name="Rectangle 9"/>
          <p:cNvSpPr>
            <a:spLocks noChangeArrowheads="1"/>
          </p:cNvSpPr>
          <p:nvPr/>
        </p:nvSpPr>
        <p:spPr bwMode="auto">
          <a:xfrm>
            <a:off x="0" y="2624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43014" name="Object 8"/>
          <p:cNvGraphicFramePr>
            <a:graphicFrameLocks noChangeAspect="1"/>
          </p:cNvGraphicFramePr>
          <p:nvPr/>
        </p:nvGraphicFramePr>
        <p:xfrm>
          <a:off x="1692275" y="2276475"/>
          <a:ext cx="5329238" cy="327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3051" r:id="rId7" imgW="2641600" imgH="1625600" progId="Equation.3">
                  <p:embed/>
                </p:oleObj>
              </mc:Choice>
              <mc:Fallback>
                <p:oleObj r:id="rId7" imgW="2641600" imgH="1625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276475"/>
                        <a:ext cx="5329238" cy="3275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3015" name="AutoShape 12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43016" name="Rectangle 13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43017" name="AutoShape 14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43018" name="Rectangle 15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7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620713"/>
            <a:ext cx="7848600" cy="4267200"/>
          </a:xfrm>
        </p:spPr>
        <p:txBody>
          <a:bodyPr/>
          <a:lstStyle/>
          <a:p>
            <a:pPr eaLnBrk="1" hangingPunct="1">
              <a:buClr>
                <a:schemeClr val="tx2"/>
              </a:buClr>
              <a:buSzPct val="80000"/>
              <a:buFont typeface="Wingdings" panose="05000000000000000000" pitchFamily="2" charset="2"/>
              <a:buChar char="ü"/>
            </a:pPr>
            <a:r>
              <a:rPr lang="en-US" altLang="zh-CN" smtClean="0"/>
              <a:t>2. DFT</a:t>
            </a:r>
            <a:r>
              <a:rPr lang="zh-CN" altLang="en-US" smtClean="0"/>
              <a:t>的时域循环卷积定理 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设</a:t>
            </a:r>
            <a:r>
              <a:rPr lang="en-US" altLang="zh-CN" smtClean="0"/>
              <a:t>h(n)</a:t>
            </a:r>
            <a:r>
              <a:rPr lang="zh-CN" altLang="en-US" smtClean="0"/>
              <a:t>和</a:t>
            </a:r>
            <a:r>
              <a:rPr lang="en-US" altLang="zh-CN" smtClean="0"/>
              <a:t>x(n)</a:t>
            </a:r>
            <a:r>
              <a:rPr lang="zh-CN" altLang="en-US" smtClean="0"/>
              <a:t>长度分别为</a:t>
            </a:r>
            <a:r>
              <a:rPr lang="en-US" altLang="zh-CN" smtClean="0"/>
              <a:t>N</a:t>
            </a:r>
            <a:r>
              <a:rPr lang="zh-CN" altLang="en-US" smtClean="0"/>
              <a:t>和</a:t>
            </a:r>
            <a:r>
              <a:rPr lang="en-US" altLang="zh-CN" smtClean="0"/>
              <a:t>M</a:t>
            </a:r>
            <a:r>
              <a:rPr lang="zh-CN" altLang="en-US" smtClean="0"/>
              <a:t>，</a:t>
            </a:r>
            <a:r>
              <a:rPr lang="en-US" altLang="zh-CN" smtClean="0"/>
              <a:t>y</a:t>
            </a:r>
            <a:r>
              <a:rPr lang="en-US" altLang="zh-CN" baseline="-25000" smtClean="0"/>
              <a:t>c</a:t>
            </a:r>
            <a:r>
              <a:rPr lang="en-US" altLang="zh-CN" smtClean="0"/>
              <a:t>(n)</a:t>
            </a:r>
            <a:r>
              <a:rPr lang="zh-CN" altLang="en-US" smtClean="0"/>
              <a:t>为序列</a:t>
            </a:r>
            <a:r>
              <a:rPr lang="en-US" altLang="zh-CN" smtClean="0"/>
              <a:t>h(n)</a:t>
            </a:r>
            <a:r>
              <a:rPr lang="zh-CN" altLang="en-US" smtClean="0"/>
              <a:t>和</a:t>
            </a:r>
            <a:r>
              <a:rPr lang="en-US" altLang="zh-CN" smtClean="0"/>
              <a:t>x(n)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的</a:t>
            </a:r>
            <a:r>
              <a:rPr lang="en-US" altLang="zh-CN" smtClean="0"/>
              <a:t>L</a:t>
            </a:r>
            <a:r>
              <a:rPr lang="zh-CN" altLang="en-US" smtClean="0"/>
              <a:t>点循环卷积，即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                            x(n) 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则 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式中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时域循环卷积定理表明，</a:t>
            </a:r>
            <a:r>
              <a:rPr lang="en-US" altLang="zh-CN" smtClean="0">
                <a:solidFill>
                  <a:srgbClr val="CC3300"/>
                </a:solidFill>
              </a:rPr>
              <a:t>DFT</a:t>
            </a:r>
            <a:r>
              <a:rPr lang="zh-CN" altLang="en-US" smtClean="0">
                <a:solidFill>
                  <a:srgbClr val="CC3300"/>
                </a:solidFill>
              </a:rPr>
              <a:t>将时域循环卷积关系，变换</a:t>
            </a:r>
          </a:p>
          <a:p>
            <a:pPr eaLnBrk="1" hangingPunct="1">
              <a:buFontTx/>
              <a:buNone/>
            </a:pPr>
            <a:r>
              <a:rPr lang="zh-CN" altLang="en-US" smtClean="0">
                <a:solidFill>
                  <a:srgbClr val="CC3300"/>
                </a:solidFill>
              </a:rPr>
              <a:t>成频域的相乘关系</a:t>
            </a:r>
            <a:r>
              <a:rPr lang="zh-CN" altLang="en-US" smtClean="0"/>
              <a:t>。用时域循环卷积定理计算两个序列循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环卷积运算的方框图如下图所示 </a:t>
            </a:r>
            <a:endParaRPr lang="en-US" altLang="zh-CN" smtClean="0"/>
          </a:p>
        </p:txBody>
      </p:sp>
      <p:graphicFrame>
        <p:nvGraphicFramePr>
          <p:cNvPr id="671748" name="Object 4"/>
          <p:cNvGraphicFramePr>
            <a:graphicFrameLocks noChangeAspect="1"/>
          </p:cNvGraphicFramePr>
          <p:nvPr/>
        </p:nvGraphicFramePr>
        <p:xfrm>
          <a:off x="3059113" y="1989138"/>
          <a:ext cx="1511300" cy="434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8" r:id="rId3" imgW="698197" imgH="203112" progId="Equation.3">
                  <p:embed/>
                </p:oleObj>
              </mc:Choice>
              <mc:Fallback>
                <p:oleObj r:id="rId3" imgW="698197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1989138"/>
                        <a:ext cx="1511300" cy="434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36" name="Rectangle 9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71752" name="Object 8"/>
          <p:cNvGraphicFramePr>
            <a:graphicFrameLocks noChangeAspect="1"/>
          </p:cNvGraphicFramePr>
          <p:nvPr/>
        </p:nvGraphicFramePr>
        <p:xfrm>
          <a:off x="1331913" y="2420938"/>
          <a:ext cx="6408737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79" r:id="rId5" imgW="2908300" imgH="203200" progId="Equation.3">
                  <p:embed/>
                </p:oleObj>
              </mc:Choice>
              <mc:Fallback>
                <p:oleObj r:id="rId5" imgW="2908300" imgH="203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420938"/>
                        <a:ext cx="6408737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1754" name="Object 10"/>
          <p:cNvGraphicFramePr>
            <a:graphicFrameLocks noChangeAspect="1"/>
          </p:cNvGraphicFramePr>
          <p:nvPr/>
        </p:nvGraphicFramePr>
        <p:xfrm>
          <a:off x="1979613" y="2925763"/>
          <a:ext cx="5041900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4080" r:id="rId7" imgW="2463800" imgH="203200" progId="Equation.3">
                  <p:embed/>
                </p:oleObj>
              </mc:Choice>
              <mc:Fallback>
                <p:oleObj r:id="rId7" imgW="2463800" imgH="203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2925763"/>
                        <a:ext cx="5041900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671756" name="Picture 12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350" y="4581525"/>
            <a:ext cx="6121400" cy="139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71757" name="Text Box 13"/>
          <p:cNvSpPr txBox="1">
            <a:spLocks noChangeArrowheads="1"/>
          </p:cNvSpPr>
          <p:nvPr/>
        </p:nvSpPr>
        <p:spPr bwMode="auto">
          <a:xfrm>
            <a:off x="1619250" y="5805488"/>
            <a:ext cx="5768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600">
                <a:latin typeface="Arial" panose="020B0604020202020204" pitchFamily="34" charset="0"/>
              </a:rPr>
              <a:t>图</a:t>
            </a:r>
            <a:r>
              <a:rPr lang="en-US" altLang="zh-CN" sz="1600">
                <a:latin typeface="Arial" panose="020B0604020202020204" pitchFamily="34" charset="0"/>
              </a:rPr>
              <a:t>3.2.3 </a:t>
            </a:r>
            <a:r>
              <a:rPr lang="zh-CN" altLang="en-US" sz="1600">
                <a:latin typeface="Arial" panose="020B0604020202020204" pitchFamily="34" charset="0"/>
              </a:rPr>
              <a:t>用</a:t>
            </a:r>
            <a:r>
              <a:rPr lang="en-US" altLang="zh-CN" sz="1600">
                <a:latin typeface="Arial" panose="020B0604020202020204" pitchFamily="34" charset="0"/>
              </a:rPr>
              <a:t>DFT</a:t>
            </a:r>
            <a:r>
              <a:rPr lang="zh-CN" altLang="en-US" sz="1600">
                <a:latin typeface="Arial" panose="020B0604020202020204" pitchFamily="34" charset="0"/>
              </a:rPr>
              <a:t>计算两个有限长序列</a:t>
            </a:r>
            <a:r>
              <a:rPr lang="en-US" altLang="zh-CN" sz="1600" i="1">
                <a:latin typeface="Arial" panose="020B0604020202020204" pitchFamily="34" charset="0"/>
              </a:rPr>
              <a:t>L</a:t>
            </a:r>
            <a:r>
              <a:rPr lang="zh-CN" altLang="en-US" sz="1600">
                <a:latin typeface="Arial" panose="020B0604020202020204" pitchFamily="34" charset="0"/>
              </a:rPr>
              <a:t>点循环卷积运算的方框图</a:t>
            </a:r>
            <a:r>
              <a:rPr lang="zh-CN" altLang="en-US" sz="28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endParaRPr lang="en-US" altLang="zh-CN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671760" name="Group 16"/>
          <p:cNvGrpSpPr>
            <a:grpSpLocks/>
          </p:cNvGrpSpPr>
          <p:nvPr/>
        </p:nvGrpSpPr>
        <p:grpSpPr bwMode="auto">
          <a:xfrm>
            <a:off x="4572000" y="2060575"/>
            <a:ext cx="431800" cy="396875"/>
            <a:chOff x="2064" y="3294"/>
            <a:chExt cx="272" cy="276"/>
          </a:xfrm>
        </p:grpSpPr>
        <p:sp>
          <p:nvSpPr>
            <p:cNvPr id="44046" name="Oval 17"/>
            <p:cNvSpPr>
              <a:spLocks noChangeArrowheads="1"/>
            </p:cNvSpPr>
            <p:nvPr/>
          </p:nvSpPr>
          <p:spPr bwMode="auto">
            <a:xfrm>
              <a:off x="2064" y="3294"/>
              <a:ext cx="272" cy="272"/>
            </a:xfrm>
            <a:prstGeom prst="ellips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4047" name="Text Box 18"/>
            <p:cNvSpPr txBox="1">
              <a:spLocks noChangeArrowheads="1"/>
            </p:cNvSpPr>
            <p:nvPr/>
          </p:nvSpPr>
          <p:spPr bwMode="auto">
            <a:xfrm>
              <a:off x="2109" y="3294"/>
              <a:ext cx="181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</p:grpSp>
      <p:sp>
        <p:nvSpPr>
          <p:cNvPr id="44042" name="AutoShape 19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44043" name="Rectangle 20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44044" name="AutoShape 21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44045" name="Rectangle 22">
            <a:hlinkClick r:id="rId11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17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717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717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7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71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7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7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7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717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7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7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7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717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7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7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7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717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6717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717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900" decel="100000" fill="hold"/>
                                        <p:tgtEl>
                                          <p:spTgt spid="671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17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7175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717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900" decel="100000" fill="hold"/>
                                        <p:tgtEl>
                                          <p:spTgt spid="671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17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1757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8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549275"/>
            <a:ext cx="7705725" cy="5832475"/>
          </a:xfrm>
        </p:spPr>
        <p:txBody>
          <a:bodyPr/>
          <a:lstStyle/>
          <a:p>
            <a:pPr marL="457200" indent="-457200" eaLnBrk="1" hangingPunct="1">
              <a:buClr>
                <a:schemeClr val="tx2"/>
              </a:buClr>
              <a:buSzPct val="80000"/>
              <a:buFont typeface="Wingdings" panose="05000000000000000000" pitchFamily="2" charset="2"/>
              <a:buChar char="ü"/>
            </a:pPr>
            <a:r>
              <a:rPr lang="en-US" altLang="zh-CN" smtClean="0"/>
              <a:t>3. DFT</a:t>
            </a:r>
            <a:r>
              <a:rPr lang="zh-CN" altLang="en-US" smtClean="0"/>
              <a:t>的频域循环卷积定理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设</a:t>
            </a:r>
            <a:r>
              <a:rPr lang="en-US" altLang="zh-CN" smtClean="0"/>
              <a:t>h(n)</a:t>
            </a:r>
            <a:r>
              <a:rPr lang="zh-CN" altLang="en-US" smtClean="0"/>
              <a:t>和</a:t>
            </a:r>
            <a:r>
              <a:rPr lang="en-US" altLang="zh-CN" smtClean="0"/>
              <a:t>x(n)</a:t>
            </a:r>
            <a:r>
              <a:rPr lang="zh-CN" altLang="en-US" smtClean="0"/>
              <a:t>长度分别为</a:t>
            </a:r>
            <a:r>
              <a:rPr lang="en-US" altLang="zh-CN" smtClean="0"/>
              <a:t>N</a:t>
            </a:r>
            <a:r>
              <a:rPr lang="zh-CN" altLang="en-US" smtClean="0"/>
              <a:t>和</a:t>
            </a:r>
            <a:r>
              <a:rPr lang="en-US" altLang="zh-CN" smtClean="0"/>
              <a:t>M</a:t>
            </a:r>
            <a:r>
              <a:rPr lang="zh-CN" altLang="en-US" smtClean="0"/>
              <a:t>，并且 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               ，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则 </a:t>
            </a:r>
          </a:p>
          <a:p>
            <a:pPr marL="457200" indent="-457200" eaLnBrk="1" hangingPunct="1">
              <a:buFontTx/>
              <a:buNone/>
            </a:pPr>
            <a:endParaRPr lang="zh-CN" altLang="en-US" smtClean="0"/>
          </a:p>
          <a:p>
            <a:pPr marL="457200" indent="-457200" eaLnBrk="1" hangingPunct="1">
              <a:buFontTx/>
              <a:buNone/>
            </a:pPr>
            <a:endParaRPr lang="zh-CN" altLang="en-US" smtClean="0"/>
          </a:p>
          <a:p>
            <a:pPr marL="457200" indent="-457200" eaLnBrk="1" hangingPunct="1">
              <a:buFontTx/>
              <a:buNone/>
            </a:pPr>
            <a:endParaRPr lang="zh-CN" altLang="en-US" smtClean="0"/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式中，</a:t>
            </a:r>
            <a:r>
              <a:rPr lang="en-US" altLang="zh-CN" smtClean="0"/>
              <a:t>L≥max[N, M]</a:t>
            </a:r>
            <a:r>
              <a:rPr lang="zh-CN" altLang="en-US" smtClean="0"/>
              <a:t>。</a:t>
            </a:r>
          </a:p>
          <a:p>
            <a:pPr marL="457200" indent="-457200" eaLnBrk="1" hangingPunct="1">
              <a:buFontTx/>
              <a:buNone/>
            </a:pPr>
            <a:r>
              <a:rPr lang="en-US" altLang="zh-CN" b="1" smtClean="0">
                <a:latin typeface="Arial Black" panose="020B0A04020102020204" pitchFamily="34" charset="0"/>
              </a:rPr>
              <a:t>DFT</a:t>
            </a:r>
            <a:r>
              <a:rPr lang="zh-CN" altLang="en-US" b="1" smtClean="0">
                <a:latin typeface="Arial Black" panose="020B0A04020102020204" pitchFamily="34" charset="0"/>
              </a:rPr>
              <a:t>：</a:t>
            </a:r>
            <a:r>
              <a:rPr lang="zh-CN" altLang="en-US" b="1" smtClean="0"/>
              <a:t>  </a:t>
            </a:r>
            <a:r>
              <a:rPr lang="zh-CN" altLang="en-US" b="1" smtClean="0">
                <a:solidFill>
                  <a:srgbClr val="FF0000"/>
                </a:solidFill>
              </a:rPr>
              <a:t>时域循环卷积</a:t>
            </a:r>
            <a:r>
              <a:rPr lang="zh-CN" altLang="en-US" b="1" smtClean="0"/>
              <a:t>            </a:t>
            </a:r>
            <a:r>
              <a:rPr lang="zh-CN" altLang="en-US" b="1" smtClean="0">
                <a:solidFill>
                  <a:srgbClr val="FF0000"/>
                </a:solidFill>
              </a:rPr>
              <a:t>频域乘积</a:t>
            </a:r>
            <a:endParaRPr lang="zh-CN" altLang="en-US" b="1" smtClean="0"/>
          </a:p>
          <a:p>
            <a:pPr marL="457200" indent="-457200" eaLnBrk="1" hangingPunct="1">
              <a:buFontTx/>
              <a:buAutoNum type="circleNumDbPlain" startAt="7"/>
            </a:pPr>
            <a:r>
              <a:rPr lang="zh-CN" altLang="en-US" b="1" smtClean="0"/>
              <a:t>离散巴塞伐尔定理</a:t>
            </a:r>
            <a:r>
              <a:rPr lang="zh-CN" altLang="en-US" smtClean="0"/>
              <a:t> 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设长度为</a:t>
            </a:r>
            <a:r>
              <a:rPr lang="en-US" altLang="zh-CN" smtClean="0"/>
              <a:t>N</a:t>
            </a:r>
            <a:r>
              <a:rPr lang="zh-CN" altLang="en-US" smtClean="0"/>
              <a:t>的序列</a:t>
            </a:r>
            <a:r>
              <a:rPr lang="en-US" altLang="zh-CN" smtClean="0"/>
              <a:t>x(n)</a:t>
            </a:r>
            <a:r>
              <a:rPr lang="zh-CN" altLang="en-US" smtClean="0"/>
              <a:t>的</a:t>
            </a:r>
            <a:r>
              <a:rPr lang="en-US" altLang="zh-CN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为</a:t>
            </a:r>
            <a:r>
              <a:rPr lang="en-US" altLang="zh-CN" smtClean="0"/>
              <a:t>X(k)</a:t>
            </a:r>
            <a:r>
              <a:rPr lang="zh-CN" altLang="en-US" smtClean="0"/>
              <a:t>，则 </a:t>
            </a:r>
          </a:p>
        </p:txBody>
      </p:sp>
      <p:graphicFrame>
        <p:nvGraphicFramePr>
          <p:cNvPr id="674821" name="Object 5"/>
          <p:cNvGraphicFramePr>
            <a:graphicFrameLocks noChangeAspect="1"/>
          </p:cNvGraphicFramePr>
          <p:nvPr/>
        </p:nvGraphicFramePr>
        <p:xfrm>
          <a:off x="1044575" y="1484313"/>
          <a:ext cx="208915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3" r:id="rId3" imgW="952087" imgH="203112" progId="Equation.3">
                  <p:embed/>
                </p:oleObj>
              </mc:Choice>
              <mc:Fallback>
                <p:oleObj r:id="rId3" imgW="952087" imgH="203112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4575" y="1484313"/>
                        <a:ext cx="2089150" cy="438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4823" name="Object 7"/>
          <p:cNvGraphicFramePr>
            <a:graphicFrameLocks noChangeAspect="1"/>
          </p:cNvGraphicFramePr>
          <p:nvPr/>
        </p:nvGraphicFramePr>
        <p:xfrm>
          <a:off x="3348038" y="1557338"/>
          <a:ext cx="460851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4" r:id="rId5" imgW="2298700" imgH="203200" progId="Equation.3">
                  <p:embed/>
                </p:oleObj>
              </mc:Choice>
              <mc:Fallback>
                <p:oleObj r:id="rId5" imgW="2298700" imgH="203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1557338"/>
                        <a:ext cx="4608512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4825" name="Object 9"/>
          <p:cNvGraphicFramePr>
            <a:graphicFrameLocks noChangeAspect="1"/>
          </p:cNvGraphicFramePr>
          <p:nvPr/>
        </p:nvGraphicFramePr>
        <p:xfrm>
          <a:off x="1692275" y="2060575"/>
          <a:ext cx="3455988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5" r:id="rId7" imgW="1726451" imgH="355446" progId="Equation.3">
                  <p:embed/>
                </p:oleObj>
              </mc:Choice>
              <mc:Fallback>
                <p:oleObj r:id="rId7" imgW="1726451" imgH="355446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2060575"/>
                        <a:ext cx="3455988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4827" name="Object 11"/>
          <p:cNvGraphicFramePr>
            <a:graphicFrameLocks noChangeAspect="1"/>
          </p:cNvGraphicFramePr>
          <p:nvPr/>
        </p:nvGraphicFramePr>
        <p:xfrm>
          <a:off x="5580063" y="2205038"/>
          <a:ext cx="720725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6" r:id="rId9" imgW="330057" imgH="190417" progId="Equation.DSMT4">
                  <p:embed/>
                </p:oleObj>
              </mc:Choice>
              <mc:Fallback>
                <p:oleObj r:id="rId9" imgW="330057" imgH="190417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2205038"/>
                        <a:ext cx="720725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4829" name="Object 13"/>
          <p:cNvGraphicFramePr>
            <a:graphicFrameLocks noChangeAspect="1"/>
          </p:cNvGraphicFramePr>
          <p:nvPr/>
        </p:nvGraphicFramePr>
        <p:xfrm>
          <a:off x="4068763" y="2708275"/>
          <a:ext cx="3744912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7" r:id="rId11" imgW="1714500" imgH="431800" progId="Equation.DSMT4">
                  <p:embed/>
                </p:oleObj>
              </mc:Choice>
              <mc:Fallback>
                <p:oleObj r:id="rId11" imgW="1714500" imgH="43180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763" y="2708275"/>
                        <a:ext cx="3744912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4831" name="Object 15"/>
          <p:cNvGraphicFramePr>
            <a:graphicFrameLocks noChangeAspect="1"/>
          </p:cNvGraphicFramePr>
          <p:nvPr/>
        </p:nvGraphicFramePr>
        <p:xfrm>
          <a:off x="3132138" y="5373688"/>
          <a:ext cx="2808287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5138" r:id="rId13" imgW="1409700" imgH="419100" progId="Equation.3">
                  <p:embed/>
                </p:oleObj>
              </mc:Choice>
              <mc:Fallback>
                <p:oleObj r:id="rId13" imgW="1409700" imgH="4191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5373688"/>
                        <a:ext cx="2808287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4835" name="AutoShape 19"/>
          <p:cNvSpPr>
            <a:spLocks noChangeArrowheads="1"/>
          </p:cNvSpPr>
          <p:nvPr/>
        </p:nvSpPr>
        <p:spPr bwMode="auto">
          <a:xfrm>
            <a:off x="4356100" y="4149725"/>
            <a:ext cx="1079500" cy="215900"/>
          </a:xfrm>
          <a:prstGeom prst="rightArrow">
            <a:avLst>
              <a:gd name="adj1" fmla="val 50000"/>
              <a:gd name="adj2" fmla="val 1250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pSp>
        <p:nvGrpSpPr>
          <p:cNvPr id="674836" name="Group 20"/>
          <p:cNvGrpSpPr>
            <a:grpSpLocks/>
          </p:cNvGrpSpPr>
          <p:nvPr/>
        </p:nvGrpSpPr>
        <p:grpSpPr bwMode="auto">
          <a:xfrm>
            <a:off x="5148263" y="2205038"/>
            <a:ext cx="431800" cy="396875"/>
            <a:chOff x="2064" y="3294"/>
            <a:chExt cx="272" cy="276"/>
          </a:xfrm>
        </p:grpSpPr>
        <p:sp>
          <p:nvSpPr>
            <p:cNvPr id="45071" name="Oval 21"/>
            <p:cNvSpPr>
              <a:spLocks noChangeArrowheads="1"/>
            </p:cNvSpPr>
            <p:nvPr/>
          </p:nvSpPr>
          <p:spPr bwMode="auto">
            <a:xfrm>
              <a:off x="2064" y="3294"/>
              <a:ext cx="272" cy="272"/>
            </a:xfrm>
            <a:prstGeom prst="ellips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45072" name="Text Box 22"/>
            <p:cNvSpPr txBox="1">
              <a:spLocks noChangeArrowheads="1"/>
            </p:cNvSpPr>
            <p:nvPr/>
          </p:nvSpPr>
          <p:spPr bwMode="auto">
            <a:xfrm>
              <a:off x="2109" y="3294"/>
              <a:ext cx="181" cy="27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</p:grpSp>
      <p:sp>
        <p:nvSpPr>
          <p:cNvPr id="45067" name="AutoShape 23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45068" name="Rectangle 24">
            <a:hlinkClick r:id="rId15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45069" name="AutoShape 25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45070" name="Rectangle 26">
            <a:hlinkClick r:id="rId16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748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748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2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6748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6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74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3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3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74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2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9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674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1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7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7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7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7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 tmFilter="0,0; .5, 1; 1, 1"/>
                                        <p:tgtEl>
                                          <p:spTgt spid="6748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74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74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900" decel="100000" fill="hold"/>
                                        <p:tgtEl>
                                          <p:spTgt spid="674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48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4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748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74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900" decel="100000" fill="hold"/>
                                        <p:tgtEl>
                                          <p:spTgt spid="674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4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692150"/>
            <a:ext cx="6859588" cy="615950"/>
          </a:xfrm>
        </p:spPr>
        <p:txBody>
          <a:bodyPr/>
          <a:lstStyle/>
          <a:p>
            <a:pPr eaLnBrk="1" hangingPunct="1"/>
            <a:r>
              <a:rPr lang="en-US" altLang="zh-CN" smtClean="0"/>
              <a:t>3.3 </a:t>
            </a:r>
            <a:r>
              <a:rPr lang="zh-CN" altLang="en-US" smtClean="0"/>
              <a:t>频域采样</a:t>
            </a: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484313"/>
            <a:ext cx="8137525" cy="468153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smtClean="0">
                <a:latin typeface="楷体_GB2312" pitchFamily="49" charset="-122"/>
                <a:ea typeface="楷体_GB2312" pitchFamily="49" charset="-122"/>
              </a:rPr>
              <a:t>时域和频域的对偶原理</a:t>
            </a:r>
            <a:r>
              <a:rPr lang="zh-CN" altLang="en-US" smtClean="0"/>
              <a:t>       对时间序列</a:t>
            </a:r>
            <a:r>
              <a:rPr lang="en-US" altLang="zh-CN" i="1" smtClean="0"/>
              <a:t>x</a:t>
            </a:r>
            <a:r>
              <a:rPr lang="en-US" altLang="zh-CN" smtClean="0"/>
              <a:t>(</a:t>
            </a:r>
            <a:r>
              <a:rPr lang="en-US" altLang="zh-CN" i="1" smtClean="0"/>
              <a:t>n</a:t>
            </a:r>
            <a:r>
              <a:rPr lang="en-US" altLang="zh-CN" smtClean="0"/>
              <a:t>)</a:t>
            </a:r>
            <a:r>
              <a:rPr lang="zh-CN" altLang="en-US" smtClean="0"/>
              <a:t>的连续频谱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函数在频域等间隔采样，则采样得到的离散频谱对应的时域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序列必然是原时间序列</a:t>
            </a:r>
            <a:r>
              <a:rPr lang="en-US" altLang="zh-CN" i="1" smtClean="0"/>
              <a:t>x</a:t>
            </a:r>
            <a:r>
              <a:rPr lang="en-US" altLang="zh-CN" smtClean="0"/>
              <a:t>(</a:t>
            </a:r>
            <a:r>
              <a:rPr lang="en-US" altLang="zh-CN" i="1" smtClean="0"/>
              <a:t>n</a:t>
            </a:r>
            <a:r>
              <a:rPr lang="en-US" altLang="zh-CN" smtClean="0"/>
              <a:t>)</a:t>
            </a:r>
            <a:r>
              <a:rPr lang="zh-CN" altLang="en-US" smtClean="0"/>
              <a:t>的周期延拓序列。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   而且仅对时域有限长序列，当满足频域采用定理时，才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能由频域离散采样恢复原来的连续频谱函数（或原时间序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列）。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        时域采样               频域周期延拓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    时域周期延拓               频域采样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本节讨论：</a:t>
            </a:r>
            <a:r>
              <a:rPr lang="zh-CN" altLang="en-US" smtClean="0">
                <a:solidFill>
                  <a:srgbClr val="CC3300"/>
                </a:solidFill>
              </a:rPr>
              <a:t>频域采样定理</a:t>
            </a:r>
            <a:r>
              <a:rPr lang="zh-CN" altLang="en-US" smtClean="0"/>
              <a:t>、</a:t>
            </a:r>
            <a:r>
              <a:rPr lang="zh-CN" altLang="en-US" smtClean="0">
                <a:solidFill>
                  <a:srgbClr val="CC3300"/>
                </a:solidFill>
              </a:rPr>
              <a:t>频率采样条件</a:t>
            </a:r>
            <a:r>
              <a:rPr lang="zh-CN" altLang="en-US" smtClean="0"/>
              <a:t>、</a:t>
            </a:r>
            <a:r>
              <a:rPr lang="zh-CN" altLang="en-US" smtClean="0">
                <a:solidFill>
                  <a:srgbClr val="CC3300"/>
                </a:solidFill>
              </a:rPr>
              <a:t>频域内插公式</a:t>
            </a:r>
            <a:r>
              <a:rPr lang="zh-CN" altLang="en-US" smtClean="0"/>
              <a:t>。</a:t>
            </a:r>
            <a:r>
              <a:rPr lang="en-US" altLang="zh-CN" smtClean="0"/>
              <a:t> </a:t>
            </a:r>
          </a:p>
        </p:txBody>
      </p:sp>
      <p:sp>
        <p:nvSpPr>
          <p:cNvPr id="46084" name="AutoShape 6"/>
          <p:cNvSpPr>
            <a:spLocks noChangeArrowheads="1"/>
          </p:cNvSpPr>
          <p:nvPr/>
        </p:nvSpPr>
        <p:spPr bwMode="auto">
          <a:xfrm rot="10800000">
            <a:off x="3708400" y="4724400"/>
            <a:ext cx="1295400" cy="144463"/>
          </a:xfrm>
          <a:prstGeom prst="rightArrow">
            <a:avLst>
              <a:gd name="adj1" fmla="val 50000"/>
              <a:gd name="adj2" fmla="val 2241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6085" name="AutoShape 7"/>
          <p:cNvSpPr>
            <a:spLocks noChangeArrowheads="1"/>
          </p:cNvSpPr>
          <p:nvPr/>
        </p:nvSpPr>
        <p:spPr bwMode="auto">
          <a:xfrm>
            <a:off x="3708400" y="4292600"/>
            <a:ext cx="1295400" cy="144463"/>
          </a:xfrm>
          <a:prstGeom prst="rightArrow">
            <a:avLst>
              <a:gd name="adj1" fmla="val 50000"/>
              <a:gd name="adj2" fmla="val 224175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6086" name="AutoShape 8"/>
          <p:cNvSpPr>
            <a:spLocks noChangeArrowheads="1"/>
          </p:cNvSpPr>
          <p:nvPr/>
        </p:nvSpPr>
        <p:spPr bwMode="auto">
          <a:xfrm>
            <a:off x="3779838" y="1628775"/>
            <a:ext cx="936625" cy="215900"/>
          </a:xfrm>
          <a:prstGeom prst="leftRightArrow">
            <a:avLst>
              <a:gd name="adj1" fmla="val 50000"/>
              <a:gd name="adj2" fmla="val 86765"/>
            </a:avLst>
          </a:prstGeom>
          <a:solidFill>
            <a:srgbClr val="CC3300"/>
          </a:solidFill>
          <a:ln w="9525">
            <a:solidFill>
              <a:srgbClr val="CC33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6087" name="AutoShape 9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46088" name="Rectangle 10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765175"/>
            <a:ext cx="7993062" cy="5113338"/>
          </a:xfrm>
        </p:spPr>
        <p:txBody>
          <a:bodyPr/>
          <a:lstStyle/>
          <a:p>
            <a:pPr marL="457200" indent="-457200" eaLnBrk="1" hangingPunct="1">
              <a:buFontTx/>
              <a:buAutoNum type="arabicPeriod"/>
            </a:pPr>
            <a:r>
              <a:rPr lang="zh-CN" altLang="en-US" b="1" smtClean="0"/>
              <a:t>频域采样与频域采样定理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设任意序列</a:t>
            </a:r>
            <a:r>
              <a:rPr lang="en-US" altLang="zh-CN" smtClean="0"/>
              <a:t>x(n)</a:t>
            </a:r>
            <a:r>
              <a:rPr lang="zh-CN" altLang="en-US" smtClean="0"/>
              <a:t>的</a:t>
            </a:r>
            <a:r>
              <a:rPr lang="en-US" altLang="zh-CN" smtClean="0"/>
              <a:t>Z</a:t>
            </a:r>
            <a:r>
              <a:rPr lang="zh-CN" altLang="en-US" smtClean="0"/>
              <a:t>变换为</a:t>
            </a:r>
          </a:p>
          <a:p>
            <a:pPr marL="457200" indent="-457200" eaLnBrk="1" hangingPunct="1">
              <a:buFontTx/>
              <a:buNone/>
            </a:pPr>
            <a:endParaRPr lang="zh-CN" altLang="en-US" smtClean="0"/>
          </a:p>
          <a:p>
            <a:pPr marL="457200" indent="-457200" eaLnBrk="1" hangingPunct="1">
              <a:buFontTx/>
              <a:buNone/>
            </a:pPr>
            <a:endParaRPr lang="zh-CN" altLang="en-US" smtClean="0"/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而且</a:t>
            </a:r>
            <a:r>
              <a:rPr lang="en-US" altLang="zh-CN" smtClean="0"/>
              <a:t>X(z)</a:t>
            </a:r>
            <a:r>
              <a:rPr lang="zh-CN" altLang="en-US" smtClean="0"/>
              <a:t>的收敛域包含单位圆。以</a:t>
            </a:r>
            <a:r>
              <a:rPr lang="en-US" altLang="zh-CN" smtClean="0"/>
              <a:t>2</a:t>
            </a:r>
            <a:r>
              <a:rPr lang="en-US" altLang="zh-CN" smtClean="0">
                <a:sym typeface="Symbol" panose="05050102010706020507" pitchFamily="18" charset="2"/>
              </a:rPr>
              <a:t></a:t>
            </a:r>
            <a:r>
              <a:rPr lang="en-US" altLang="zh-CN" smtClean="0"/>
              <a:t>/N</a:t>
            </a:r>
            <a:r>
              <a:rPr lang="zh-CN" altLang="en-US" smtClean="0"/>
              <a:t>为采样间隔，在单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位圆上对</a:t>
            </a:r>
            <a:r>
              <a:rPr lang="en-US" altLang="zh-CN" smtClean="0"/>
              <a:t>X(z)</a:t>
            </a:r>
            <a:r>
              <a:rPr lang="zh-CN" altLang="en-US" smtClean="0"/>
              <a:t>进行等间隔采样得到 </a:t>
            </a:r>
          </a:p>
          <a:p>
            <a:pPr marL="457200" indent="-457200" eaLnBrk="1" hangingPunct="1">
              <a:buFontTx/>
              <a:buNone/>
            </a:pPr>
            <a:endParaRPr lang="zh-CN" altLang="en-US" smtClean="0"/>
          </a:p>
          <a:p>
            <a:pPr marL="457200" indent="-457200" eaLnBrk="1" hangingPunct="1">
              <a:buFontTx/>
              <a:buNone/>
            </a:pPr>
            <a:endParaRPr lang="zh-CN" altLang="en-US" smtClean="0"/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实质上，    是对</a:t>
            </a:r>
            <a:r>
              <a:rPr lang="en-US" altLang="zh-CN" smtClean="0"/>
              <a:t>x(n)</a:t>
            </a:r>
            <a:r>
              <a:rPr lang="zh-CN" altLang="en-US" smtClean="0"/>
              <a:t>的频谱函数     的等间隔采样。因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为     以</a:t>
            </a:r>
            <a:r>
              <a:rPr lang="en-US" altLang="zh-CN" smtClean="0"/>
              <a:t>2</a:t>
            </a:r>
            <a:r>
              <a:rPr lang="en-US" altLang="zh-CN" smtClean="0">
                <a:sym typeface="Symbol" panose="05050102010706020507" pitchFamily="18" charset="2"/>
              </a:rPr>
              <a:t></a:t>
            </a:r>
            <a:r>
              <a:rPr lang="zh-CN" altLang="en-US" smtClean="0"/>
              <a:t>为周期，所以     是以</a:t>
            </a:r>
            <a:r>
              <a:rPr lang="en-US" altLang="zh-CN" smtClean="0"/>
              <a:t>N</a:t>
            </a:r>
            <a:r>
              <a:rPr lang="zh-CN" altLang="en-US" smtClean="0"/>
              <a:t>为周期的频域序列。 </a:t>
            </a:r>
          </a:p>
        </p:txBody>
      </p:sp>
      <p:graphicFrame>
        <p:nvGraphicFramePr>
          <p:cNvPr id="675844" name="Object 4"/>
          <p:cNvGraphicFramePr>
            <a:graphicFrameLocks noChangeAspect="1"/>
          </p:cNvGraphicFramePr>
          <p:nvPr/>
        </p:nvGraphicFramePr>
        <p:xfrm>
          <a:off x="2987675" y="1701800"/>
          <a:ext cx="2087563" cy="758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7" r:id="rId3" imgW="1104900" imgH="419100" progId="Equation.3">
                  <p:embed/>
                </p:oleObj>
              </mc:Choice>
              <mc:Fallback>
                <p:oleObj r:id="rId3" imgW="11049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1701800"/>
                        <a:ext cx="2087563" cy="758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46" name="Object 6"/>
          <p:cNvGraphicFramePr>
            <a:graphicFrameLocks noChangeAspect="1"/>
          </p:cNvGraphicFramePr>
          <p:nvPr/>
        </p:nvGraphicFramePr>
        <p:xfrm>
          <a:off x="2411413" y="3430588"/>
          <a:ext cx="4032250" cy="822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8" r:id="rId5" imgW="2019300" imgH="431800" progId="Equation.3">
                  <p:embed/>
                </p:oleObj>
              </mc:Choice>
              <mc:Fallback>
                <p:oleObj r:id="rId5" imgW="2019300" imgH="4318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3430588"/>
                        <a:ext cx="4032250" cy="822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48" name="Object 8"/>
          <p:cNvGraphicFramePr>
            <a:graphicFrameLocks noChangeAspect="1"/>
          </p:cNvGraphicFramePr>
          <p:nvPr/>
        </p:nvGraphicFramePr>
        <p:xfrm>
          <a:off x="1835150" y="4292600"/>
          <a:ext cx="79216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79" r:id="rId7" imgW="406048" imgH="215713" progId="Equation.3">
                  <p:embed/>
                </p:oleObj>
              </mc:Choice>
              <mc:Fallback>
                <p:oleObj r:id="rId7" imgW="406048" imgH="215713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292600"/>
                        <a:ext cx="79216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50" name="Object 10"/>
          <p:cNvGraphicFramePr>
            <a:graphicFrameLocks noChangeAspect="1"/>
          </p:cNvGraphicFramePr>
          <p:nvPr/>
        </p:nvGraphicFramePr>
        <p:xfrm>
          <a:off x="4211638" y="4724400"/>
          <a:ext cx="792162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0" r:id="rId9" imgW="406048" imgH="215713" progId="Equation.3">
                  <p:embed/>
                </p:oleObj>
              </mc:Choice>
              <mc:Fallback>
                <p:oleObj r:id="rId9" imgW="406048" imgH="215713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11638" y="4724400"/>
                        <a:ext cx="792162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51" name="Object 11"/>
          <p:cNvGraphicFramePr>
            <a:graphicFrameLocks noChangeAspect="1"/>
          </p:cNvGraphicFramePr>
          <p:nvPr/>
        </p:nvGraphicFramePr>
        <p:xfrm>
          <a:off x="5292725" y="4292600"/>
          <a:ext cx="827088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1" r:id="rId10" imgW="431613" imgH="215806" progId="Equation.DSMT4">
                  <p:embed/>
                </p:oleObj>
              </mc:Choice>
              <mc:Fallback>
                <p:oleObj r:id="rId10" imgW="431613" imgH="215806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4292600"/>
                        <a:ext cx="827088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5853" name="Object 13"/>
          <p:cNvGraphicFramePr>
            <a:graphicFrameLocks noChangeAspect="1"/>
          </p:cNvGraphicFramePr>
          <p:nvPr/>
        </p:nvGraphicFramePr>
        <p:xfrm>
          <a:off x="1042988" y="4724400"/>
          <a:ext cx="827087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7182" r:id="rId12" imgW="431613" imgH="215806" progId="Equation.DSMT4">
                  <p:embed/>
                </p:oleObj>
              </mc:Choice>
              <mc:Fallback>
                <p:oleObj r:id="rId12" imgW="431613" imgH="215806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724400"/>
                        <a:ext cx="827087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7113" name="AutoShape 16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47114" name="Rectangle 17">
            <a:hlinkClick r:id="rId13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47115" name="AutoShape 18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47116" name="Rectangle 19">
            <a:hlinkClick r:id="rId14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7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758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758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758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7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7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7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7584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7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7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7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7584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758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758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758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758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758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758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758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758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758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758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758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758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758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758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6758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6758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8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620713"/>
            <a:ext cx="7993063" cy="54721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根据离散傅里叶级数理论，   必然是一个周期序列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的</a:t>
            </a:r>
            <a:r>
              <a:rPr lang="en-US" altLang="zh-CN" smtClean="0"/>
              <a:t>DFS</a:t>
            </a:r>
            <a:r>
              <a:rPr lang="zh-CN" altLang="en-US" smtClean="0"/>
              <a:t>系数。经推导，我们能够得到</a:t>
            </a:r>
          </a:p>
          <a:p>
            <a:pPr eaLnBrk="1" hangingPunct="1">
              <a:buFontTx/>
              <a:buNone/>
            </a:pPr>
            <a:endParaRPr lang="en-US" altLang="zh-CN" smtClean="0"/>
          </a:p>
          <a:p>
            <a:pPr eaLnBrk="1" hangingPunct="1">
              <a:buFontTx/>
              <a:buNone/>
            </a:pPr>
            <a:endParaRPr lang="en-US" altLang="zh-CN" smtClean="0"/>
          </a:p>
          <a:p>
            <a:pPr eaLnBrk="1" hangingPunct="1">
              <a:buFontTx/>
              <a:buNone/>
            </a:pPr>
            <a:r>
              <a:rPr lang="zh-CN" altLang="en-US" smtClean="0"/>
              <a:t>上式说明</a:t>
            </a:r>
            <a:r>
              <a:rPr lang="zh-CN" altLang="en-US" smtClean="0">
                <a:solidFill>
                  <a:srgbClr val="FF0000"/>
                </a:solidFill>
              </a:rPr>
              <a:t>频域采样     所对应    的时域周期序列是原序</a:t>
            </a:r>
          </a:p>
          <a:p>
            <a:pPr eaLnBrk="1" hangingPunct="1">
              <a:buFontTx/>
              <a:buNone/>
            </a:pPr>
            <a:r>
              <a:rPr lang="zh-CN" altLang="en-US" smtClean="0">
                <a:solidFill>
                  <a:srgbClr val="FF0000"/>
                </a:solidFill>
              </a:rPr>
              <a:t>列</a:t>
            </a:r>
            <a:r>
              <a:rPr lang="en-US" altLang="zh-CN" smtClean="0">
                <a:solidFill>
                  <a:srgbClr val="FF0000"/>
                </a:solidFill>
              </a:rPr>
              <a:t>x(n)</a:t>
            </a:r>
            <a:r>
              <a:rPr lang="zh-CN" altLang="en-US" smtClean="0">
                <a:solidFill>
                  <a:srgbClr val="FF0000"/>
                </a:solidFill>
              </a:rPr>
              <a:t>的周期延拓序列，延拓周期为</a:t>
            </a:r>
            <a:r>
              <a:rPr lang="en-US" altLang="zh-CN" smtClean="0">
                <a:solidFill>
                  <a:srgbClr val="FF0000"/>
                </a:solidFill>
              </a:rPr>
              <a:t>N</a:t>
            </a:r>
            <a:r>
              <a:rPr lang="zh-CN" altLang="en-US" smtClean="0"/>
              <a:t>。根据</a:t>
            </a:r>
            <a:r>
              <a:rPr lang="en-US" altLang="zh-CN" smtClean="0"/>
              <a:t>DFT</a:t>
            </a:r>
            <a:r>
              <a:rPr lang="zh-CN" altLang="en-US" smtClean="0"/>
              <a:t>与</a:t>
            </a:r>
            <a:r>
              <a:rPr lang="en-US" altLang="zh-CN" smtClean="0"/>
              <a:t>DFS</a:t>
            </a:r>
            <a:r>
              <a:rPr lang="zh-CN" altLang="en-US" smtClean="0"/>
              <a:t>之间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的关系知道，分别截取    和     的主值序列 </a:t>
            </a:r>
          </a:p>
          <a:p>
            <a:pPr eaLnBrk="1" hangingPunct="1">
              <a:buFontTx/>
              <a:buNone/>
            </a:pPr>
            <a:endParaRPr lang="en-US" altLang="zh-CN" smtClean="0"/>
          </a:p>
          <a:p>
            <a:pPr eaLnBrk="1" hangingPunct="1">
              <a:buFontTx/>
              <a:buNone/>
            </a:pPr>
            <a:endParaRPr lang="en-US" altLang="zh-CN" smtClean="0"/>
          </a:p>
          <a:p>
            <a:pPr eaLnBrk="1" hangingPunct="1">
              <a:buFontTx/>
              <a:buNone/>
            </a:pPr>
            <a:endParaRPr lang="en-US" altLang="zh-CN" smtClean="0"/>
          </a:p>
          <a:p>
            <a:pPr eaLnBrk="1" hangingPunct="1">
              <a:buFontTx/>
              <a:buNone/>
            </a:pPr>
            <a:r>
              <a:rPr lang="zh-CN" altLang="en-US" smtClean="0"/>
              <a:t>则    和     构成一对</a:t>
            </a:r>
            <a:r>
              <a:rPr lang="en-US" altLang="zh-CN" smtClean="0"/>
              <a:t>DFT </a:t>
            </a:r>
          </a:p>
        </p:txBody>
      </p:sp>
      <p:graphicFrame>
        <p:nvGraphicFramePr>
          <p:cNvPr id="677892" name="Object 4"/>
          <p:cNvGraphicFramePr>
            <a:graphicFrameLocks noChangeAspect="1"/>
          </p:cNvGraphicFramePr>
          <p:nvPr/>
        </p:nvGraphicFramePr>
        <p:xfrm>
          <a:off x="4067175" y="692150"/>
          <a:ext cx="792163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2" r:id="rId3" imgW="406048" imgH="215713" progId="Equation.3">
                  <p:embed/>
                </p:oleObj>
              </mc:Choice>
              <mc:Fallback>
                <p:oleObj r:id="rId3" imgW="406048" imgH="2157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7175" y="692150"/>
                        <a:ext cx="792163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893" name="Object 5"/>
          <p:cNvGraphicFramePr>
            <a:graphicFrameLocks noChangeAspect="1"/>
          </p:cNvGraphicFramePr>
          <p:nvPr/>
        </p:nvGraphicFramePr>
        <p:xfrm>
          <a:off x="7451725" y="692150"/>
          <a:ext cx="7207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3" r:id="rId5" imgW="355292" imgH="203024" progId="Equation.3">
                  <p:embed/>
                </p:oleObj>
              </mc:Choice>
              <mc:Fallback>
                <p:oleObj r:id="rId5" imgW="355292" imgH="203024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51725" y="692150"/>
                        <a:ext cx="7207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895" name="Object 7"/>
          <p:cNvGraphicFramePr>
            <a:graphicFrameLocks noChangeAspect="1"/>
          </p:cNvGraphicFramePr>
          <p:nvPr/>
        </p:nvGraphicFramePr>
        <p:xfrm>
          <a:off x="2124075" y="1484313"/>
          <a:ext cx="4319588" cy="881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4" r:id="rId7" imgW="2057400" imgH="419100" progId="Equation.3">
                  <p:embed/>
                </p:oleObj>
              </mc:Choice>
              <mc:Fallback>
                <p:oleObj r:id="rId7" imgW="2057400" imgH="4191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1484313"/>
                        <a:ext cx="4319588" cy="881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902" name="Object 14"/>
          <p:cNvGraphicFramePr>
            <a:graphicFrameLocks noChangeAspect="1"/>
          </p:cNvGraphicFramePr>
          <p:nvPr/>
        </p:nvGraphicFramePr>
        <p:xfrm>
          <a:off x="3059113" y="2420938"/>
          <a:ext cx="792162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5" r:id="rId9" imgW="406048" imgH="215713" progId="Equation.3">
                  <p:embed/>
                </p:oleObj>
              </mc:Choice>
              <mc:Fallback>
                <p:oleObj r:id="rId9" imgW="406048" imgH="21571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420938"/>
                        <a:ext cx="792162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903" name="Object 15"/>
          <p:cNvGraphicFramePr>
            <a:graphicFrameLocks noChangeAspect="1"/>
          </p:cNvGraphicFramePr>
          <p:nvPr/>
        </p:nvGraphicFramePr>
        <p:xfrm>
          <a:off x="4716463" y="2420938"/>
          <a:ext cx="7207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6" r:id="rId10" imgW="355292" imgH="203024" progId="Equation.3">
                  <p:embed/>
                </p:oleObj>
              </mc:Choice>
              <mc:Fallback>
                <p:oleObj r:id="rId10" imgW="355292" imgH="203024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2420938"/>
                        <a:ext cx="7207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904" name="Object 16"/>
          <p:cNvGraphicFramePr>
            <a:graphicFrameLocks noChangeAspect="1"/>
          </p:cNvGraphicFramePr>
          <p:nvPr/>
        </p:nvGraphicFramePr>
        <p:xfrm>
          <a:off x="3563938" y="3284538"/>
          <a:ext cx="7207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7" r:id="rId11" imgW="355292" imgH="203024" progId="Equation.3">
                  <p:embed/>
                </p:oleObj>
              </mc:Choice>
              <mc:Fallback>
                <p:oleObj r:id="rId11" imgW="355292" imgH="203024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3284538"/>
                        <a:ext cx="7207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905" name="Object 17"/>
          <p:cNvGraphicFramePr>
            <a:graphicFrameLocks noChangeAspect="1"/>
          </p:cNvGraphicFramePr>
          <p:nvPr/>
        </p:nvGraphicFramePr>
        <p:xfrm>
          <a:off x="4572000" y="3284538"/>
          <a:ext cx="792163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8" r:id="rId12" imgW="406048" imgH="215713" progId="Equation.3">
                  <p:embed/>
                </p:oleObj>
              </mc:Choice>
              <mc:Fallback>
                <p:oleObj r:id="rId12" imgW="406048" imgH="215713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3284538"/>
                        <a:ext cx="792163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906" name="Object 18"/>
          <p:cNvGraphicFramePr>
            <a:graphicFrameLocks noChangeAspect="1"/>
          </p:cNvGraphicFramePr>
          <p:nvPr/>
        </p:nvGraphicFramePr>
        <p:xfrm>
          <a:off x="1692275" y="3644900"/>
          <a:ext cx="4897438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89" r:id="rId13" imgW="2374900" imgH="419100" progId="Equation.3">
                  <p:embed/>
                </p:oleObj>
              </mc:Choice>
              <mc:Fallback>
                <p:oleObj r:id="rId13" imgW="2374900" imgH="419100" progId="Equation.3">
                  <p:embed/>
                  <p:pic>
                    <p:nvPicPr>
                      <p:cNvPr id="0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644900"/>
                        <a:ext cx="4897438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908" name="Object 20"/>
          <p:cNvGraphicFramePr>
            <a:graphicFrameLocks noChangeAspect="1"/>
          </p:cNvGraphicFramePr>
          <p:nvPr/>
        </p:nvGraphicFramePr>
        <p:xfrm>
          <a:off x="1042988" y="4508500"/>
          <a:ext cx="6264275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90" r:id="rId15" imgW="3022600" imgH="241300" progId="Equation.DSMT4">
                  <p:embed/>
                </p:oleObj>
              </mc:Choice>
              <mc:Fallback>
                <p:oleObj r:id="rId15" imgW="3022600" imgH="2413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508500"/>
                        <a:ext cx="6264275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910" name="Object 22"/>
          <p:cNvGraphicFramePr>
            <a:graphicFrameLocks noChangeAspect="1"/>
          </p:cNvGraphicFramePr>
          <p:nvPr/>
        </p:nvGraphicFramePr>
        <p:xfrm>
          <a:off x="900113" y="5013325"/>
          <a:ext cx="7207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91" r:id="rId17" imgW="355292" imgH="203024" progId="Equation.3">
                  <p:embed/>
                </p:oleObj>
              </mc:Choice>
              <mc:Fallback>
                <p:oleObj r:id="rId17" imgW="355292" imgH="203024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013325"/>
                        <a:ext cx="7207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911" name="Object 23"/>
          <p:cNvGraphicFramePr>
            <a:graphicFrameLocks noChangeAspect="1"/>
          </p:cNvGraphicFramePr>
          <p:nvPr/>
        </p:nvGraphicFramePr>
        <p:xfrm>
          <a:off x="1835150" y="5013325"/>
          <a:ext cx="792163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92" r:id="rId18" imgW="406048" imgH="215713" progId="Equation.3">
                  <p:embed/>
                </p:oleObj>
              </mc:Choice>
              <mc:Fallback>
                <p:oleObj r:id="rId18" imgW="406048" imgH="215713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013325"/>
                        <a:ext cx="792163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912" name="Object 24"/>
          <p:cNvGraphicFramePr>
            <a:graphicFrameLocks noChangeAspect="1"/>
          </p:cNvGraphicFramePr>
          <p:nvPr/>
        </p:nvGraphicFramePr>
        <p:xfrm>
          <a:off x="2771775" y="5445125"/>
          <a:ext cx="2663825" cy="423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93" r:id="rId19" imgW="1256755" imgH="203112" progId="Equation.DSMT4">
                  <p:embed/>
                </p:oleObj>
              </mc:Choice>
              <mc:Fallback>
                <p:oleObj r:id="rId19" imgW="1256755" imgH="203112" progId="Equation.DSMT4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5445125"/>
                        <a:ext cx="2663825" cy="423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7914" name="Object 26"/>
          <p:cNvGraphicFramePr>
            <a:graphicFrameLocks noChangeAspect="1"/>
          </p:cNvGraphicFramePr>
          <p:nvPr/>
        </p:nvGraphicFramePr>
        <p:xfrm>
          <a:off x="2627313" y="5876925"/>
          <a:ext cx="2951162" cy="455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8294" r:id="rId21" imgW="1295400" imgH="203200" progId="Equation.DSMT4">
                  <p:embed/>
                </p:oleObj>
              </mc:Choice>
              <mc:Fallback>
                <p:oleObj r:id="rId21" imgW="1295400" imgH="2032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5876925"/>
                        <a:ext cx="2951162" cy="455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7916" name="Text Box 28"/>
          <p:cNvSpPr txBox="1">
            <a:spLocks noChangeArrowheads="1"/>
          </p:cNvSpPr>
          <p:nvPr/>
        </p:nvSpPr>
        <p:spPr bwMode="auto">
          <a:xfrm>
            <a:off x="7380288" y="3787775"/>
            <a:ext cx="1065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(3.3.3)</a:t>
            </a:r>
          </a:p>
        </p:txBody>
      </p:sp>
      <p:sp>
        <p:nvSpPr>
          <p:cNvPr id="677917" name="Text Box 29"/>
          <p:cNvSpPr txBox="1">
            <a:spLocks noChangeArrowheads="1"/>
          </p:cNvSpPr>
          <p:nvPr/>
        </p:nvSpPr>
        <p:spPr bwMode="auto">
          <a:xfrm>
            <a:off x="7380288" y="4435475"/>
            <a:ext cx="1065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(3.3.4)</a:t>
            </a:r>
          </a:p>
        </p:txBody>
      </p:sp>
      <p:sp>
        <p:nvSpPr>
          <p:cNvPr id="677918" name="Text Box 30"/>
          <p:cNvSpPr txBox="1">
            <a:spLocks noChangeArrowheads="1"/>
          </p:cNvSpPr>
          <p:nvPr/>
        </p:nvSpPr>
        <p:spPr bwMode="auto">
          <a:xfrm>
            <a:off x="7400925" y="5281613"/>
            <a:ext cx="106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(3.3.5)</a:t>
            </a:r>
          </a:p>
        </p:txBody>
      </p:sp>
      <p:sp>
        <p:nvSpPr>
          <p:cNvPr id="677919" name="Text Box 31"/>
          <p:cNvSpPr txBox="1">
            <a:spLocks noChangeArrowheads="1"/>
          </p:cNvSpPr>
          <p:nvPr/>
        </p:nvSpPr>
        <p:spPr bwMode="auto">
          <a:xfrm>
            <a:off x="7400925" y="5786438"/>
            <a:ext cx="106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(3.3.6)</a:t>
            </a:r>
          </a:p>
        </p:txBody>
      </p:sp>
      <p:sp>
        <p:nvSpPr>
          <p:cNvPr id="48148" name="AutoShape 35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48149" name="Rectangle 36">
            <a:hlinkClick r:id="rId23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48150" name="AutoShape 37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48151" name="Rectangle 38">
            <a:hlinkClick r:id="rId24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77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77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778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77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677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5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49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778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6779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677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900" decel="100000" fill="hold"/>
                                        <p:tgtEl>
                                          <p:spTgt spid="677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7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6779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6779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900" decel="100000" fill="hold"/>
                                        <p:tgtEl>
                                          <p:spTgt spid="677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79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6779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779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900" decel="100000" fill="hold"/>
                                        <p:tgtEl>
                                          <p:spTgt spid="677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79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6779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6779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900" decel="100000" fill="hold"/>
                                        <p:tgtEl>
                                          <p:spTgt spid="677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79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6779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677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900" decel="100000" fill="hold"/>
                                        <p:tgtEl>
                                          <p:spTgt spid="677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7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7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6779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6779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900" decel="100000" fill="hold"/>
                                        <p:tgtEl>
                                          <p:spTgt spid="677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79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7916" grpId="0"/>
      <p:bldP spid="677917" grpId="0"/>
      <p:bldP spid="677918" grpId="0"/>
      <p:bldP spid="67791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86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981075"/>
            <a:ext cx="8281987" cy="49688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dirty="0" smtClean="0"/>
              <a:t>(3.3.3)</a:t>
            </a:r>
            <a:r>
              <a:rPr lang="zh-CN" altLang="en-US" dirty="0" smtClean="0"/>
              <a:t>式表明</a:t>
            </a:r>
            <a:r>
              <a:rPr lang="zh-CN" altLang="en-US" dirty="0" smtClean="0">
                <a:solidFill>
                  <a:srgbClr val="FF0000"/>
                </a:solidFill>
              </a:rPr>
              <a:t>     是对</a:t>
            </a:r>
            <a:r>
              <a:rPr lang="en-US" altLang="zh-CN" dirty="0" smtClean="0">
                <a:solidFill>
                  <a:srgbClr val="FF0000"/>
                </a:solidFill>
              </a:rPr>
              <a:t>X(z)</a:t>
            </a:r>
            <a:r>
              <a:rPr lang="zh-CN" altLang="en-US" dirty="0" smtClean="0">
                <a:solidFill>
                  <a:srgbClr val="FF0000"/>
                </a:solidFill>
              </a:rPr>
              <a:t>在单位圆上的</a:t>
            </a:r>
            <a:r>
              <a:rPr lang="en-US" altLang="zh-CN" dirty="0" smtClean="0">
                <a:solidFill>
                  <a:srgbClr val="FF0000"/>
                </a:solidFill>
              </a:rPr>
              <a:t>N</a:t>
            </a:r>
            <a:r>
              <a:rPr lang="zh-CN" altLang="en-US" dirty="0" smtClean="0">
                <a:solidFill>
                  <a:srgbClr val="FF0000"/>
                </a:solidFill>
              </a:rPr>
              <a:t>点等间隔采样，</a:t>
            </a:r>
          </a:p>
          <a:p>
            <a:pPr eaLnBrk="1" hangingPunct="1">
              <a:buFontTx/>
              <a:buNone/>
            </a:pPr>
            <a:r>
              <a:rPr lang="zh-CN" altLang="en-US" dirty="0" smtClean="0">
                <a:solidFill>
                  <a:srgbClr val="FF0000"/>
                </a:solidFill>
              </a:rPr>
              <a:t>即对     在频率区间</a:t>
            </a:r>
            <a:r>
              <a:rPr lang="en-US" altLang="zh-CN" dirty="0" smtClean="0">
                <a:solidFill>
                  <a:srgbClr val="FF0000"/>
                </a:solidFill>
              </a:rPr>
              <a:t>[0</a:t>
            </a:r>
            <a:r>
              <a:rPr lang="zh-CN" altLang="en-US" dirty="0" smtClean="0">
                <a:solidFill>
                  <a:srgbClr val="FF0000"/>
                </a:solidFill>
              </a:rPr>
              <a:t>，</a:t>
            </a:r>
            <a:r>
              <a:rPr lang="en-US" altLang="zh-CN" dirty="0" smtClean="0">
                <a:solidFill>
                  <a:srgbClr val="FF0000"/>
                </a:solidFill>
              </a:rPr>
              <a:t>2</a:t>
            </a:r>
            <a:r>
              <a:rPr lang="en-US" altLang="zh-CN" dirty="0" smtClean="0">
                <a:solidFill>
                  <a:srgbClr val="FF0000"/>
                </a:solidFill>
                <a:sym typeface="Symbol" panose="05050102010706020507" pitchFamily="18" charset="2"/>
              </a:rPr>
              <a:t></a:t>
            </a:r>
            <a:r>
              <a:rPr lang="en-US" altLang="zh-CN" dirty="0" smtClean="0">
                <a:solidFill>
                  <a:srgbClr val="FF0000"/>
                </a:solidFill>
              </a:rPr>
              <a:t>]</a:t>
            </a:r>
            <a:r>
              <a:rPr lang="zh-CN" altLang="en-US" dirty="0" smtClean="0">
                <a:solidFill>
                  <a:srgbClr val="FF0000"/>
                </a:solidFill>
              </a:rPr>
              <a:t>上的</a:t>
            </a:r>
            <a:r>
              <a:rPr lang="en-US" altLang="zh-CN" dirty="0" smtClean="0">
                <a:solidFill>
                  <a:srgbClr val="FF0000"/>
                </a:solidFill>
              </a:rPr>
              <a:t>N</a:t>
            </a:r>
            <a:r>
              <a:rPr lang="zh-CN" altLang="en-US" dirty="0" smtClean="0">
                <a:solidFill>
                  <a:srgbClr val="FF0000"/>
                </a:solidFill>
              </a:rPr>
              <a:t>点等间隔采样</a:t>
            </a:r>
            <a:r>
              <a:rPr lang="zh-CN" altLang="en-US" dirty="0" smtClean="0"/>
              <a:t>。</a:t>
            </a:r>
            <a:r>
              <a:rPr lang="en-US" altLang="zh-CN" dirty="0" smtClean="0"/>
              <a:t>(3.3.3)</a:t>
            </a:r>
          </a:p>
          <a:p>
            <a:pPr eaLnBrk="1" hangingPunct="1">
              <a:buFontTx/>
              <a:buNone/>
            </a:pPr>
            <a:r>
              <a:rPr lang="zh-CN" altLang="en-US" dirty="0" smtClean="0"/>
              <a:t>式～</a:t>
            </a:r>
            <a:r>
              <a:rPr lang="en-US" altLang="zh-CN" dirty="0" smtClean="0"/>
              <a:t>(3.3.6)</a:t>
            </a:r>
            <a:r>
              <a:rPr lang="zh-CN" altLang="en-US" dirty="0" smtClean="0"/>
              <a:t>式说明，    对应的时域有限长序列    就是原</a:t>
            </a:r>
          </a:p>
          <a:p>
            <a:pPr eaLnBrk="1" hangingPunct="1">
              <a:buFontTx/>
              <a:buNone/>
            </a:pPr>
            <a:r>
              <a:rPr lang="zh-CN" altLang="en-US" dirty="0" smtClean="0"/>
              <a:t>序列</a:t>
            </a:r>
            <a:r>
              <a:rPr lang="en-US" altLang="zh-CN" dirty="0" smtClean="0"/>
              <a:t>x(n)</a:t>
            </a:r>
            <a:r>
              <a:rPr lang="zh-CN" altLang="en-US" dirty="0" smtClean="0"/>
              <a:t>以</a:t>
            </a:r>
            <a:r>
              <a:rPr lang="en-US" altLang="zh-CN" dirty="0" smtClean="0"/>
              <a:t>N</a:t>
            </a:r>
            <a:r>
              <a:rPr lang="zh-CN" altLang="en-US" dirty="0" smtClean="0"/>
              <a:t>为周期的周期延拓序列的主值序列。</a:t>
            </a:r>
          </a:p>
          <a:p>
            <a:pPr eaLnBrk="1" hangingPunct="1">
              <a:buFontTx/>
              <a:buNone/>
            </a:pPr>
            <a:r>
              <a:rPr lang="zh-CN" altLang="en-US" b="1" dirty="0" smtClean="0"/>
              <a:t>综上所述，可以总结出频域采样定理</a:t>
            </a:r>
            <a:r>
              <a:rPr lang="en-US" altLang="zh-CN" dirty="0" smtClean="0"/>
              <a:t>:</a:t>
            </a:r>
          </a:p>
          <a:p>
            <a:pPr eaLnBrk="1" hangingPunct="1">
              <a:buFontTx/>
              <a:buNone/>
            </a:pPr>
            <a:r>
              <a:rPr lang="zh-CN" altLang="en-US" dirty="0" smtClean="0"/>
              <a:t>如果原序列</a:t>
            </a:r>
            <a:r>
              <a:rPr lang="en-US" altLang="zh-CN" dirty="0" smtClean="0"/>
              <a:t>x(n)</a:t>
            </a:r>
            <a:r>
              <a:rPr lang="zh-CN" altLang="en-US" dirty="0" smtClean="0"/>
              <a:t>长度为</a:t>
            </a:r>
            <a:r>
              <a:rPr lang="en-US" altLang="zh-CN" dirty="0" smtClean="0"/>
              <a:t>M</a:t>
            </a:r>
            <a:r>
              <a:rPr lang="zh-CN" altLang="en-US" dirty="0" smtClean="0"/>
              <a:t>，对     在频率区间</a:t>
            </a:r>
            <a:r>
              <a:rPr lang="en-US" altLang="zh-CN" dirty="0" smtClean="0"/>
              <a:t>[0</a:t>
            </a:r>
            <a:r>
              <a:rPr lang="zh-CN" altLang="en-US" dirty="0" smtClean="0"/>
              <a:t>，</a:t>
            </a:r>
            <a:r>
              <a:rPr lang="en-US" altLang="zh-CN" dirty="0" smtClean="0"/>
              <a:t>2</a:t>
            </a:r>
            <a:r>
              <a:rPr lang="en-US" altLang="zh-CN" dirty="0" smtClean="0">
                <a:sym typeface="Symbol" panose="05050102010706020507" pitchFamily="18" charset="2"/>
              </a:rPr>
              <a:t></a:t>
            </a:r>
            <a:r>
              <a:rPr lang="en-US" altLang="zh-CN" dirty="0" smtClean="0"/>
              <a:t>]</a:t>
            </a:r>
            <a:r>
              <a:rPr lang="zh-CN" altLang="en-US" dirty="0" smtClean="0"/>
              <a:t>上等间</a:t>
            </a:r>
          </a:p>
          <a:p>
            <a:pPr eaLnBrk="1" hangingPunct="1">
              <a:buFontTx/>
              <a:buNone/>
            </a:pPr>
            <a:r>
              <a:rPr lang="zh-CN" altLang="en-US" dirty="0" smtClean="0"/>
              <a:t>隔采样</a:t>
            </a:r>
            <a:r>
              <a:rPr lang="en-US" altLang="zh-CN" dirty="0" smtClean="0"/>
              <a:t>N</a:t>
            </a:r>
            <a:r>
              <a:rPr lang="zh-CN" altLang="en-US" dirty="0" smtClean="0"/>
              <a:t>点，得到     ，则仅当采样点数</a:t>
            </a:r>
            <a:r>
              <a:rPr lang="en-US" altLang="zh-CN" dirty="0" smtClean="0"/>
              <a:t>N≥M</a:t>
            </a:r>
            <a:r>
              <a:rPr lang="zh-CN" altLang="en-US" dirty="0" smtClean="0"/>
              <a:t>时，才能由频</a:t>
            </a:r>
          </a:p>
          <a:p>
            <a:pPr eaLnBrk="1" hangingPunct="1">
              <a:buFontTx/>
              <a:buNone/>
            </a:pPr>
            <a:r>
              <a:rPr lang="zh-CN" altLang="en-US" dirty="0" smtClean="0"/>
              <a:t>域采样     恢复                ，否则将产生时域混叠失</a:t>
            </a:r>
          </a:p>
          <a:p>
            <a:pPr eaLnBrk="1" hangingPunct="1">
              <a:buFontTx/>
              <a:buNone/>
            </a:pPr>
            <a:r>
              <a:rPr lang="zh-CN" altLang="en-US" dirty="0" smtClean="0"/>
              <a:t>真，不能由     恢复原序列</a:t>
            </a:r>
            <a:r>
              <a:rPr lang="en-US" altLang="zh-CN" dirty="0" smtClean="0"/>
              <a:t>x(n)</a:t>
            </a:r>
            <a:r>
              <a:rPr lang="zh-CN" altLang="en-US" dirty="0" smtClean="0"/>
              <a:t>。</a:t>
            </a:r>
          </a:p>
          <a:p>
            <a:pPr eaLnBrk="1" hangingPunct="1">
              <a:buFontTx/>
              <a:buNone/>
            </a:pPr>
            <a:r>
              <a:rPr lang="zh-CN" altLang="en-US" dirty="0" smtClean="0"/>
              <a:t>定理告诫我们，</a:t>
            </a:r>
            <a:r>
              <a:rPr lang="zh-CN" altLang="en-US" b="1" dirty="0" smtClean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只有当时域序列</a:t>
            </a:r>
            <a:r>
              <a:rPr lang="en-US" altLang="zh-CN" b="1" dirty="0" smtClean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x(n)</a:t>
            </a:r>
            <a:r>
              <a:rPr lang="zh-CN" altLang="en-US" b="1" dirty="0" smtClean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为有限长时，以适当的</a:t>
            </a:r>
          </a:p>
          <a:p>
            <a:pPr eaLnBrk="1" hangingPunct="1">
              <a:buFontTx/>
              <a:buNone/>
            </a:pPr>
            <a:r>
              <a:rPr lang="zh-CN" altLang="en-US" b="1" dirty="0" smtClean="0">
                <a:solidFill>
                  <a:schemeClr val="folHlink"/>
                </a:solidFill>
                <a:latin typeface="楷体_GB2312" pitchFamily="49" charset="-122"/>
                <a:ea typeface="楷体_GB2312" pitchFamily="49" charset="-122"/>
              </a:rPr>
              <a:t>采样间隔对其频谱函数      采样，才不会丢失信息</a:t>
            </a:r>
            <a:r>
              <a:rPr lang="zh-CN" altLang="en-US" dirty="0" smtClean="0"/>
              <a:t>。</a:t>
            </a:r>
          </a:p>
        </p:txBody>
      </p:sp>
      <p:graphicFrame>
        <p:nvGraphicFramePr>
          <p:cNvPr id="49155" name="Object 4"/>
          <p:cNvGraphicFramePr>
            <a:graphicFrameLocks noChangeAspect="1"/>
          </p:cNvGraphicFramePr>
          <p:nvPr/>
        </p:nvGraphicFramePr>
        <p:xfrm>
          <a:off x="1116013" y="1485900"/>
          <a:ext cx="792162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1" r:id="rId3" imgW="431613" imgH="215806" progId="Equation.DSMT4">
                  <p:embed/>
                </p:oleObj>
              </mc:Choice>
              <mc:Fallback>
                <p:oleObj r:id="rId3" imgW="431613" imgH="21580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1485900"/>
                        <a:ext cx="792162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6" name="Object 6"/>
          <p:cNvGraphicFramePr>
            <a:graphicFrameLocks noChangeAspect="1"/>
          </p:cNvGraphicFramePr>
          <p:nvPr/>
        </p:nvGraphicFramePr>
        <p:xfrm>
          <a:off x="3276600" y="1916113"/>
          <a:ext cx="792163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2" r:id="rId5" imgW="406048" imgH="215713" progId="Equation.3">
                  <p:embed/>
                </p:oleObj>
              </mc:Choice>
              <mc:Fallback>
                <p:oleObj r:id="rId5" imgW="406048" imgH="215713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1916113"/>
                        <a:ext cx="792163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7" name="Object 7"/>
          <p:cNvGraphicFramePr>
            <a:graphicFrameLocks noChangeAspect="1"/>
          </p:cNvGraphicFramePr>
          <p:nvPr/>
        </p:nvGraphicFramePr>
        <p:xfrm>
          <a:off x="2484438" y="1052513"/>
          <a:ext cx="792162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3" r:id="rId7" imgW="406048" imgH="215713" progId="Equation.3">
                  <p:embed/>
                </p:oleObj>
              </mc:Choice>
              <mc:Fallback>
                <p:oleObj r:id="rId7" imgW="406048" imgH="215713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1052513"/>
                        <a:ext cx="792162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58" name="Object 8"/>
          <p:cNvGraphicFramePr>
            <a:graphicFrameLocks noChangeAspect="1"/>
          </p:cNvGraphicFramePr>
          <p:nvPr/>
        </p:nvGraphicFramePr>
        <p:xfrm>
          <a:off x="7021513" y="1916113"/>
          <a:ext cx="7207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4" r:id="rId8" imgW="355292" imgH="203024" progId="Equation.3">
                  <p:embed/>
                </p:oleObj>
              </mc:Choice>
              <mc:Fallback>
                <p:oleObj r:id="rId8" imgW="355292" imgH="203024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1513" y="1916113"/>
                        <a:ext cx="7207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9" name="Rectangle 10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76873" name="Object 9"/>
          <p:cNvGraphicFramePr>
            <a:graphicFrameLocks noChangeAspect="1"/>
          </p:cNvGraphicFramePr>
          <p:nvPr/>
        </p:nvGraphicFramePr>
        <p:xfrm>
          <a:off x="2916238" y="4076700"/>
          <a:ext cx="2447925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5" r:id="rId10" imgW="1218671" imgH="203112" progId="Equation.DSMT4">
                  <p:embed/>
                </p:oleObj>
              </mc:Choice>
              <mc:Fallback>
                <p:oleObj r:id="rId10" imgW="1218671" imgH="203112" progId="Equation.DSMT4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4076700"/>
                        <a:ext cx="2447925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5" name="Object 11"/>
          <p:cNvGraphicFramePr>
            <a:graphicFrameLocks noChangeAspect="1"/>
          </p:cNvGraphicFramePr>
          <p:nvPr/>
        </p:nvGraphicFramePr>
        <p:xfrm>
          <a:off x="4357688" y="3213100"/>
          <a:ext cx="792162" cy="404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6" r:id="rId12" imgW="431613" imgH="215806" progId="Equation.DSMT4">
                  <p:embed/>
                </p:oleObj>
              </mc:Choice>
              <mc:Fallback>
                <p:oleObj r:id="rId12" imgW="431613" imgH="215806" progId="Equation.DSMT4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7688" y="3213100"/>
                        <a:ext cx="792162" cy="404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6" name="Object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76998423"/>
              </p:ext>
            </p:extLst>
          </p:nvPr>
        </p:nvGraphicFramePr>
        <p:xfrm>
          <a:off x="2844800" y="3657600"/>
          <a:ext cx="792163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7" name="Equation" r:id="rId13" imgW="406080" imgH="203040" progId="Equation.DSMT4">
                  <p:embed/>
                </p:oleObj>
              </mc:Choice>
              <mc:Fallback>
                <p:oleObj name="Equation" r:id="rId13" imgW="406080" imgH="20304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4800" y="3657600"/>
                        <a:ext cx="792163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7" name="Object 1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0597601"/>
              </p:ext>
            </p:extLst>
          </p:nvPr>
        </p:nvGraphicFramePr>
        <p:xfrm>
          <a:off x="1476375" y="4089400"/>
          <a:ext cx="792163" cy="398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8" name="Equation" r:id="rId15" imgW="406080" imgH="203040" progId="Equation.DSMT4">
                  <p:embed/>
                </p:oleObj>
              </mc:Choice>
              <mc:Fallback>
                <p:oleObj name="Equation" r:id="rId15" imgW="406080" imgH="203040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089400"/>
                        <a:ext cx="792163" cy="398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8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9198227"/>
              </p:ext>
            </p:extLst>
          </p:nvPr>
        </p:nvGraphicFramePr>
        <p:xfrm>
          <a:off x="2052638" y="4592638"/>
          <a:ext cx="792162" cy="400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79" name="Equation" r:id="rId17" imgW="406080" imgH="203040" progId="Equation.DSMT4">
                  <p:embed/>
                </p:oleObj>
              </mc:Choice>
              <mc:Fallback>
                <p:oleObj name="Equation" r:id="rId17" imgW="406080" imgH="20304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638" y="4592638"/>
                        <a:ext cx="792162" cy="400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6879" name="Object 15"/>
          <p:cNvGraphicFramePr>
            <a:graphicFrameLocks noChangeAspect="1"/>
          </p:cNvGraphicFramePr>
          <p:nvPr/>
        </p:nvGraphicFramePr>
        <p:xfrm>
          <a:off x="3635375" y="5373688"/>
          <a:ext cx="100806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280" r:id="rId19" imgW="431613" imgH="215806" progId="Equation.DSMT4">
                  <p:embed/>
                </p:oleObj>
              </mc:Choice>
              <mc:Fallback>
                <p:oleObj r:id="rId19" imgW="431613" imgH="215806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373688"/>
                        <a:ext cx="100806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6882" name="AutoShape 18"/>
          <p:cNvSpPr>
            <a:spLocks noChangeArrowheads="1"/>
          </p:cNvSpPr>
          <p:nvPr/>
        </p:nvSpPr>
        <p:spPr bwMode="auto">
          <a:xfrm>
            <a:off x="364693" y="2825751"/>
            <a:ext cx="8353425" cy="2160588"/>
          </a:xfrm>
          <a:prstGeom prst="roundRect">
            <a:avLst>
              <a:gd name="adj" fmla="val 16667"/>
            </a:avLst>
          </a:prstGeom>
          <a:solidFill>
            <a:schemeClr val="accent1">
              <a:alpha val="20000"/>
            </a:schemeClr>
          </a:solidFill>
          <a:ln w="9525">
            <a:solidFill>
              <a:srgbClr val="CC33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49167" name="AutoShape 19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49168" name="Rectangle 20">
            <a:hlinkClick r:id="rId20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49169" name="AutoShape 21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49170" name="Rectangle 22">
            <a:hlinkClick r:id="rId21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7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7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7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7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7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7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7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7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7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7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7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7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7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76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7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7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7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7686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768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768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768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768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768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768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768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768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768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6768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6768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6768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6768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768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768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6768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6768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15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6768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6768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6768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6768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75" dur="80"/>
                                        <p:tgtEl>
                                          <p:spTgt spid="67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76" dur="80"/>
                                        <p:tgtEl>
                                          <p:spTgt spid="67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77" dur="80"/>
                                        <p:tgtEl>
                                          <p:spTgt spid="67686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80" dur="80"/>
                                        <p:tgtEl>
                                          <p:spTgt spid="67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81" dur="80"/>
                                        <p:tgtEl>
                                          <p:spTgt spid="67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2" dur="80"/>
                                        <p:tgtEl>
                                          <p:spTgt spid="67686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48" presetClass="entr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6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67687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6768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6768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8" dur="1000"/>
                                        <p:tgtEl>
                                          <p:spTgt spid="676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endParaRPr lang="zh-CN" altLang="en-US" smtClean="0"/>
          </a:p>
        </p:txBody>
      </p:sp>
      <p:pic>
        <p:nvPicPr>
          <p:cNvPr id="5018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333375"/>
            <a:ext cx="7993063" cy="6210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0181" name="AutoShape 5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50182" name="Rectangle 6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50183" name="AutoShape 7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50184" name="Rectangle 8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981075"/>
            <a:ext cx="8281988" cy="5329238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b="1" smtClean="0"/>
              <a:t>2. </a:t>
            </a:r>
            <a:r>
              <a:rPr lang="zh-CN" altLang="en-US" b="1" smtClean="0"/>
              <a:t>频域内插公式</a:t>
            </a:r>
            <a:r>
              <a:rPr lang="zh-CN" altLang="en-US" smtClean="0"/>
              <a:t> 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所谓频域内插公式，就是用频域采样    表示</a:t>
            </a:r>
            <a:r>
              <a:rPr lang="en-US" altLang="zh-CN" smtClean="0"/>
              <a:t>X(z)</a:t>
            </a:r>
            <a:r>
              <a:rPr lang="zh-CN" altLang="en-US" smtClean="0"/>
              <a:t>和     。</a:t>
            </a:r>
          </a:p>
          <a:p>
            <a:pPr eaLnBrk="1" hangingPunct="1">
              <a:buFontTx/>
              <a:buNone/>
            </a:pPr>
            <a:r>
              <a:rPr lang="zh-CN" altLang="en-US" smtClean="0">
                <a:solidFill>
                  <a:srgbClr val="CC3300"/>
                </a:solidFill>
              </a:rPr>
              <a:t>频域内插公式是</a:t>
            </a:r>
            <a:r>
              <a:rPr lang="en-US" altLang="zh-CN" smtClean="0">
                <a:solidFill>
                  <a:srgbClr val="CC3300"/>
                </a:solidFill>
              </a:rPr>
              <a:t>FIR</a:t>
            </a:r>
            <a:r>
              <a:rPr lang="zh-CN" altLang="en-US" smtClean="0">
                <a:solidFill>
                  <a:srgbClr val="CC3300"/>
                </a:solidFill>
              </a:rPr>
              <a:t>数字滤波器的频率采样结构和频率采样</a:t>
            </a:r>
          </a:p>
          <a:p>
            <a:pPr eaLnBrk="1" hangingPunct="1">
              <a:buFontTx/>
              <a:buNone/>
            </a:pPr>
            <a:r>
              <a:rPr lang="zh-CN" altLang="en-US" smtClean="0">
                <a:solidFill>
                  <a:srgbClr val="CC3300"/>
                </a:solidFill>
              </a:rPr>
              <a:t>设计法的理论依据</a:t>
            </a:r>
            <a:r>
              <a:rPr lang="zh-CN" altLang="en-US" smtClean="0"/>
              <a:t>。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设序列</a:t>
            </a:r>
            <a:r>
              <a:rPr lang="en-US" altLang="zh-CN" smtClean="0"/>
              <a:t>x(n)</a:t>
            </a:r>
            <a:r>
              <a:rPr lang="zh-CN" altLang="en-US" smtClean="0"/>
              <a:t>的长度为</a:t>
            </a:r>
            <a:r>
              <a:rPr lang="en-US" altLang="zh-CN" smtClean="0"/>
              <a:t>M</a:t>
            </a:r>
            <a:r>
              <a:rPr lang="zh-CN" altLang="en-US" smtClean="0"/>
              <a:t>，在</a:t>
            </a:r>
            <a:r>
              <a:rPr lang="en-US" altLang="zh-CN" smtClean="0"/>
              <a:t>Z</a:t>
            </a:r>
            <a:r>
              <a:rPr lang="zh-CN" altLang="en-US" smtClean="0"/>
              <a:t>平面单位圆上对</a:t>
            </a:r>
            <a:r>
              <a:rPr lang="en-US" altLang="zh-CN" smtClean="0"/>
              <a:t>X(z)</a:t>
            </a:r>
            <a:r>
              <a:rPr lang="zh-CN" altLang="en-US" smtClean="0"/>
              <a:t>的采样点数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为</a:t>
            </a:r>
            <a:r>
              <a:rPr lang="en-US" altLang="zh-CN" smtClean="0"/>
              <a:t>N</a:t>
            </a:r>
            <a:r>
              <a:rPr lang="zh-CN" altLang="en-US" smtClean="0"/>
              <a:t>，且满足频域采样定理（</a:t>
            </a:r>
            <a:r>
              <a:rPr lang="en-US" altLang="zh-CN" smtClean="0"/>
              <a:t>N≥M</a:t>
            </a:r>
            <a:r>
              <a:rPr lang="zh-CN" altLang="en-US" smtClean="0"/>
              <a:t>）。则有 </a:t>
            </a:r>
          </a:p>
        </p:txBody>
      </p:sp>
      <p:graphicFrame>
        <p:nvGraphicFramePr>
          <p:cNvPr id="678916" name="Object 4"/>
          <p:cNvGraphicFramePr>
            <a:graphicFrameLocks noChangeAspect="1"/>
          </p:cNvGraphicFramePr>
          <p:nvPr/>
        </p:nvGraphicFramePr>
        <p:xfrm>
          <a:off x="5508625" y="1484313"/>
          <a:ext cx="719138" cy="41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4" r:id="rId3" imgW="330057" imgH="190417" progId="Equation.3">
                  <p:embed/>
                </p:oleObj>
              </mc:Choice>
              <mc:Fallback>
                <p:oleObj r:id="rId3" imgW="330057" imgH="19041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1484313"/>
                        <a:ext cx="719138" cy="411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8918" name="Object 6"/>
          <p:cNvGraphicFramePr>
            <a:graphicFrameLocks noChangeAspect="1"/>
          </p:cNvGraphicFramePr>
          <p:nvPr/>
        </p:nvGraphicFramePr>
        <p:xfrm>
          <a:off x="7667625" y="1484313"/>
          <a:ext cx="792163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5" r:id="rId5" imgW="431613" imgH="215806" progId="Equation.DSMT4">
                  <p:embed/>
                </p:oleObj>
              </mc:Choice>
              <mc:Fallback>
                <p:oleObj r:id="rId5" imgW="431613" imgH="215806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67625" y="1484313"/>
                        <a:ext cx="792163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8920" name="Object 8"/>
          <p:cNvGraphicFramePr>
            <a:graphicFrameLocks noChangeAspect="1"/>
          </p:cNvGraphicFramePr>
          <p:nvPr/>
        </p:nvGraphicFramePr>
        <p:xfrm>
          <a:off x="2700338" y="3644900"/>
          <a:ext cx="2303462" cy="869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6" r:id="rId7" imgW="1040948" imgH="418918" progId="Equation.3">
                  <p:embed/>
                </p:oleObj>
              </mc:Choice>
              <mc:Fallback>
                <p:oleObj r:id="rId7" imgW="1040948" imgH="418918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3644900"/>
                        <a:ext cx="2303462" cy="8699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8922" name="Object 10"/>
          <p:cNvGraphicFramePr>
            <a:graphicFrameLocks/>
          </p:cNvGraphicFramePr>
          <p:nvPr/>
        </p:nvGraphicFramePr>
        <p:xfrm>
          <a:off x="1835150" y="4508500"/>
          <a:ext cx="4824413" cy="649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7" r:id="rId9" imgW="2133600" imgH="228600" progId="Equation.DSMT4">
                  <p:embed/>
                </p:oleObj>
              </mc:Choice>
              <mc:Fallback>
                <p:oleObj r:id="rId9" imgW="2133600" imgH="228600" progId="Equation.DSMT4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508500"/>
                        <a:ext cx="4824413" cy="649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8924" name="Object 12"/>
          <p:cNvGraphicFramePr>
            <a:graphicFrameLocks noChangeAspect="1"/>
          </p:cNvGraphicFramePr>
          <p:nvPr/>
        </p:nvGraphicFramePr>
        <p:xfrm>
          <a:off x="684213" y="5084763"/>
          <a:ext cx="6840537" cy="1008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68" r:id="rId11" imgW="3225800" imgH="419100" progId="Equation.3">
                  <p:embed/>
                </p:oleObj>
              </mc:Choice>
              <mc:Fallback>
                <p:oleObj r:id="rId11" imgW="3225800" imgH="4191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084763"/>
                        <a:ext cx="6840537" cy="1008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78926" name="Text Box 14"/>
          <p:cNvSpPr txBox="1">
            <a:spLocks noChangeArrowheads="1"/>
          </p:cNvSpPr>
          <p:nvPr/>
        </p:nvSpPr>
        <p:spPr bwMode="auto">
          <a:xfrm>
            <a:off x="7596188" y="3789363"/>
            <a:ext cx="1065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(3.3.7)</a:t>
            </a:r>
          </a:p>
        </p:txBody>
      </p:sp>
      <p:sp>
        <p:nvSpPr>
          <p:cNvPr id="678927" name="Text Box 15"/>
          <p:cNvSpPr txBox="1">
            <a:spLocks noChangeArrowheads="1"/>
          </p:cNvSpPr>
          <p:nvPr/>
        </p:nvSpPr>
        <p:spPr bwMode="auto">
          <a:xfrm>
            <a:off x="7596188" y="5300663"/>
            <a:ext cx="1065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(3.3.8)</a:t>
            </a:r>
          </a:p>
        </p:txBody>
      </p:sp>
      <p:sp>
        <p:nvSpPr>
          <p:cNvPr id="51210" name="AutoShape 18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51211" name="Rectangle 19">
            <a:hlinkClick r:id="rId13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51212" name="AutoShape 20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51213" name="Rectangle 21">
            <a:hlinkClick r:id="rId14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7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89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7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7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789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7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7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789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789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789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789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789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78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78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67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7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900" decel="100000" fill="hold"/>
                                        <p:tgtEl>
                                          <p:spTgt spid="67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89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7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7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900" decel="100000" fill="hold"/>
                                        <p:tgtEl>
                                          <p:spTgt spid="67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89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789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789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900" decel="100000" fill="hold"/>
                                        <p:tgtEl>
                                          <p:spTgt spid="678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89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6789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6789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900" decel="100000" fill="hold"/>
                                        <p:tgtEl>
                                          <p:spTgt spid="678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89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6789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6789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900" decel="100000" fill="hold"/>
                                        <p:tgtEl>
                                          <p:spTgt spid="678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89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789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789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900" decel="100000" fill="hold"/>
                                        <p:tgtEl>
                                          <p:spTgt spid="678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89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8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6789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6789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900" decel="100000" fill="hold"/>
                                        <p:tgtEl>
                                          <p:spTgt spid="678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89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8926" grpId="0"/>
      <p:bldP spid="678927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9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765175"/>
            <a:ext cx="7848600" cy="547211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将式</a:t>
            </a:r>
            <a:r>
              <a:rPr lang="en-US" altLang="zh-CN" smtClean="0"/>
              <a:t>(3.3.8)</a:t>
            </a:r>
            <a:r>
              <a:rPr lang="zh-CN" altLang="en-US" smtClean="0"/>
              <a:t>代入式</a:t>
            </a:r>
            <a:r>
              <a:rPr lang="en-US" altLang="zh-CN" smtClean="0"/>
              <a:t>(3.3.7)</a:t>
            </a:r>
            <a:r>
              <a:rPr lang="zh-CN" altLang="en-US" smtClean="0"/>
              <a:t>得到</a:t>
            </a:r>
          </a:p>
          <a:p>
            <a:pPr eaLnBrk="1" hangingPunct="1">
              <a:buFontTx/>
              <a:buNone/>
            </a:pPr>
            <a:endParaRPr lang="en-US" altLang="zh-CN" smtClean="0"/>
          </a:p>
          <a:p>
            <a:pPr eaLnBrk="1" hangingPunct="1">
              <a:buFontTx/>
              <a:buNone/>
            </a:pPr>
            <a:endParaRPr lang="en-US" altLang="zh-CN" smtClean="0"/>
          </a:p>
          <a:p>
            <a:pPr eaLnBrk="1" hangingPunct="1">
              <a:buFontTx/>
              <a:buNone/>
            </a:pPr>
            <a:endParaRPr lang="en-US" altLang="zh-CN" smtClean="0"/>
          </a:p>
          <a:p>
            <a:pPr eaLnBrk="1" hangingPunct="1">
              <a:buFontTx/>
              <a:buNone/>
            </a:pPr>
            <a:endParaRPr lang="en-US" altLang="zh-CN" smtClean="0"/>
          </a:p>
          <a:p>
            <a:pPr eaLnBrk="1" hangingPunct="1">
              <a:buFontTx/>
              <a:buNone/>
            </a:pPr>
            <a:r>
              <a:rPr lang="zh-CN" altLang="en-US" smtClean="0"/>
              <a:t>式中，       。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令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则</a:t>
            </a:r>
          </a:p>
          <a:p>
            <a:pPr eaLnBrk="1" hangingPunct="1">
              <a:buFontTx/>
              <a:buNone/>
            </a:pPr>
            <a:endParaRPr lang="en-US" altLang="zh-CN" smtClean="0"/>
          </a:p>
        </p:txBody>
      </p:sp>
      <p:graphicFrame>
        <p:nvGraphicFramePr>
          <p:cNvPr id="52227" name="Object 4"/>
          <p:cNvGraphicFramePr>
            <a:graphicFrameLocks noChangeAspect="1"/>
          </p:cNvGraphicFramePr>
          <p:nvPr/>
        </p:nvGraphicFramePr>
        <p:xfrm>
          <a:off x="1474788" y="1125538"/>
          <a:ext cx="6696075" cy="904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1" r:id="rId3" imgW="3314700" imgH="444500" progId="Equation.DSMT4">
                  <p:embed/>
                </p:oleObj>
              </mc:Choice>
              <mc:Fallback>
                <p:oleObj r:id="rId3" imgW="3314700" imgH="444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4788" y="1125538"/>
                        <a:ext cx="6696075" cy="904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8" name="Object 6"/>
          <p:cNvGraphicFramePr>
            <a:graphicFrameLocks noChangeAspect="1"/>
          </p:cNvGraphicFramePr>
          <p:nvPr/>
        </p:nvGraphicFramePr>
        <p:xfrm>
          <a:off x="2051050" y="1989138"/>
          <a:ext cx="3095625" cy="890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2" r:id="rId5" imgW="1460500" imgH="419100" progId="Equation.3">
                  <p:embed/>
                </p:oleObj>
              </mc:Choice>
              <mc:Fallback>
                <p:oleObj r:id="rId5" imgW="14605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1989138"/>
                        <a:ext cx="3095625" cy="890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9" name="Object 8"/>
          <p:cNvGraphicFramePr>
            <a:graphicFrameLocks noChangeAspect="1"/>
          </p:cNvGraphicFramePr>
          <p:nvPr/>
        </p:nvGraphicFramePr>
        <p:xfrm>
          <a:off x="1619250" y="2997200"/>
          <a:ext cx="1152525" cy="473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3" r:id="rId7" imgW="532937" imgH="215713" progId="Equation.DSMT4">
                  <p:embed/>
                </p:oleObj>
              </mc:Choice>
              <mc:Fallback>
                <p:oleObj r:id="rId7" imgW="532937" imgH="215713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2997200"/>
                        <a:ext cx="1152525" cy="473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9946" name="Object 10"/>
          <p:cNvGraphicFramePr>
            <a:graphicFrameLocks noChangeAspect="1"/>
          </p:cNvGraphicFramePr>
          <p:nvPr/>
        </p:nvGraphicFramePr>
        <p:xfrm>
          <a:off x="2843213" y="3286125"/>
          <a:ext cx="3240087" cy="844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4" r:id="rId9" imgW="1612900" imgH="419100" progId="Equation.3">
                  <p:embed/>
                </p:oleObj>
              </mc:Choice>
              <mc:Fallback>
                <p:oleObj r:id="rId9" imgW="1612900" imgH="419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286125"/>
                        <a:ext cx="3240087" cy="844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9948" name="Object 12"/>
          <p:cNvGraphicFramePr>
            <a:graphicFrameLocks noChangeAspect="1"/>
          </p:cNvGraphicFramePr>
          <p:nvPr/>
        </p:nvGraphicFramePr>
        <p:xfrm>
          <a:off x="3130550" y="4078288"/>
          <a:ext cx="2592388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5" r:id="rId11" imgW="1206500" imgH="419100" progId="Equation.3">
                  <p:embed/>
                </p:oleObj>
              </mc:Choice>
              <mc:Fallback>
                <p:oleObj r:id="rId11" imgW="1206500" imgH="4191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0550" y="4078288"/>
                        <a:ext cx="2592388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79950" name="Object 14"/>
          <p:cNvGraphicFramePr>
            <a:graphicFrameLocks noChangeAspect="1"/>
          </p:cNvGraphicFramePr>
          <p:nvPr/>
        </p:nvGraphicFramePr>
        <p:xfrm>
          <a:off x="3203575" y="5086350"/>
          <a:ext cx="244792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306" r:id="rId13" imgW="1206500" imgH="419100" progId="Equation.3">
                  <p:embed/>
                </p:oleObj>
              </mc:Choice>
              <mc:Fallback>
                <p:oleObj r:id="rId13" imgW="1206500" imgH="4191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5086350"/>
                        <a:ext cx="244792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3" name="Text Box 16"/>
          <p:cNvSpPr txBox="1">
            <a:spLocks noChangeArrowheads="1"/>
          </p:cNvSpPr>
          <p:nvPr/>
        </p:nvSpPr>
        <p:spPr bwMode="auto">
          <a:xfrm>
            <a:off x="7380288" y="2133600"/>
            <a:ext cx="1235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(3.3.9a)</a:t>
            </a:r>
          </a:p>
        </p:txBody>
      </p:sp>
      <p:sp>
        <p:nvSpPr>
          <p:cNvPr id="679953" name="Text Box 17"/>
          <p:cNvSpPr txBox="1">
            <a:spLocks noChangeArrowheads="1"/>
          </p:cNvSpPr>
          <p:nvPr/>
        </p:nvSpPr>
        <p:spPr bwMode="auto">
          <a:xfrm>
            <a:off x="7380288" y="3429000"/>
            <a:ext cx="1235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(3.3.9b)</a:t>
            </a:r>
          </a:p>
        </p:txBody>
      </p:sp>
      <p:sp>
        <p:nvSpPr>
          <p:cNvPr id="679954" name="Text Box 18"/>
          <p:cNvSpPr txBox="1">
            <a:spLocks noChangeArrowheads="1"/>
          </p:cNvSpPr>
          <p:nvPr/>
        </p:nvSpPr>
        <p:spPr bwMode="auto">
          <a:xfrm>
            <a:off x="7380288" y="5300663"/>
            <a:ext cx="1235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(3.3.11)</a:t>
            </a:r>
          </a:p>
        </p:txBody>
      </p:sp>
      <p:sp>
        <p:nvSpPr>
          <p:cNvPr id="679955" name="Rectangle 19"/>
          <p:cNvSpPr>
            <a:spLocks noChangeArrowheads="1"/>
          </p:cNvSpPr>
          <p:nvPr/>
        </p:nvSpPr>
        <p:spPr bwMode="auto">
          <a:xfrm>
            <a:off x="3059113" y="2997200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所以</a:t>
            </a:r>
          </a:p>
        </p:txBody>
      </p:sp>
      <p:sp>
        <p:nvSpPr>
          <p:cNvPr id="52237" name="AutoShape 22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52238" name="Rectangle 23">
            <a:hlinkClick r:id="rId15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52239" name="AutoShape 24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52240" name="Rectangle 25">
            <a:hlinkClick r:id="rId16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799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799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799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799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799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799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799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799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799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799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799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799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7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7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67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99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79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79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decel="100000" fill="hold"/>
                                        <p:tgtEl>
                                          <p:spTgt spid="679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993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799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799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679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99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799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799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900" decel="100000" fill="hold"/>
                                        <p:tgtEl>
                                          <p:spTgt spid="679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99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1000"/>
                                        <p:tgtEl>
                                          <p:spTgt spid="6799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799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900" decel="100000" fill="hold"/>
                                        <p:tgtEl>
                                          <p:spTgt spid="679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799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9953" grpId="0"/>
      <p:bldP spid="679954" grpId="0"/>
      <p:bldP spid="67995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052513"/>
            <a:ext cx="7920037" cy="468153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式</a:t>
            </a:r>
            <a:r>
              <a:rPr lang="en-US" altLang="zh-CN" smtClean="0"/>
              <a:t>(3.3.9a)</a:t>
            </a:r>
            <a:r>
              <a:rPr lang="zh-CN" altLang="en-US" smtClean="0"/>
              <a:t>和式</a:t>
            </a:r>
            <a:r>
              <a:rPr lang="en-US" altLang="zh-CN" smtClean="0"/>
              <a:t>(3.3.11)</a:t>
            </a:r>
            <a:r>
              <a:rPr lang="zh-CN" altLang="en-US" smtClean="0"/>
              <a:t>称为用    表示</a:t>
            </a:r>
            <a:r>
              <a:rPr lang="en-US" altLang="zh-CN" smtClean="0"/>
              <a:t>X(z)</a:t>
            </a:r>
            <a:r>
              <a:rPr lang="zh-CN" altLang="en-US" smtClean="0"/>
              <a:t>的</a:t>
            </a:r>
            <a:r>
              <a:rPr lang="en-US" altLang="zh-CN" smtClean="0"/>
              <a:t>z</a:t>
            </a:r>
            <a:r>
              <a:rPr lang="zh-CN" altLang="en-US" smtClean="0"/>
              <a:t>域内插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公式。   称为</a:t>
            </a:r>
            <a:r>
              <a:rPr lang="en-US" altLang="zh-CN" smtClean="0"/>
              <a:t>z</a:t>
            </a:r>
            <a:r>
              <a:rPr lang="zh-CN" altLang="en-US" smtClean="0"/>
              <a:t>域内插函数。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将      带入</a:t>
            </a:r>
            <a:r>
              <a:rPr lang="en-US" altLang="zh-CN" smtClean="0"/>
              <a:t>(c)</a:t>
            </a:r>
            <a:r>
              <a:rPr lang="zh-CN" altLang="en-US" smtClean="0"/>
              <a:t>式并化简，得到用    表示     的内插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公式和内插函数    </a:t>
            </a:r>
            <a:r>
              <a:rPr lang="en-US" altLang="zh-CN" smtClean="0"/>
              <a:t>: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式</a:t>
            </a:r>
            <a:r>
              <a:rPr lang="en-US" altLang="zh-CN" smtClean="0"/>
              <a:t>(3.3.12)</a:t>
            </a:r>
            <a:r>
              <a:rPr lang="zh-CN" altLang="en-US" smtClean="0"/>
              <a:t>和式</a:t>
            </a:r>
            <a:r>
              <a:rPr lang="en-US" altLang="zh-CN" smtClean="0"/>
              <a:t>(3.3.13)</a:t>
            </a:r>
            <a:r>
              <a:rPr lang="zh-CN" altLang="en-US" smtClean="0"/>
              <a:t>将用于</a:t>
            </a:r>
            <a:r>
              <a:rPr lang="en-US" altLang="zh-CN" smtClean="0"/>
              <a:t>FIR</a:t>
            </a:r>
            <a:r>
              <a:rPr lang="zh-CN" altLang="en-US" smtClean="0"/>
              <a:t>数字滤波器的频率采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样设计法的误差分析。 </a:t>
            </a:r>
          </a:p>
        </p:txBody>
      </p:sp>
      <p:graphicFrame>
        <p:nvGraphicFramePr>
          <p:cNvPr id="53251" name="Object 4"/>
          <p:cNvGraphicFramePr>
            <a:graphicFrameLocks noChangeAspect="1"/>
          </p:cNvGraphicFramePr>
          <p:nvPr/>
        </p:nvGraphicFramePr>
        <p:xfrm>
          <a:off x="5003800" y="1125538"/>
          <a:ext cx="64928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6" r:id="rId3" imgW="330057" imgH="190417" progId="Equation.3">
                  <p:embed/>
                </p:oleObj>
              </mc:Choice>
              <mc:Fallback>
                <p:oleObj r:id="rId3" imgW="330057" imgH="19041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1125538"/>
                        <a:ext cx="649288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2" name="Object 6"/>
          <p:cNvGraphicFramePr>
            <a:graphicFrameLocks noChangeAspect="1"/>
          </p:cNvGraphicFramePr>
          <p:nvPr/>
        </p:nvGraphicFramePr>
        <p:xfrm>
          <a:off x="1476375" y="1484313"/>
          <a:ext cx="719138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7" r:id="rId5" imgW="342751" imgH="203112" progId="Equation.3">
                  <p:embed/>
                </p:oleObj>
              </mc:Choice>
              <mc:Fallback>
                <p:oleObj r:id="rId5" imgW="342751" imgH="20311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1484313"/>
                        <a:ext cx="719138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68" name="Object 8"/>
          <p:cNvGraphicFramePr>
            <a:graphicFrameLocks noChangeAspect="1"/>
          </p:cNvGraphicFramePr>
          <p:nvPr/>
        </p:nvGraphicFramePr>
        <p:xfrm>
          <a:off x="1042988" y="1916113"/>
          <a:ext cx="1008062" cy="468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8" r:id="rId7" imgW="406224" imgH="190417" progId="Equation.DSMT4">
                  <p:embed/>
                </p:oleObj>
              </mc:Choice>
              <mc:Fallback>
                <p:oleObj r:id="rId7" imgW="406224" imgH="190417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1916113"/>
                        <a:ext cx="1008062" cy="468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0" name="Object 10"/>
          <p:cNvGraphicFramePr>
            <a:graphicFrameLocks noChangeAspect="1"/>
          </p:cNvGraphicFramePr>
          <p:nvPr/>
        </p:nvGraphicFramePr>
        <p:xfrm>
          <a:off x="2916238" y="2420938"/>
          <a:ext cx="611187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49" r:id="rId9" imgW="317225" imgH="190335" progId="Equation.3">
                  <p:embed/>
                </p:oleObj>
              </mc:Choice>
              <mc:Fallback>
                <p:oleObj r:id="rId9" imgW="317225" imgH="190335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420938"/>
                        <a:ext cx="611187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2" name="Object 12"/>
          <p:cNvGraphicFramePr>
            <a:graphicFrameLocks noChangeAspect="1"/>
          </p:cNvGraphicFramePr>
          <p:nvPr/>
        </p:nvGraphicFramePr>
        <p:xfrm>
          <a:off x="6732588" y="1989138"/>
          <a:ext cx="792162" cy="404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0" r:id="rId11" imgW="431613" imgH="215806" progId="Equation.DSMT4">
                  <p:embed/>
                </p:oleObj>
              </mc:Choice>
              <mc:Fallback>
                <p:oleObj r:id="rId11" imgW="431613" imgH="215806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32588" y="1989138"/>
                        <a:ext cx="792162" cy="404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3" name="Object 13"/>
          <p:cNvGraphicFramePr>
            <a:graphicFrameLocks noChangeAspect="1"/>
          </p:cNvGraphicFramePr>
          <p:nvPr/>
        </p:nvGraphicFramePr>
        <p:xfrm>
          <a:off x="5508625" y="1989138"/>
          <a:ext cx="649288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1" r:id="rId13" imgW="330057" imgH="190417" progId="Equation.3">
                  <p:embed/>
                </p:oleObj>
              </mc:Choice>
              <mc:Fallback>
                <p:oleObj r:id="rId13" imgW="330057" imgH="19041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08625" y="1989138"/>
                        <a:ext cx="649288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4" name="Object 14"/>
          <p:cNvGraphicFramePr>
            <a:graphicFrameLocks noChangeAspect="1"/>
          </p:cNvGraphicFramePr>
          <p:nvPr/>
        </p:nvGraphicFramePr>
        <p:xfrm>
          <a:off x="2268538" y="2852738"/>
          <a:ext cx="3527425" cy="862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2" r:id="rId14" imgW="1714500" imgH="419100" progId="Equation.DSMT4">
                  <p:embed/>
                </p:oleObj>
              </mc:Choice>
              <mc:Fallback>
                <p:oleObj r:id="rId14" imgW="1714500" imgH="4191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852738"/>
                        <a:ext cx="3527425" cy="8620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0976" name="Object 16"/>
          <p:cNvGraphicFramePr>
            <a:graphicFrameLocks noChangeAspect="1"/>
          </p:cNvGraphicFramePr>
          <p:nvPr/>
        </p:nvGraphicFramePr>
        <p:xfrm>
          <a:off x="2268538" y="3716338"/>
          <a:ext cx="3671887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353" r:id="rId16" imgW="1739900" imgH="381000" progId="Equation.3">
                  <p:embed/>
                </p:oleObj>
              </mc:Choice>
              <mc:Fallback>
                <p:oleObj r:id="rId16" imgW="1739900" imgH="3810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3716338"/>
                        <a:ext cx="3671887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0978" name="Text Box 18"/>
          <p:cNvSpPr txBox="1">
            <a:spLocks noChangeArrowheads="1"/>
          </p:cNvSpPr>
          <p:nvPr/>
        </p:nvSpPr>
        <p:spPr bwMode="auto">
          <a:xfrm>
            <a:off x="7235825" y="2997200"/>
            <a:ext cx="1235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(3.3.12)</a:t>
            </a:r>
          </a:p>
        </p:txBody>
      </p:sp>
      <p:sp>
        <p:nvSpPr>
          <p:cNvPr id="680980" name="Text Box 20"/>
          <p:cNvSpPr txBox="1">
            <a:spLocks noChangeArrowheads="1"/>
          </p:cNvSpPr>
          <p:nvPr/>
        </p:nvSpPr>
        <p:spPr bwMode="auto">
          <a:xfrm>
            <a:off x="7235825" y="4005263"/>
            <a:ext cx="1235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(3.3.13)</a:t>
            </a:r>
          </a:p>
        </p:txBody>
      </p:sp>
      <p:sp>
        <p:nvSpPr>
          <p:cNvPr id="680983" name="AutoShape 23"/>
          <p:cNvSpPr>
            <a:spLocks noChangeArrowheads="1"/>
          </p:cNvSpPr>
          <p:nvPr/>
        </p:nvSpPr>
        <p:spPr bwMode="auto">
          <a:xfrm>
            <a:off x="1979613" y="2852738"/>
            <a:ext cx="4105275" cy="1657350"/>
          </a:xfrm>
          <a:prstGeom prst="roundRect">
            <a:avLst>
              <a:gd name="adj" fmla="val 16667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tx2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3262" name="AutoShape 24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53263" name="Rectangle 25">
            <a:hlinkClick r:id="rId18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53264" name="AutoShape 26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53265" name="Rectangle 27">
            <a:hlinkClick r:id="rId19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8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809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8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809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809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809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809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809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80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80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809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809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809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809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809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809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6809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809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809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6809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809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6809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096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0978" grpId="0"/>
      <p:bldP spid="680980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8546" name="Object 2"/>
          <p:cNvGraphicFramePr>
            <a:graphicFrameLocks noChangeAspect="1"/>
          </p:cNvGraphicFramePr>
          <p:nvPr/>
        </p:nvGraphicFramePr>
        <p:xfrm>
          <a:off x="1042988" y="620713"/>
          <a:ext cx="59055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2" name="Equation" r:id="rId3" imgW="6451600" imgH="914400" progId="Equation.DSMT4">
                  <p:embed/>
                </p:oleObj>
              </mc:Choice>
              <mc:Fallback>
                <p:oleObj name="Equation" r:id="rId3" imgW="6451600" imgH="914400" progId="Equation.DSMT4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620713"/>
                        <a:ext cx="59055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48547" name="Object 3"/>
          <p:cNvGraphicFramePr>
            <a:graphicFrameLocks noChangeAspect="1"/>
          </p:cNvGraphicFramePr>
          <p:nvPr/>
        </p:nvGraphicFramePr>
        <p:xfrm>
          <a:off x="1835150" y="1484313"/>
          <a:ext cx="5472113" cy="158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3" name="Equation" r:id="rId5" imgW="6413500" imgH="1854200" progId="Equation.DSMT4">
                  <p:embed/>
                </p:oleObj>
              </mc:Choice>
              <mc:Fallback>
                <p:oleObj name="Equation" r:id="rId5" imgW="6413500" imgH="185420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484313"/>
                        <a:ext cx="5472113" cy="158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48548" name="Picture 4"/>
          <p:cNvPicPr>
            <a:picLocks noChangeAspect="1" noChangeArrowheads="1"/>
          </p:cNvPicPr>
          <p:nvPr/>
        </p:nvPicPr>
        <p:blipFill>
          <a:blip r:embed="rId7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8038" y="3357563"/>
            <a:ext cx="5329237" cy="3157537"/>
          </a:xfrm>
          <a:prstGeom prst="rect">
            <a:avLst/>
          </a:prstGeom>
          <a:solidFill>
            <a:schemeClr val="tx2"/>
          </a:solidFill>
          <a:ln w="9525">
            <a:solidFill>
              <a:srgbClr val="993300"/>
            </a:solidFill>
            <a:miter lim="800000"/>
            <a:headEnd/>
            <a:tailEnd/>
          </a:ln>
        </p:spPr>
      </p:pic>
      <p:sp>
        <p:nvSpPr>
          <p:cNvPr id="748549" name="Text Box 5"/>
          <p:cNvSpPr txBox="1">
            <a:spLocks noChangeArrowheads="1"/>
          </p:cNvSpPr>
          <p:nvPr/>
        </p:nvSpPr>
        <p:spPr bwMode="auto">
          <a:xfrm>
            <a:off x="539750" y="3357563"/>
            <a:ext cx="2736850" cy="302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marL="3429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8001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2573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7145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171700" indent="-342900"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6289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30861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5433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4000500" indent="-3429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CC3300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chemeClr val="folHlink"/>
                </a:solidFill>
              </a:rPr>
              <a:t>保证了各采样点上的值与原序列的频谱相同；</a:t>
            </a:r>
          </a:p>
          <a:p>
            <a:pPr eaLnBrk="1" hangingPunct="1">
              <a:lnSpc>
                <a:spcPct val="130000"/>
              </a:lnSpc>
              <a:spcBef>
                <a:spcPct val="50000"/>
              </a:spcBef>
              <a:buClr>
                <a:srgbClr val="CC3300"/>
              </a:buClr>
              <a:buSzPct val="70000"/>
              <a:buFont typeface="Wingdings" panose="05000000000000000000" pitchFamily="2" charset="2"/>
              <a:buChar char="l"/>
            </a:pPr>
            <a:r>
              <a:rPr lang="zh-CN" altLang="en-US" sz="2000" b="1">
                <a:solidFill>
                  <a:schemeClr val="folHlink"/>
                </a:solidFill>
              </a:rPr>
              <a:t>采样点之间为采样值与对应点的内插公式相乘，并叠加而成。</a:t>
            </a:r>
          </a:p>
        </p:txBody>
      </p:sp>
      <p:sp>
        <p:nvSpPr>
          <p:cNvPr id="54278" name="AutoShape 6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54279" name="Rectangle 7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54280" name="AutoShape 8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54281" name="Rectangle 9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748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5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7485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>
          <a:xfrm>
            <a:off x="971550" y="549275"/>
            <a:ext cx="6859588" cy="1143000"/>
          </a:xfrm>
        </p:spPr>
        <p:txBody>
          <a:bodyPr/>
          <a:lstStyle/>
          <a:p>
            <a:pPr algn="ctr" eaLnBrk="1" hangingPunct="1"/>
            <a:r>
              <a:rPr lang="en-US" altLang="zh-CN" smtClean="0"/>
              <a:t>3.4 DFT</a:t>
            </a:r>
            <a:r>
              <a:rPr lang="zh-CN" altLang="en-US" smtClean="0"/>
              <a:t>的快速算法</a:t>
            </a:r>
            <a:r>
              <a:rPr lang="en-US" altLang="zh-CN" smtClean="0"/>
              <a:t>——</a:t>
            </a:r>
            <a:r>
              <a:rPr lang="zh-CN" altLang="en-US" smtClean="0"/>
              <a:t>快速傅里叶变换</a:t>
            </a:r>
            <a:r>
              <a:rPr lang="en-US" altLang="zh-CN" smtClean="0"/>
              <a:t>(FFT)</a:t>
            </a:r>
            <a:endParaRPr lang="zh-CN" altLang="en-US" smtClean="0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916113"/>
            <a:ext cx="8208962" cy="3671887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Char char="l"/>
            </a:pPr>
            <a:r>
              <a:rPr lang="en-US" altLang="zh-CN" smtClean="0"/>
              <a:t>DFT</a:t>
            </a:r>
            <a:r>
              <a:rPr lang="zh-CN" altLang="en-US" smtClean="0"/>
              <a:t>使计算机在频域处理信号成为可能，但是当</a:t>
            </a:r>
            <a:r>
              <a:rPr lang="en-US" altLang="zh-CN" smtClean="0"/>
              <a:t>N</a:t>
            </a:r>
            <a:r>
              <a:rPr lang="zh-CN" altLang="en-US" smtClean="0"/>
              <a:t>很大时，直接计算</a:t>
            </a:r>
            <a:r>
              <a:rPr lang="en-US" altLang="zh-CN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的计算量非常大。</a:t>
            </a: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mtClean="0"/>
              <a:t>快速傅里叶变换（</a:t>
            </a:r>
            <a:r>
              <a:rPr lang="en-US" altLang="zh-CN" smtClean="0"/>
              <a:t>FFT</a:t>
            </a:r>
            <a:r>
              <a:rPr lang="zh-CN" altLang="en-US" smtClean="0"/>
              <a:t>，</a:t>
            </a:r>
            <a:r>
              <a:rPr lang="en-US" altLang="zh-CN" smtClean="0"/>
              <a:t>Fast Fourier Transform</a:t>
            </a:r>
            <a:r>
              <a:rPr lang="zh-CN" altLang="en-US" smtClean="0"/>
              <a:t>）可使实现</a:t>
            </a:r>
            <a:r>
              <a:rPr lang="en-US" altLang="zh-CN" smtClean="0"/>
              <a:t>DFT</a:t>
            </a:r>
            <a:r>
              <a:rPr lang="zh-CN" altLang="en-US" smtClean="0"/>
              <a:t>的运算量下降几个数量级，从而使数字信号处理的速度大大提高，工程应用成为可能。</a:t>
            </a:r>
          </a:p>
          <a:p>
            <a:pPr eaLnBrk="1" hangingPunct="1">
              <a:buFont typeface="Wingdings" panose="05000000000000000000" pitchFamily="2" charset="2"/>
              <a:buChar char="l"/>
            </a:pPr>
            <a:r>
              <a:rPr lang="zh-CN" altLang="en-US" smtClean="0"/>
              <a:t>人们已经研究出多种</a:t>
            </a:r>
            <a:r>
              <a:rPr lang="en-US" altLang="zh-CN" smtClean="0"/>
              <a:t>FFT</a:t>
            </a:r>
            <a:r>
              <a:rPr lang="zh-CN" altLang="en-US" smtClean="0"/>
              <a:t>算法，它们的复杂度和运算效率各不相同。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 本章主要介绍最基本的基</a:t>
            </a:r>
            <a:r>
              <a:rPr lang="en-US" altLang="zh-CN" smtClean="0"/>
              <a:t>2 FFT</a:t>
            </a:r>
            <a:r>
              <a:rPr lang="zh-CN" altLang="en-US" smtClean="0"/>
              <a:t>算法及其编程方法。 </a:t>
            </a:r>
          </a:p>
        </p:txBody>
      </p:sp>
      <p:sp>
        <p:nvSpPr>
          <p:cNvPr id="55300" name="AutoShape 5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55301" name="Rectangle 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549275"/>
            <a:ext cx="6859588" cy="974725"/>
          </a:xfrm>
        </p:spPr>
        <p:txBody>
          <a:bodyPr/>
          <a:lstStyle/>
          <a:p>
            <a:pPr algn="ctr" eaLnBrk="1" hangingPunct="1"/>
            <a:r>
              <a:rPr lang="en-US" altLang="zh-CN" sz="2800" smtClean="0"/>
              <a:t>3.4.1 </a:t>
            </a:r>
            <a:r>
              <a:rPr lang="zh-CN" altLang="en-US" sz="2800" smtClean="0"/>
              <a:t>直接计算</a:t>
            </a:r>
            <a:r>
              <a:rPr lang="en-US" altLang="zh-CN" sz="2800" smtClean="0"/>
              <a:t>DFT</a:t>
            </a:r>
            <a:r>
              <a:rPr lang="zh-CN" altLang="en-US" sz="2800" smtClean="0"/>
              <a:t>的特点及减少运算量的基本途径</a:t>
            </a:r>
          </a:p>
        </p:txBody>
      </p:sp>
      <p:sp>
        <p:nvSpPr>
          <p:cNvPr id="642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700213"/>
            <a:ext cx="8064500" cy="43926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b="1" dirty="0" smtClean="0">
                <a:latin typeface="Arial Black" panose="020B0A04020102020204" pitchFamily="34" charset="0"/>
              </a:rPr>
              <a:t>DFT</a:t>
            </a:r>
            <a:r>
              <a:rPr lang="zh-CN" altLang="en-US" b="1" dirty="0" smtClean="0">
                <a:latin typeface="Arial Black" panose="020B0A04020102020204" pitchFamily="34" charset="0"/>
              </a:rPr>
              <a:t>计算量：</a:t>
            </a:r>
          </a:p>
          <a:p>
            <a:pPr eaLnBrk="1" hangingPunct="1">
              <a:buFontTx/>
              <a:buNone/>
            </a:pPr>
            <a:r>
              <a:rPr lang="zh-CN" altLang="en-US" dirty="0" smtClean="0"/>
              <a:t>   </a:t>
            </a:r>
          </a:p>
          <a:p>
            <a:pPr eaLnBrk="1" hangingPunct="1">
              <a:buFontTx/>
              <a:buNone/>
            </a:pPr>
            <a:r>
              <a:rPr lang="zh-CN" altLang="en-US" dirty="0" smtClean="0"/>
              <a:t>长度为</a:t>
            </a:r>
            <a:r>
              <a:rPr lang="en-US" altLang="zh-CN" dirty="0" smtClean="0"/>
              <a:t>N</a:t>
            </a:r>
            <a:r>
              <a:rPr lang="zh-CN" altLang="en-US" dirty="0" smtClean="0"/>
              <a:t>的序列</a:t>
            </a:r>
            <a:r>
              <a:rPr lang="en-US" altLang="zh-CN" dirty="0" smtClean="0"/>
              <a:t>x(n)</a:t>
            </a:r>
            <a:r>
              <a:rPr lang="zh-CN" altLang="en-US" dirty="0" smtClean="0"/>
              <a:t>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点</a:t>
            </a:r>
            <a:r>
              <a:rPr lang="en-US" altLang="zh-CN" dirty="0" smtClean="0"/>
              <a:t>DFT</a:t>
            </a:r>
            <a:r>
              <a:rPr lang="zh-CN" altLang="en-US" dirty="0" smtClean="0"/>
              <a:t>为 </a:t>
            </a:r>
          </a:p>
          <a:p>
            <a:pPr eaLnBrk="1" hangingPunct="1">
              <a:buFontTx/>
              <a:buNone/>
            </a:pPr>
            <a:endParaRPr lang="zh-CN" altLang="en-US" dirty="0" smtClean="0"/>
          </a:p>
          <a:p>
            <a:pPr eaLnBrk="1" hangingPunct="1">
              <a:buFontTx/>
              <a:buNone/>
            </a:pPr>
            <a:endParaRPr lang="zh-CN" altLang="en-US" dirty="0" smtClean="0"/>
          </a:p>
          <a:p>
            <a:pPr eaLnBrk="1" hangingPunct="1">
              <a:buFontTx/>
              <a:buNone/>
            </a:pPr>
            <a:r>
              <a:rPr lang="zh-CN" altLang="en-US" dirty="0" smtClean="0"/>
              <a:t>   计算</a:t>
            </a:r>
            <a:r>
              <a:rPr lang="en-US" altLang="zh-CN" dirty="0" smtClean="0"/>
              <a:t>X(k)</a:t>
            </a:r>
            <a:r>
              <a:rPr lang="zh-CN" altLang="en-US" dirty="0" smtClean="0"/>
              <a:t>的每一个值需要计算</a:t>
            </a:r>
            <a:r>
              <a:rPr lang="en-US" altLang="zh-CN" dirty="0" smtClean="0"/>
              <a:t>N</a:t>
            </a:r>
            <a:r>
              <a:rPr lang="zh-CN" altLang="en-US" dirty="0" smtClean="0"/>
              <a:t>次复数乘法和</a:t>
            </a:r>
            <a:r>
              <a:rPr lang="en-US" altLang="zh-CN" dirty="0" smtClean="0"/>
              <a:t>N-1</a:t>
            </a:r>
            <a:r>
              <a:rPr lang="zh-CN" altLang="en-US" dirty="0" smtClean="0"/>
              <a:t>次复数</a:t>
            </a:r>
          </a:p>
          <a:p>
            <a:pPr eaLnBrk="1" hangingPunct="1">
              <a:buFontTx/>
              <a:buNone/>
            </a:pPr>
            <a:r>
              <a:rPr lang="zh-CN" altLang="en-US" dirty="0" smtClean="0"/>
              <a:t>加法，那么计算</a:t>
            </a:r>
            <a:r>
              <a:rPr lang="en-US" altLang="zh-CN" dirty="0" smtClean="0"/>
              <a:t>X(k)</a:t>
            </a:r>
            <a:r>
              <a:rPr lang="zh-CN" altLang="en-US" dirty="0" smtClean="0"/>
              <a:t>的</a:t>
            </a:r>
            <a:r>
              <a:rPr lang="en-US" altLang="zh-CN" dirty="0" smtClean="0"/>
              <a:t>N</a:t>
            </a:r>
            <a:r>
              <a:rPr lang="zh-CN" altLang="en-US" dirty="0" smtClean="0"/>
              <a:t>个值需要</a:t>
            </a:r>
            <a:r>
              <a:rPr lang="en-US" altLang="zh-CN" dirty="0" smtClean="0"/>
              <a:t>N</a:t>
            </a:r>
            <a:r>
              <a:rPr lang="en-US" altLang="zh-CN" baseline="30000" dirty="0" smtClean="0"/>
              <a:t>2</a:t>
            </a:r>
            <a:r>
              <a:rPr lang="zh-CN" altLang="en-US" dirty="0" smtClean="0"/>
              <a:t>次复数乘法和</a:t>
            </a:r>
            <a:r>
              <a:rPr lang="en-US" altLang="zh-CN" dirty="0" smtClean="0"/>
              <a:t>(N-1)</a:t>
            </a:r>
            <a:r>
              <a:rPr lang="en-US" altLang="zh-CN" dirty="0" smtClean="0">
                <a:sym typeface="Symbol" panose="05050102010706020507" pitchFamily="18" charset="2"/>
              </a:rPr>
              <a:t></a:t>
            </a:r>
            <a:r>
              <a:rPr lang="en-US" altLang="zh-CN" dirty="0" smtClean="0"/>
              <a:t>N</a:t>
            </a:r>
          </a:p>
          <a:p>
            <a:pPr eaLnBrk="1" hangingPunct="1">
              <a:buFontTx/>
              <a:buNone/>
            </a:pPr>
            <a:r>
              <a:rPr lang="zh-CN" altLang="en-US" dirty="0" smtClean="0"/>
              <a:t>次复数加法运算。当</a:t>
            </a:r>
            <a:r>
              <a:rPr lang="en-US" altLang="zh-CN" dirty="0" smtClean="0"/>
              <a:t>N&gt;&gt;1</a:t>
            </a:r>
            <a:r>
              <a:rPr lang="zh-CN" altLang="en-US" dirty="0" smtClean="0"/>
              <a:t>时，</a:t>
            </a:r>
            <a:r>
              <a:rPr lang="en-US" altLang="zh-CN" dirty="0" smtClean="0"/>
              <a:t>N</a:t>
            </a:r>
            <a:r>
              <a:rPr lang="zh-CN" altLang="en-US" dirty="0" smtClean="0"/>
              <a:t>点</a:t>
            </a:r>
            <a:r>
              <a:rPr lang="en-US" altLang="zh-CN" dirty="0" smtClean="0"/>
              <a:t>DFT</a:t>
            </a:r>
            <a:r>
              <a:rPr lang="zh-CN" altLang="en-US" dirty="0" smtClean="0"/>
              <a:t>的复数乘法和复数加</a:t>
            </a:r>
          </a:p>
          <a:p>
            <a:pPr eaLnBrk="1" hangingPunct="1">
              <a:buFontTx/>
              <a:buNone/>
            </a:pPr>
            <a:r>
              <a:rPr lang="zh-CN" altLang="en-US" dirty="0" smtClean="0"/>
              <a:t>法运算次数均与</a:t>
            </a:r>
            <a:r>
              <a:rPr lang="en-US" altLang="zh-CN" dirty="0" smtClean="0"/>
              <a:t>N</a:t>
            </a:r>
            <a:r>
              <a:rPr lang="en-US" altLang="zh-CN" baseline="30000" dirty="0" smtClean="0"/>
              <a:t>2</a:t>
            </a:r>
            <a:r>
              <a:rPr lang="zh-CN" altLang="en-US" dirty="0" smtClean="0"/>
              <a:t>成正比。 </a:t>
            </a:r>
          </a:p>
          <a:p>
            <a:pPr eaLnBrk="1" hangingPunct="1">
              <a:buFontTx/>
              <a:buNone/>
            </a:pPr>
            <a:endParaRPr lang="zh-CN" altLang="en-US" dirty="0" smtClean="0"/>
          </a:p>
          <a:p>
            <a:pPr eaLnBrk="1" hangingPunct="1">
              <a:buFontTx/>
              <a:buNone/>
            </a:pPr>
            <a:r>
              <a:rPr lang="zh-CN" altLang="en-US" dirty="0" smtClean="0"/>
              <a:t>  </a:t>
            </a:r>
          </a:p>
        </p:txBody>
      </p:sp>
      <p:graphicFrame>
        <p:nvGraphicFramePr>
          <p:cNvPr id="64205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088491"/>
              </p:ext>
            </p:extLst>
          </p:nvPr>
        </p:nvGraphicFramePr>
        <p:xfrm>
          <a:off x="1130300" y="3213100"/>
          <a:ext cx="241935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1" name="Equation" r:id="rId3" imgW="1091880" imgH="203040" progId="Equation.DSMT4">
                  <p:embed/>
                </p:oleObj>
              </mc:Choice>
              <mc:Fallback>
                <p:oleObj name="Equation" r:id="rId3" imgW="1091880" imgH="20304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0300" y="3213100"/>
                        <a:ext cx="241935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2054" name="Object 6"/>
          <p:cNvGraphicFramePr>
            <a:graphicFrameLocks noChangeAspect="1"/>
          </p:cNvGraphicFramePr>
          <p:nvPr/>
        </p:nvGraphicFramePr>
        <p:xfrm>
          <a:off x="3563938" y="2997200"/>
          <a:ext cx="475297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6352" r:id="rId5" imgW="2222500" imgH="419100" progId="Equation.DSMT4">
                  <p:embed/>
                </p:oleObj>
              </mc:Choice>
              <mc:Fallback>
                <p:oleObj r:id="rId5" imgW="2222500" imgH="419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2997200"/>
                        <a:ext cx="4752975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2058" name="Rectangle 10"/>
          <p:cNvSpPr>
            <a:spLocks noChangeArrowheads="1"/>
          </p:cNvSpPr>
          <p:nvPr/>
        </p:nvSpPr>
        <p:spPr bwMode="auto">
          <a:xfrm>
            <a:off x="539750" y="3932238"/>
            <a:ext cx="7993063" cy="1800225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2800">
              <a:solidFill>
                <a:srgbClr val="CC3300"/>
              </a:solidFill>
              <a:latin typeface="Arial" panose="020B0604020202020204" pitchFamily="34" charset="0"/>
            </a:endParaRPr>
          </a:p>
        </p:txBody>
      </p:sp>
      <p:sp>
        <p:nvSpPr>
          <p:cNvPr id="56327" name="AutoShape 11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56328" name="Rectangle 12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56329" name="AutoShape 13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56330" name="Rectangle 14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20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6420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6420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8" dur="500"/>
                                        <p:tgtEl>
                                          <p:spTgt spid="64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205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59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539750" y="908050"/>
            <a:ext cx="8064500" cy="4776788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zh-CN" altLang="en-US" b="1" smtClean="0">
                <a:latin typeface="Bodoni MT Black" panose="02070A03080606020203" pitchFamily="18" charset="0"/>
                <a:ea typeface="华文中宋" panose="02010600040101010101" pitchFamily="2" charset="-122"/>
              </a:rPr>
              <a:t>减少运算量方法：</a:t>
            </a:r>
          </a:p>
          <a:p>
            <a:pPr marL="876300" lvl="1" indent="-419100" eaLnBrk="1" hangingPunct="1">
              <a:buFontTx/>
              <a:buAutoNum type="alphaUcPeriod"/>
            </a:pPr>
            <a:r>
              <a:rPr lang="zh-CN" altLang="en-US" sz="2400" smtClean="0">
                <a:solidFill>
                  <a:srgbClr val="FF0000"/>
                </a:solidFill>
              </a:rPr>
              <a:t>长序列分为短序列：</a:t>
            </a:r>
          </a:p>
          <a:p>
            <a:pPr marL="876300" lvl="1" indent="-419100" eaLnBrk="1" hangingPunct="1">
              <a:buFontTx/>
              <a:buNone/>
            </a:pPr>
            <a:r>
              <a:rPr lang="zh-CN" altLang="en-US" sz="2400" smtClean="0"/>
              <a:t>   由于</a:t>
            </a:r>
            <a:r>
              <a:rPr lang="en-US" altLang="zh-CN" sz="2400" smtClean="0"/>
              <a:t>N</a:t>
            </a:r>
            <a:r>
              <a:rPr lang="zh-CN" altLang="en-US" sz="2400" smtClean="0"/>
              <a:t>点</a:t>
            </a:r>
            <a:r>
              <a:rPr lang="en-US" altLang="zh-CN" sz="2400" smtClean="0"/>
              <a:t>DFT</a:t>
            </a:r>
            <a:r>
              <a:rPr lang="zh-CN" altLang="en-US" sz="2400" smtClean="0"/>
              <a:t>的运算量随</a:t>
            </a:r>
            <a:r>
              <a:rPr lang="en-US" altLang="zh-CN" sz="2400" smtClean="0"/>
              <a:t>N</a:t>
            </a:r>
            <a:r>
              <a:rPr lang="en-US" altLang="zh-CN" sz="2400" baseline="30000" smtClean="0"/>
              <a:t>2</a:t>
            </a:r>
            <a:r>
              <a:rPr lang="zh-CN" altLang="en-US" sz="2400" smtClean="0"/>
              <a:t>增长，因此，当</a:t>
            </a:r>
            <a:r>
              <a:rPr lang="en-US" altLang="zh-CN" sz="2400" smtClean="0"/>
              <a:t>N</a:t>
            </a:r>
            <a:r>
              <a:rPr lang="zh-CN" altLang="en-US" sz="2400" smtClean="0"/>
              <a:t>较大时，</a:t>
            </a:r>
          </a:p>
          <a:p>
            <a:pPr marL="876300" lvl="1" indent="-419100" eaLnBrk="1" hangingPunct="1">
              <a:buFontTx/>
              <a:buNone/>
            </a:pPr>
            <a:r>
              <a:rPr lang="zh-CN" altLang="en-US" sz="2400" smtClean="0"/>
              <a:t>   减少运算量的途径之一就是将</a:t>
            </a:r>
            <a:r>
              <a:rPr lang="en-US" altLang="zh-CN" sz="2400" smtClean="0"/>
              <a:t>N</a:t>
            </a:r>
            <a:r>
              <a:rPr lang="zh-CN" altLang="en-US" sz="2400" smtClean="0"/>
              <a:t>点</a:t>
            </a:r>
            <a:r>
              <a:rPr lang="en-US" altLang="zh-CN" sz="2400" smtClean="0"/>
              <a:t>DFT</a:t>
            </a:r>
            <a:r>
              <a:rPr lang="zh-CN" altLang="en-US" sz="2400" smtClean="0"/>
              <a:t>分解为几个较</a:t>
            </a:r>
          </a:p>
          <a:p>
            <a:pPr marL="876300" lvl="1" indent="-419100" eaLnBrk="1" hangingPunct="1">
              <a:buFontTx/>
              <a:buNone/>
            </a:pPr>
            <a:r>
              <a:rPr lang="zh-CN" altLang="en-US" sz="2400" smtClean="0"/>
              <a:t>   短的</a:t>
            </a:r>
            <a:r>
              <a:rPr lang="en-US" altLang="zh-CN" sz="2400" smtClean="0"/>
              <a:t>DFT</a:t>
            </a:r>
            <a:r>
              <a:rPr lang="zh-CN" altLang="en-US" sz="2400" smtClean="0"/>
              <a:t>进行计算，则可大大减少其运算量。</a:t>
            </a:r>
          </a:p>
          <a:p>
            <a:pPr marL="876300" lvl="1" indent="-419100" eaLnBrk="1" hangingPunct="1">
              <a:buFontTx/>
              <a:buAutoNum type="alphaUcPeriod" startAt="2"/>
            </a:pPr>
            <a:r>
              <a:rPr lang="zh-CN" altLang="en-US" sz="2400" smtClean="0">
                <a:solidFill>
                  <a:srgbClr val="FF0000"/>
                </a:solidFill>
              </a:rPr>
              <a:t>旋转因子的周期性和对称性：</a:t>
            </a:r>
          </a:p>
          <a:p>
            <a:pPr marL="876300" lvl="1" indent="-419100" eaLnBrk="1" hangingPunct="1">
              <a:buFontTx/>
              <a:buNone/>
            </a:pPr>
            <a:endParaRPr lang="zh-CN" altLang="en-US" sz="2400" smtClean="0">
              <a:solidFill>
                <a:srgbClr val="FF0000"/>
              </a:solidFill>
            </a:endParaRPr>
          </a:p>
          <a:p>
            <a:pPr marL="876300" lvl="1" indent="-419100" eaLnBrk="1" hangingPunct="1">
              <a:buFontTx/>
              <a:buNone/>
            </a:pPr>
            <a:r>
              <a:rPr lang="zh-CN" altLang="en-US" sz="2400" smtClean="0">
                <a:solidFill>
                  <a:srgbClr val="FF0000"/>
                </a:solidFill>
              </a:rPr>
              <a:t>     </a:t>
            </a:r>
            <a:r>
              <a:rPr lang="zh-CN" altLang="en-US" sz="2400" b="1" smtClean="0">
                <a:solidFill>
                  <a:schemeClr val="hlink"/>
                </a:solidFill>
              </a:rPr>
              <a:t>的周期性：</a:t>
            </a:r>
          </a:p>
          <a:p>
            <a:pPr marL="876300" lvl="1" indent="-419100" eaLnBrk="1" hangingPunct="1">
              <a:buFontTx/>
              <a:buNone/>
            </a:pPr>
            <a:endParaRPr lang="zh-CN" altLang="en-US" sz="2400" smtClean="0">
              <a:solidFill>
                <a:srgbClr val="FF0000"/>
              </a:solidFill>
            </a:endParaRPr>
          </a:p>
          <a:p>
            <a:pPr marL="876300" lvl="1" indent="-419100" eaLnBrk="1" hangingPunct="1">
              <a:buFontTx/>
              <a:buNone/>
            </a:pPr>
            <a:r>
              <a:rPr lang="zh-CN" altLang="en-US" sz="2400" smtClean="0">
                <a:solidFill>
                  <a:srgbClr val="FF0000"/>
                </a:solidFill>
              </a:rPr>
              <a:t>     </a:t>
            </a:r>
            <a:r>
              <a:rPr lang="zh-CN" altLang="en-US" sz="2400" b="1" smtClean="0">
                <a:solidFill>
                  <a:schemeClr val="hlink"/>
                </a:solidFill>
              </a:rPr>
              <a:t>的对称性：</a:t>
            </a:r>
          </a:p>
          <a:p>
            <a:pPr marL="876300" lvl="1" indent="-419100" eaLnBrk="1" hangingPunct="1">
              <a:buFontTx/>
              <a:buNone/>
            </a:pPr>
            <a:endParaRPr lang="zh-CN" altLang="en-US" sz="2000" b="1" smtClean="0"/>
          </a:p>
        </p:txBody>
      </p:sp>
      <p:graphicFrame>
        <p:nvGraphicFramePr>
          <p:cNvPr id="750599" name="Object 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331913" y="3933825"/>
          <a:ext cx="576262" cy="541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07" r:id="rId3" imgW="228501" imgH="215806" progId="Equation.DSMT4">
                  <p:embed/>
                </p:oleObj>
              </mc:Choice>
              <mc:Fallback>
                <p:oleObj r:id="rId3" imgW="228501" imgH="215806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933825"/>
                        <a:ext cx="576262" cy="541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602" name="Object 1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3348038" y="3716338"/>
          <a:ext cx="4537075" cy="806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08" r:id="rId5" imgW="1879600" imgH="317500" progId="Equation.DSMT4">
                  <p:embed/>
                </p:oleObj>
              </mc:Choice>
              <mc:Fallback>
                <p:oleObj r:id="rId5" imgW="1879600" imgH="3175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716338"/>
                        <a:ext cx="4537075" cy="806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605" name="Object 13"/>
          <p:cNvGraphicFramePr>
            <a:graphicFrameLocks noChangeAspect="1"/>
          </p:cNvGraphicFramePr>
          <p:nvPr/>
        </p:nvGraphicFramePr>
        <p:xfrm>
          <a:off x="4140200" y="4652963"/>
          <a:ext cx="1944688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09" r:id="rId7" imgW="837836" imgH="215806" progId="Equation.DSMT4">
                  <p:embed/>
                </p:oleObj>
              </mc:Choice>
              <mc:Fallback>
                <p:oleObj r:id="rId7" imgW="837836" imgH="215806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4652963"/>
                        <a:ext cx="1944688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606" name="Object 14"/>
          <p:cNvGraphicFramePr>
            <a:graphicFrameLocks noChangeAspect="1"/>
          </p:cNvGraphicFramePr>
          <p:nvPr/>
        </p:nvGraphicFramePr>
        <p:xfrm>
          <a:off x="1331913" y="4797425"/>
          <a:ext cx="576262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10" r:id="rId9" imgW="228501" imgH="215806" progId="Equation.DSMT4">
                  <p:embed/>
                </p:oleObj>
              </mc:Choice>
              <mc:Fallback>
                <p:oleObj r:id="rId9" imgW="228501" imgH="215806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797425"/>
                        <a:ext cx="576262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0607" name="Object 15"/>
          <p:cNvGraphicFramePr>
            <a:graphicFrameLocks noChangeAspect="1"/>
          </p:cNvGraphicFramePr>
          <p:nvPr/>
        </p:nvGraphicFramePr>
        <p:xfrm>
          <a:off x="4140200" y="5229225"/>
          <a:ext cx="2016125" cy="801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7411" r:id="rId10" imgW="787058" imgH="317362" progId="Equation.DSMT4">
                  <p:embed/>
                </p:oleObj>
              </mc:Choice>
              <mc:Fallback>
                <p:oleObj r:id="rId10" imgW="787058" imgH="317362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0200" y="5229225"/>
                        <a:ext cx="2016125" cy="801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0608" name="AutoShape 16"/>
          <p:cNvSpPr>
            <a:spLocks/>
          </p:cNvSpPr>
          <p:nvPr/>
        </p:nvSpPr>
        <p:spPr bwMode="auto">
          <a:xfrm>
            <a:off x="3924300" y="4868863"/>
            <a:ext cx="71438" cy="935037"/>
          </a:xfrm>
          <a:prstGeom prst="leftBrace">
            <a:avLst>
              <a:gd name="adj1" fmla="val 109073"/>
              <a:gd name="adj2" fmla="val 50000"/>
            </a:avLst>
          </a:prstGeom>
          <a:noFill/>
          <a:ln w="9525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57353" name="AutoShape 18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57354" name="Rectangle 19">
            <a:hlinkClick r:id="rId12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57355" name="AutoShape 20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57356" name="Rectangle 21">
            <a:hlinkClick r:id="rId13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5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505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75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505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5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505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5059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505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505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506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506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506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750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50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7505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50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505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506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7506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506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506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750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50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0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506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506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9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981075"/>
            <a:ext cx="7704138" cy="47529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快速傅里叶变换就是不断地将长序列的</a:t>
            </a:r>
            <a:r>
              <a:rPr lang="en-US" altLang="zh-CN" smtClean="0"/>
              <a:t>DFT</a:t>
            </a:r>
            <a:r>
              <a:rPr lang="zh-CN" altLang="en-US" smtClean="0"/>
              <a:t>分解为短序列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的</a:t>
            </a:r>
            <a:r>
              <a:rPr lang="en-US" altLang="zh-CN" smtClean="0"/>
              <a:t>DFT</a:t>
            </a:r>
            <a:r>
              <a:rPr lang="zh-CN" altLang="en-US" smtClean="0"/>
              <a:t>，并利用   的周期性和对称性及其一些特殊值来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减少</a:t>
            </a:r>
            <a:r>
              <a:rPr lang="en-US" altLang="zh-CN" smtClean="0"/>
              <a:t>DFT</a:t>
            </a:r>
            <a:r>
              <a:rPr lang="zh-CN" altLang="en-US" smtClean="0"/>
              <a:t>运算量的快速算法。</a:t>
            </a:r>
          </a:p>
          <a:p>
            <a:pPr eaLnBrk="1" hangingPunct="1">
              <a:buFontTx/>
              <a:buNone/>
            </a:pPr>
            <a:r>
              <a:rPr lang="zh-CN" altLang="en-US" b="1" smtClean="0"/>
              <a:t> </a:t>
            </a:r>
          </a:p>
          <a:p>
            <a:pPr eaLnBrk="1" hangingPunct="1">
              <a:buFontTx/>
              <a:buNone/>
            </a:pPr>
            <a:r>
              <a:rPr lang="zh-CN" altLang="en-US" b="1" smtClean="0"/>
              <a:t>时间域抽取：</a:t>
            </a:r>
          </a:p>
          <a:p>
            <a:pPr eaLnBrk="1" hangingPunct="1">
              <a:buFontTx/>
              <a:buNone/>
            </a:pPr>
            <a:endParaRPr lang="zh-CN" altLang="en-US" b="1" smtClean="0"/>
          </a:p>
          <a:p>
            <a:pPr eaLnBrk="1" hangingPunct="1">
              <a:buFontTx/>
              <a:buNone/>
            </a:pPr>
            <a:endParaRPr lang="zh-CN" altLang="en-US" b="1" smtClean="0"/>
          </a:p>
          <a:p>
            <a:pPr eaLnBrk="1" hangingPunct="1">
              <a:buFontTx/>
              <a:buNone/>
            </a:pPr>
            <a:r>
              <a:rPr lang="zh-CN" altLang="en-US" b="1" smtClean="0"/>
              <a:t>频率域抽取：</a:t>
            </a:r>
          </a:p>
        </p:txBody>
      </p:sp>
      <p:graphicFrame>
        <p:nvGraphicFramePr>
          <p:cNvPr id="682003" name="Object 19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916238" y="2636838"/>
          <a:ext cx="3889375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0" name="Equation" r:id="rId3" imgW="2197100" imgH="457200" progId="Equation.DSMT4">
                  <p:embed/>
                </p:oleObj>
              </mc:Choice>
              <mc:Fallback>
                <p:oleObj name="Equation" r:id="rId3" imgW="2197100" imgH="457200" progId="Equation.DSMT4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2636838"/>
                        <a:ext cx="3889375" cy="728662"/>
                      </a:xfrm>
                      <a:prstGeom prst="rect">
                        <a:avLst/>
                      </a:prstGeom>
                      <a:solidFill>
                        <a:srgbClr val="CCEC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1997" name="Object 13"/>
          <p:cNvGraphicFramePr>
            <a:graphicFrameLocks noChangeAspect="1"/>
          </p:cNvGraphicFramePr>
          <p:nvPr/>
        </p:nvGraphicFramePr>
        <p:xfrm>
          <a:off x="2771775" y="1412875"/>
          <a:ext cx="50323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1" r:id="rId5" imgW="228501" imgH="215806" progId="Equation.DSMT4">
                  <p:embed/>
                </p:oleObj>
              </mc:Choice>
              <mc:Fallback>
                <p:oleObj r:id="rId5" imgW="228501" imgH="215806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1412875"/>
                        <a:ext cx="50323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2002" name="Text Box 18"/>
          <p:cNvSpPr txBox="1">
            <a:spLocks noChangeArrowheads="1"/>
          </p:cNvSpPr>
          <p:nvPr/>
        </p:nvSpPr>
        <p:spPr bwMode="auto">
          <a:xfrm>
            <a:off x="684213" y="3429000"/>
            <a:ext cx="71802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         基</a:t>
            </a: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2</a:t>
            </a:r>
            <a:r>
              <a:rPr kumimoji="1"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时间抽取</a:t>
            </a:r>
            <a:r>
              <a:rPr kumimoji="1" lang="en-US" altLang="zh-CN" b="1">
                <a:solidFill>
                  <a:schemeClr val="tx1"/>
                </a:solidFill>
                <a:latin typeface="Times New Roman" panose="02020603050405020304" pitchFamily="18" charset="0"/>
              </a:rPr>
              <a:t>(Decimation in time)DIT-FFT</a:t>
            </a:r>
            <a:r>
              <a:rPr kumimoji="1" lang="zh-CN" altLang="en-US" b="1">
                <a:solidFill>
                  <a:schemeClr val="tx1"/>
                </a:solidFill>
                <a:latin typeface="Times New Roman" panose="02020603050405020304" pitchFamily="18" charset="0"/>
              </a:rPr>
              <a:t>算法</a:t>
            </a:r>
          </a:p>
        </p:txBody>
      </p:sp>
      <p:sp>
        <p:nvSpPr>
          <p:cNvPr id="682009" name="Rectangle 25"/>
          <p:cNvSpPr>
            <a:spLocks noChangeArrowheads="1"/>
          </p:cNvSpPr>
          <p:nvPr/>
        </p:nvSpPr>
        <p:spPr bwMode="auto">
          <a:xfrm>
            <a:off x="827088" y="5084763"/>
            <a:ext cx="7378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kumimoji="1" lang="zh-CN" altLang="en-US" b="1">
                <a:solidFill>
                  <a:schemeClr val="tx1"/>
                </a:solidFill>
                <a:latin typeface="Arial" panose="020B0604020202020204" pitchFamily="34" charset="0"/>
              </a:rPr>
              <a:t>基</a:t>
            </a:r>
            <a:r>
              <a:rPr kumimoji="1" lang="en-US" altLang="zh-CN" b="1">
                <a:solidFill>
                  <a:schemeClr val="tx1"/>
                </a:solidFill>
                <a:latin typeface="Arial" panose="020B0604020202020204" pitchFamily="34" charset="0"/>
              </a:rPr>
              <a:t>2</a:t>
            </a:r>
            <a:r>
              <a:rPr kumimoji="1" lang="zh-CN" altLang="en-US" b="1">
                <a:solidFill>
                  <a:schemeClr val="tx1"/>
                </a:solidFill>
                <a:latin typeface="Arial" panose="020B0604020202020204" pitchFamily="34" charset="0"/>
              </a:rPr>
              <a:t>频率抽取</a:t>
            </a:r>
            <a:r>
              <a:rPr kumimoji="1" lang="en-US" altLang="zh-CN" b="1">
                <a:solidFill>
                  <a:schemeClr val="tx1"/>
                </a:solidFill>
                <a:latin typeface="Arial" panose="020B0604020202020204" pitchFamily="34" charset="0"/>
              </a:rPr>
              <a:t>(Decimation in frequency)DIF-FFT</a:t>
            </a:r>
            <a:r>
              <a:rPr kumimoji="1" lang="zh-CN" altLang="en-US" b="1">
                <a:solidFill>
                  <a:schemeClr val="tx1"/>
                </a:solidFill>
                <a:latin typeface="Arial" panose="020B0604020202020204" pitchFamily="34" charset="0"/>
              </a:rPr>
              <a:t>算法</a:t>
            </a:r>
          </a:p>
        </p:txBody>
      </p:sp>
      <p:graphicFrame>
        <p:nvGraphicFramePr>
          <p:cNvPr id="682010" name="Object 2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987675" y="4076700"/>
          <a:ext cx="3671888" cy="735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412" name="Equation" r:id="rId7" imgW="2387600" imgH="457200" progId="Equation.DSMT4">
                  <p:embed/>
                </p:oleObj>
              </mc:Choice>
              <mc:Fallback>
                <p:oleObj name="Equation" r:id="rId7" imgW="2387600" imgH="457200" progId="Equation.DSMT4">
                  <p:embed/>
                  <p:pic>
                    <p:nvPicPr>
                      <p:cNvPr id="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076700"/>
                        <a:ext cx="3671888" cy="735013"/>
                      </a:xfrm>
                      <a:prstGeom prst="rect">
                        <a:avLst/>
                      </a:prstGeom>
                      <a:solidFill>
                        <a:srgbClr val="CCFFFF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6" name="AutoShape 29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58377" name="Rectangle 30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58378" name="AutoShape 31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58379" name="Rectangle 32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8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8198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8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8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8198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8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8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8198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819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819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819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8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8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68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68198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8" presetClass="entr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68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8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8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68198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3" dur="500"/>
                                        <p:tgtEl>
                                          <p:spTgt spid="6820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6820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820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820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5" dur="500"/>
                                        <p:tgtEl>
                                          <p:spTgt spid="682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2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6820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6820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6820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2002" grpId="0" autoUpdateAnimBg="0"/>
      <p:bldP spid="682009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42988" y="620713"/>
            <a:ext cx="7219950" cy="615950"/>
          </a:xfrm>
        </p:spPr>
        <p:txBody>
          <a:bodyPr/>
          <a:lstStyle/>
          <a:p>
            <a:pPr eaLnBrk="1" hangingPunct="1"/>
            <a:r>
              <a:rPr lang="en-US" altLang="zh-CN" sz="2800" smtClean="0"/>
              <a:t>3.4.2  </a:t>
            </a:r>
            <a:r>
              <a:rPr lang="zh-CN" altLang="en-US" sz="2800" smtClean="0"/>
              <a:t>基</a:t>
            </a:r>
            <a:r>
              <a:rPr lang="en-US" altLang="zh-CN" sz="2800" smtClean="0"/>
              <a:t>2 </a:t>
            </a:r>
            <a:r>
              <a:rPr lang="en-US" altLang="zh-CN" sz="2800" smtClean="0">
                <a:latin typeface="Arial Black" panose="020B0A04020102020204" pitchFamily="34" charset="0"/>
              </a:rPr>
              <a:t>DIT-FFT </a:t>
            </a:r>
            <a:r>
              <a:rPr lang="zh-CN" altLang="en-US" sz="2800" smtClean="0"/>
              <a:t>算法</a:t>
            </a:r>
          </a:p>
        </p:txBody>
      </p:sp>
      <p:sp>
        <p:nvSpPr>
          <p:cNvPr id="64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341438"/>
            <a:ext cx="8135938" cy="4824412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en-US" altLang="zh-CN" b="1" smtClean="0"/>
              <a:t>   </a:t>
            </a:r>
            <a:r>
              <a:rPr lang="zh-CN" altLang="en-US" smtClean="0"/>
              <a:t>基</a:t>
            </a:r>
            <a:r>
              <a:rPr lang="en-US" altLang="zh-CN" smtClean="0"/>
              <a:t>2FFT</a:t>
            </a:r>
            <a:r>
              <a:rPr lang="zh-CN" altLang="en-US" smtClean="0"/>
              <a:t>要求</a:t>
            </a:r>
            <a:r>
              <a:rPr lang="en-US" altLang="zh-CN" smtClean="0"/>
              <a:t>DFT</a:t>
            </a:r>
            <a:r>
              <a:rPr lang="zh-CN" altLang="en-US" smtClean="0"/>
              <a:t>变换区间长度</a:t>
            </a:r>
            <a:r>
              <a:rPr lang="en-US" altLang="zh-CN" smtClean="0"/>
              <a:t>N=2</a:t>
            </a:r>
            <a:r>
              <a:rPr lang="en-US" altLang="zh-CN" baseline="30000" smtClean="0"/>
              <a:t>M</a:t>
            </a:r>
            <a:r>
              <a:rPr lang="zh-CN" altLang="en-US" smtClean="0"/>
              <a:t>，</a:t>
            </a:r>
            <a:r>
              <a:rPr lang="en-US" altLang="zh-CN" smtClean="0"/>
              <a:t>M</a:t>
            </a:r>
            <a:r>
              <a:rPr lang="zh-CN" altLang="en-US" smtClean="0"/>
              <a:t>为自然数。 </a:t>
            </a:r>
          </a:p>
          <a:p>
            <a:pPr marL="457200" indent="-457200" eaLnBrk="1" hangingPunct="1">
              <a:buFontTx/>
              <a:buNone/>
            </a:pPr>
            <a:endParaRPr lang="en-US" altLang="zh-CN" smtClean="0"/>
          </a:p>
          <a:p>
            <a:pPr marL="457200" indent="-457200" eaLnBrk="1" hangingPunct="1">
              <a:buFontTx/>
              <a:buAutoNum type="arabicPeriod"/>
            </a:pPr>
            <a:r>
              <a:rPr lang="en-US" altLang="zh-CN" smtClean="0"/>
              <a:t>DIT-FFT</a:t>
            </a:r>
            <a:r>
              <a:rPr lang="zh-CN" altLang="en-US" smtClean="0"/>
              <a:t>算法</a:t>
            </a:r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  序列</a:t>
            </a:r>
            <a:r>
              <a:rPr lang="en-US" altLang="zh-CN" smtClean="0"/>
              <a:t>x(n)</a:t>
            </a:r>
            <a:r>
              <a:rPr lang="zh-CN" altLang="en-US" smtClean="0"/>
              <a:t>的</a:t>
            </a:r>
            <a:r>
              <a:rPr lang="en-US" altLang="zh-CN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为</a:t>
            </a:r>
          </a:p>
          <a:p>
            <a:pPr marL="457200" indent="-457200" eaLnBrk="1" hangingPunct="1">
              <a:buFontTx/>
              <a:buNone/>
            </a:pPr>
            <a:endParaRPr lang="zh-CN" altLang="en-US" smtClean="0"/>
          </a:p>
          <a:p>
            <a:pPr marL="457200" indent="-457200" eaLnBrk="1" hangingPunct="1">
              <a:buFontTx/>
              <a:buNone/>
            </a:pPr>
            <a:endParaRPr lang="zh-CN" altLang="en-US" smtClean="0"/>
          </a:p>
          <a:p>
            <a:pPr marL="457200" indent="-457200" eaLnBrk="1" hangingPunct="1">
              <a:buFontTx/>
              <a:buNone/>
            </a:pPr>
            <a:r>
              <a:rPr lang="zh-CN" altLang="en-US" smtClean="0"/>
              <a:t>  将上面的和式按</a:t>
            </a:r>
            <a:r>
              <a:rPr lang="en-US" altLang="zh-CN" smtClean="0"/>
              <a:t>n</a:t>
            </a:r>
            <a:r>
              <a:rPr lang="zh-CN" altLang="en-US" smtClean="0"/>
              <a:t>的奇偶性分解为 </a:t>
            </a:r>
            <a:endParaRPr lang="en-US" altLang="zh-CN" smtClean="0"/>
          </a:p>
        </p:txBody>
      </p:sp>
      <p:graphicFrame>
        <p:nvGraphicFramePr>
          <p:cNvPr id="643076" name="Object 4"/>
          <p:cNvGraphicFramePr>
            <a:graphicFrameLocks noChangeAspect="1"/>
          </p:cNvGraphicFramePr>
          <p:nvPr/>
        </p:nvGraphicFramePr>
        <p:xfrm>
          <a:off x="1258888" y="3068638"/>
          <a:ext cx="6553200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2" r:id="rId3" imgW="3289300" imgH="419100" progId="Equation.DSMT4">
                  <p:embed/>
                </p:oleObj>
              </mc:Choice>
              <mc:Fallback>
                <p:oleObj r:id="rId3" imgW="3289300" imgH="419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068638"/>
                        <a:ext cx="6553200" cy="935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3080" name="Object 8"/>
          <p:cNvGraphicFramePr>
            <a:graphicFrameLocks noChangeAspect="1"/>
          </p:cNvGraphicFramePr>
          <p:nvPr/>
        </p:nvGraphicFramePr>
        <p:xfrm>
          <a:off x="1835150" y="4437063"/>
          <a:ext cx="5184775" cy="165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3" r:id="rId5" imgW="2476500" imgH="762000" progId="Equation.DSMT4">
                  <p:embed/>
                </p:oleObj>
              </mc:Choice>
              <mc:Fallback>
                <p:oleObj r:id="rId5" imgW="2476500" imgH="7620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4437063"/>
                        <a:ext cx="5184775" cy="1655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9398" name="AutoShape 9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59399" name="Rectangle 10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59400" name="AutoShape 11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59401" name="Rectangle 12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4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4307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64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4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4307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64308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6430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6430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9750" y="1196975"/>
            <a:ext cx="7920038" cy="396081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令</a:t>
            </a:r>
            <a:r>
              <a:rPr lang="en-US" altLang="zh-CN" smtClean="0"/>
              <a:t>x</a:t>
            </a:r>
            <a:r>
              <a:rPr lang="en-US" altLang="zh-CN" baseline="-25000" smtClean="0"/>
              <a:t>1</a:t>
            </a:r>
            <a:r>
              <a:rPr lang="en-US" altLang="zh-CN" smtClean="0"/>
              <a:t>(l)=x(2l),x</a:t>
            </a:r>
            <a:r>
              <a:rPr lang="en-US" altLang="zh-CN" baseline="-25000" smtClean="0"/>
              <a:t>2</a:t>
            </a:r>
            <a:r>
              <a:rPr lang="en-US" altLang="zh-CN" smtClean="0"/>
              <a:t>(l)=x(2l+1)</a:t>
            </a:r>
            <a:r>
              <a:rPr lang="zh-CN" altLang="en-US" smtClean="0"/>
              <a:t>，因为        ，所以上式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可写成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>
                <a:solidFill>
                  <a:srgbClr val="CC3300"/>
                </a:solidFill>
              </a:rPr>
              <a:t>上式说明，按</a:t>
            </a:r>
            <a:r>
              <a:rPr lang="en-US" altLang="zh-CN" smtClean="0">
                <a:solidFill>
                  <a:srgbClr val="CC3300"/>
                </a:solidFill>
              </a:rPr>
              <a:t>n</a:t>
            </a:r>
            <a:r>
              <a:rPr lang="zh-CN" altLang="en-US" smtClean="0">
                <a:solidFill>
                  <a:srgbClr val="CC3300"/>
                </a:solidFill>
              </a:rPr>
              <a:t>的奇偶性将</a:t>
            </a:r>
            <a:r>
              <a:rPr lang="en-US" altLang="zh-CN" smtClean="0">
                <a:solidFill>
                  <a:srgbClr val="CC3300"/>
                </a:solidFill>
              </a:rPr>
              <a:t>x(n)</a:t>
            </a:r>
            <a:r>
              <a:rPr lang="zh-CN" altLang="en-US" smtClean="0">
                <a:solidFill>
                  <a:srgbClr val="CC3300"/>
                </a:solidFill>
              </a:rPr>
              <a:t>分解为两个</a:t>
            </a:r>
            <a:r>
              <a:rPr lang="en-US" altLang="zh-CN" smtClean="0">
                <a:solidFill>
                  <a:srgbClr val="CC3300"/>
                </a:solidFill>
              </a:rPr>
              <a:t>N/2</a:t>
            </a:r>
            <a:r>
              <a:rPr lang="zh-CN" altLang="en-US" smtClean="0">
                <a:solidFill>
                  <a:srgbClr val="CC3300"/>
                </a:solidFill>
              </a:rPr>
              <a:t>长的序列</a:t>
            </a:r>
          </a:p>
          <a:p>
            <a:pPr eaLnBrk="1" hangingPunct="1">
              <a:buFontTx/>
              <a:buNone/>
            </a:pPr>
            <a:r>
              <a:rPr lang="en-US" altLang="zh-CN" smtClean="0">
                <a:solidFill>
                  <a:srgbClr val="CC3300"/>
                </a:solidFill>
              </a:rPr>
              <a:t>x</a:t>
            </a:r>
            <a:r>
              <a:rPr lang="en-US" altLang="zh-CN" baseline="-25000" smtClean="0">
                <a:solidFill>
                  <a:srgbClr val="CC3300"/>
                </a:solidFill>
              </a:rPr>
              <a:t>1</a:t>
            </a:r>
            <a:r>
              <a:rPr lang="en-US" altLang="zh-CN" smtClean="0">
                <a:solidFill>
                  <a:srgbClr val="CC3300"/>
                </a:solidFill>
              </a:rPr>
              <a:t>(l)</a:t>
            </a:r>
            <a:r>
              <a:rPr lang="zh-CN" altLang="en-US" smtClean="0">
                <a:solidFill>
                  <a:srgbClr val="CC3300"/>
                </a:solidFill>
              </a:rPr>
              <a:t>和</a:t>
            </a:r>
            <a:r>
              <a:rPr lang="en-US" altLang="zh-CN" smtClean="0">
                <a:solidFill>
                  <a:srgbClr val="CC3300"/>
                </a:solidFill>
              </a:rPr>
              <a:t>x</a:t>
            </a:r>
            <a:r>
              <a:rPr lang="en-US" altLang="zh-CN" baseline="-25000" smtClean="0">
                <a:solidFill>
                  <a:srgbClr val="CC3300"/>
                </a:solidFill>
              </a:rPr>
              <a:t>2</a:t>
            </a:r>
            <a:r>
              <a:rPr lang="en-US" altLang="zh-CN" smtClean="0">
                <a:solidFill>
                  <a:srgbClr val="CC3300"/>
                </a:solidFill>
              </a:rPr>
              <a:t>(l)</a:t>
            </a:r>
            <a:r>
              <a:rPr lang="zh-CN" altLang="en-US" smtClean="0">
                <a:solidFill>
                  <a:srgbClr val="CC3300"/>
                </a:solidFill>
              </a:rPr>
              <a:t>，则</a:t>
            </a:r>
            <a:r>
              <a:rPr lang="en-US" altLang="zh-CN" smtClean="0">
                <a:solidFill>
                  <a:srgbClr val="CC3300"/>
                </a:solidFill>
              </a:rPr>
              <a:t>N</a:t>
            </a:r>
            <a:r>
              <a:rPr lang="zh-CN" altLang="en-US" smtClean="0">
                <a:solidFill>
                  <a:srgbClr val="CC3300"/>
                </a:solidFill>
              </a:rPr>
              <a:t>点</a:t>
            </a:r>
            <a:r>
              <a:rPr lang="en-US" altLang="zh-CN" smtClean="0">
                <a:solidFill>
                  <a:srgbClr val="CC3300"/>
                </a:solidFill>
              </a:rPr>
              <a:t>DFT</a:t>
            </a:r>
            <a:r>
              <a:rPr lang="zh-CN" altLang="en-US" smtClean="0">
                <a:solidFill>
                  <a:srgbClr val="CC3300"/>
                </a:solidFill>
              </a:rPr>
              <a:t>可分解为两个</a:t>
            </a:r>
            <a:r>
              <a:rPr lang="en-US" altLang="zh-CN" smtClean="0">
                <a:solidFill>
                  <a:srgbClr val="CC3300"/>
                </a:solidFill>
              </a:rPr>
              <a:t>N/2</a:t>
            </a:r>
            <a:r>
              <a:rPr lang="zh-CN" altLang="en-US" smtClean="0">
                <a:solidFill>
                  <a:srgbClr val="CC3300"/>
                </a:solidFill>
              </a:rPr>
              <a:t>点</a:t>
            </a:r>
            <a:r>
              <a:rPr lang="en-US" altLang="zh-CN" smtClean="0">
                <a:solidFill>
                  <a:srgbClr val="CC3300"/>
                </a:solidFill>
              </a:rPr>
              <a:t>DFT</a:t>
            </a:r>
            <a:r>
              <a:rPr lang="zh-CN" altLang="en-US" smtClean="0">
                <a:solidFill>
                  <a:srgbClr val="CC3300"/>
                </a:solidFill>
              </a:rPr>
              <a:t>来计算。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用</a:t>
            </a:r>
            <a:r>
              <a:rPr lang="en-US" altLang="zh-CN" smtClean="0"/>
              <a:t>X</a:t>
            </a:r>
            <a:r>
              <a:rPr lang="en-US" altLang="zh-CN" baseline="-25000" smtClean="0"/>
              <a:t>1</a:t>
            </a:r>
            <a:r>
              <a:rPr lang="en-US" altLang="zh-CN" smtClean="0"/>
              <a:t>(k)</a:t>
            </a:r>
            <a:r>
              <a:rPr lang="zh-CN" altLang="en-US" smtClean="0"/>
              <a:t>和</a:t>
            </a:r>
            <a:r>
              <a:rPr lang="en-US" altLang="zh-CN" smtClean="0"/>
              <a:t>X</a:t>
            </a:r>
            <a:r>
              <a:rPr lang="en-US" altLang="zh-CN" baseline="-25000" smtClean="0"/>
              <a:t>2</a:t>
            </a:r>
            <a:r>
              <a:rPr lang="en-US" altLang="zh-CN" smtClean="0"/>
              <a:t>(k)</a:t>
            </a:r>
            <a:r>
              <a:rPr lang="zh-CN" altLang="en-US" smtClean="0"/>
              <a:t>分别表示</a:t>
            </a:r>
            <a:r>
              <a:rPr lang="en-US" altLang="zh-CN" smtClean="0"/>
              <a:t>x</a:t>
            </a:r>
            <a:r>
              <a:rPr lang="en-US" altLang="zh-CN" baseline="-25000" smtClean="0"/>
              <a:t>1</a:t>
            </a:r>
            <a:r>
              <a:rPr lang="en-US" altLang="zh-CN" smtClean="0"/>
              <a:t>(l)</a:t>
            </a:r>
            <a:r>
              <a:rPr lang="zh-CN" altLang="en-US" smtClean="0"/>
              <a:t>和</a:t>
            </a:r>
            <a:r>
              <a:rPr lang="en-US" altLang="zh-CN" smtClean="0"/>
              <a:t>x</a:t>
            </a:r>
            <a:r>
              <a:rPr lang="en-US" altLang="zh-CN" baseline="-25000" smtClean="0"/>
              <a:t>2</a:t>
            </a:r>
            <a:r>
              <a:rPr lang="en-US" altLang="zh-CN" smtClean="0"/>
              <a:t>(l)</a:t>
            </a:r>
            <a:r>
              <a:rPr lang="zh-CN" altLang="en-US" smtClean="0"/>
              <a:t>的</a:t>
            </a:r>
            <a:r>
              <a:rPr lang="en-US" altLang="zh-CN" smtClean="0"/>
              <a:t>N/2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，即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  </a:t>
            </a:r>
          </a:p>
        </p:txBody>
      </p:sp>
      <p:sp>
        <p:nvSpPr>
          <p:cNvPr id="60419" name="Rectangle 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44102" name="Object 6"/>
          <p:cNvGraphicFramePr>
            <a:graphicFrameLocks noChangeAspect="1"/>
          </p:cNvGraphicFramePr>
          <p:nvPr/>
        </p:nvGraphicFramePr>
        <p:xfrm>
          <a:off x="5580063" y="1196975"/>
          <a:ext cx="1295400" cy="407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0" r:id="rId3" imgW="698197" imgH="215806" progId="Equation.DSMT4">
                  <p:embed/>
                </p:oleObj>
              </mc:Choice>
              <mc:Fallback>
                <p:oleObj r:id="rId3" imgW="698197" imgH="215806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1196975"/>
                        <a:ext cx="1295400" cy="407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410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268276972"/>
              </p:ext>
            </p:extLst>
          </p:nvPr>
        </p:nvGraphicFramePr>
        <p:xfrm>
          <a:off x="684213" y="2073275"/>
          <a:ext cx="6840537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1" name="Equation" r:id="rId5" imgW="3733560" imgH="419040" progId="Equation.DSMT4">
                  <p:embed/>
                </p:oleObj>
              </mc:Choice>
              <mc:Fallback>
                <p:oleObj name="Equation" r:id="rId5" imgW="3733560" imgH="41904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073275"/>
                        <a:ext cx="6840537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0422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44106" name="Object 10"/>
          <p:cNvGraphicFramePr>
            <a:graphicFrameLocks noChangeAspect="1"/>
          </p:cNvGraphicFramePr>
          <p:nvPr/>
        </p:nvGraphicFramePr>
        <p:xfrm>
          <a:off x="684213" y="4724400"/>
          <a:ext cx="6697662" cy="857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0462" r:id="rId7" imgW="3390900" imgH="419100" progId="Equation.DSMT4">
                  <p:embed/>
                </p:oleObj>
              </mc:Choice>
              <mc:Fallback>
                <p:oleObj r:id="rId7" imgW="3390900" imgH="4191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4724400"/>
                        <a:ext cx="6697662" cy="857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4108" name="Text Box 12"/>
          <p:cNvSpPr txBox="1">
            <a:spLocks noChangeArrowheads="1"/>
          </p:cNvSpPr>
          <p:nvPr/>
        </p:nvSpPr>
        <p:spPr bwMode="auto">
          <a:xfrm>
            <a:off x="7524750" y="2205038"/>
            <a:ext cx="106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(3.4.4)</a:t>
            </a:r>
          </a:p>
        </p:txBody>
      </p:sp>
      <p:sp>
        <p:nvSpPr>
          <p:cNvPr id="644109" name="Text Box 13"/>
          <p:cNvSpPr txBox="1">
            <a:spLocks noChangeArrowheads="1"/>
          </p:cNvSpPr>
          <p:nvPr/>
        </p:nvSpPr>
        <p:spPr bwMode="auto">
          <a:xfrm>
            <a:off x="7524750" y="4868863"/>
            <a:ext cx="106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(3.4.5)</a:t>
            </a:r>
          </a:p>
        </p:txBody>
      </p:sp>
      <p:sp>
        <p:nvSpPr>
          <p:cNvPr id="60426" name="AutoShape 16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60427" name="Rectangle 17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60428" name="AutoShape 18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60429" name="Rectangle 19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4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440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4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440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44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44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441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441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44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44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0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0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4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64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4409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64410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644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644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4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644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644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44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4108" grpId="0"/>
      <p:bldP spid="644109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341438"/>
            <a:ext cx="7920037" cy="4267200"/>
          </a:xfrm>
        </p:spPr>
        <p:txBody>
          <a:bodyPr/>
          <a:lstStyle/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将式</a:t>
            </a:r>
            <a:r>
              <a:rPr lang="en-US" altLang="zh-CN" smtClean="0"/>
              <a:t>(3.4.5)</a:t>
            </a:r>
            <a:r>
              <a:rPr lang="zh-CN" altLang="en-US" smtClean="0"/>
              <a:t>和式</a:t>
            </a:r>
            <a:r>
              <a:rPr lang="en-US" altLang="zh-CN" smtClean="0"/>
              <a:t>(3.4.6)</a:t>
            </a:r>
            <a:r>
              <a:rPr lang="zh-CN" altLang="en-US" smtClean="0"/>
              <a:t>代入式</a:t>
            </a:r>
            <a:r>
              <a:rPr lang="en-US" altLang="zh-CN" smtClean="0"/>
              <a:t>(3.4.4)</a:t>
            </a:r>
            <a:r>
              <a:rPr lang="zh-CN" altLang="en-US" smtClean="0"/>
              <a:t>，并利用</a:t>
            </a:r>
          </a:p>
          <a:p>
            <a:pPr eaLnBrk="1" hangingPunct="1">
              <a:buFontTx/>
              <a:buNone/>
            </a:pPr>
            <a:r>
              <a:rPr lang="en-US" altLang="zh-CN" i="1" smtClean="0"/>
              <a:t>X</a:t>
            </a:r>
            <a:r>
              <a:rPr lang="en-US" altLang="zh-CN" baseline="-25000" smtClean="0"/>
              <a:t>1</a:t>
            </a:r>
            <a:r>
              <a:rPr lang="en-US" altLang="zh-CN" smtClean="0"/>
              <a:t>(</a:t>
            </a:r>
            <a:r>
              <a:rPr lang="en-US" altLang="zh-CN" i="1" smtClean="0"/>
              <a:t>k</a:t>
            </a:r>
            <a:r>
              <a:rPr lang="en-US" altLang="zh-CN" smtClean="0"/>
              <a:t>)</a:t>
            </a:r>
            <a:r>
              <a:rPr lang="zh-CN" altLang="en-US" smtClean="0"/>
              <a:t>、</a:t>
            </a:r>
            <a:r>
              <a:rPr lang="en-US" altLang="zh-CN" i="1" smtClean="0"/>
              <a:t>X</a:t>
            </a:r>
            <a:r>
              <a:rPr lang="en-US" altLang="zh-CN" baseline="-25000" smtClean="0"/>
              <a:t>2</a:t>
            </a:r>
            <a:r>
              <a:rPr lang="en-US" altLang="zh-CN" smtClean="0"/>
              <a:t>(</a:t>
            </a:r>
            <a:r>
              <a:rPr lang="en-US" altLang="zh-CN" i="1" smtClean="0"/>
              <a:t>k</a:t>
            </a:r>
            <a:r>
              <a:rPr lang="en-US" altLang="zh-CN" smtClean="0"/>
              <a:t>)</a:t>
            </a:r>
            <a:r>
              <a:rPr lang="zh-CN" altLang="en-US" smtClean="0"/>
              <a:t>的隐含周期性可得到 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这样，就将</a:t>
            </a:r>
            <a:r>
              <a:rPr lang="en-US" altLang="zh-CN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的计算分解为计算两个</a:t>
            </a:r>
            <a:r>
              <a:rPr lang="en-US" altLang="zh-CN" smtClean="0"/>
              <a:t>N/2</a:t>
            </a:r>
            <a:r>
              <a:rPr lang="zh-CN" altLang="en-US" smtClean="0"/>
              <a:t>点离散傅里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叶变换</a:t>
            </a:r>
            <a:r>
              <a:rPr lang="en-US" altLang="zh-CN" smtClean="0"/>
              <a:t>X</a:t>
            </a:r>
            <a:r>
              <a:rPr lang="en-US" altLang="zh-CN" baseline="-25000" smtClean="0"/>
              <a:t>1</a:t>
            </a:r>
            <a:r>
              <a:rPr lang="en-US" altLang="zh-CN" smtClean="0"/>
              <a:t>(k)</a:t>
            </a:r>
            <a:r>
              <a:rPr lang="zh-CN" altLang="en-US" smtClean="0"/>
              <a:t>和</a:t>
            </a:r>
            <a:r>
              <a:rPr lang="en-US" altLang="zh-CN" smtClean="0"/>
              <a:t>X</a:t>
            </a:r>
            <a:r>
              <a:rPr lang="en-US" altLang="zh-CN" baseline="-25000" smtClean="0"/>
              <a:t>2</a:t>
            </a:r>
            <a:r>
              <a:rPr lang="en-US" altLang="zh-CN" smtClean="0"/>
              <a:t>(k)</a:t>
            </a:r>
            <a:r>
              <a:rPr lang="zh-CN" altLang="en-US" smtClean="0"/>
              <a:t>，再计算式</a:t>
            </a:r>
            <a:r>
              <a:rPr lang="en-US" altLang="zh-CN" smtClean="0"/>
              <a:t>(3.4.7)</a:t>
            </a:r>
            <a:r>
              <a:rPr lang="zh-CN" altLang="en-US" smtClean="0"/>
              <a:t>。</a:t>
            </a:r>
          </a:p>
        </p:txBody>
      </p:sp>
      <p:graphicFrame>
        <p:nvGraphicFramePr>
          <p:cNvPr id="645124" name="Object 4"/>
          <p:cNvGraphicFramePr>
            <a:graphicFrameLocks noChangeAspect="1"/>
          </p:cNvGraphicFramePr>
          <p:nvPr/>
        </p:nvGraphicFramePr>
        <p:xfrm>
          <a:off x="971550" y="1341438"/>
          <a:ext cx="6408738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3" r:id="rId3" imgW="3429000" imgH="419100" progId="Equation.DSMT4">
                  <p:embed/>
                </p:oleObj>
              </mc:Choice>
              <mc:Fallback>
                <p:oleObj r:id="rId3" imgW="3429000" imgH="419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1341438"/>
                        <a:ext cx="6408738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126" name="Object 6"/>
          <p:cNvGraphicFramePr>
            <a:graphicFrameLocks noChangeAspect="1"/>
          </p:cNvGraphicFramePr>
          <p:nvPr/>
        </p:nvGraphicFramePr>
        <p:xfrm>
          <a:off x="1187450" y="3213100"/>
          <a:ext cx="5472113" cy="1223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4" r:id="rId5" imgW="3009900" imgH="635000" progId="Equation.DSMT4">
                  <p:embed/>
                </p:oleObj>
              </mc:Choice>
              <mc:Fallback>
                <p:oleObj r:id="rId5" imgW="3009900" imgH="6350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450" y="3213100"/>
                        <a:ext cx="5472113" cy="1223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128" name="Text Box 8"/>
          <p:cNvSpPr txBox="1">
            <a:spLocks noChangeArrowheads="1"/>
          </p:cNvSpPr>
          <p:nvPr/>
        </p:nvSpPr>
        <p:spPr bwMode="auto">
          <a:xfrm>
            <a:off x="7524750" y="1484313"/>
            <a:ext cx="106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(3.4.6)</a:t>
            </a:r>
          </a:p>
        </p:txBody>
      </p:sp>
      <p:sp>
        <p:nvSpPr>
          <p:cNvPr id="645129" name="Text Box 9"/>
          <p:cNvSpPr txBox="1">
            <a:spLocks noChangeArrowheads="1"/>
          </p:cNvSpPr>
          <p:nvPr/>
        </p:nvSpPr>
        <p:spPr bwMode="auto">
          <a:xfrm>
            <a:off x="7524750" y="3573463"/>
            <a:ext cx="106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(3.4.7)</a:t>
            </a:r>
          </a:p>
        </p:txBody>
      </p:sp>
      <p:sp>
        <p:nvSpPr>
          <p:cNvPr id="61447" name="Rectangle 11"/>
          <p:cNvSpPr>
            <a:spLocks noChangeArrowheads="1"/>
          </p:cNvSpPr>
          <p:nvPr/>
        </p:nvSpPr>
        <p:spPr bwMode="auto">
          <a:xfrm>
            <a:off x="0" y="32718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45130" name="Object 10"/>
          <p:cNvGraphicFramePr>
            <a:graphicFrameLocks noChangeAspect="1"/>
          </p:cNvGraphicFramePr>
          <p:nvPr/>
        </p:nvGraphicFramePr>
        <p:xfrm>
          <a:off x="7235825" y="2132013"/>
          <a:ext cx="1368425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485" r:id="rId7" imgW="748975" imgH="317362" progId="Equation.DSMT4">
                  <p:embed/>
                </p:oleObj>
              </mc:Choice>
              <mc:Fallback>
                <p:oleObj r:id="rId7" imgW="748975" imgH="317362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5825" y="2132013"/>
                        <a:ext cx="1368425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9" name="AutoShape 14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61450" name="Rectangle 15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61451" name="AutoShape 16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61452" name="Rectangle 17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451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451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451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451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451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451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6451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451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45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45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645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4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4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64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451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4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4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4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451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28" grpId="0"/>
      <p:bldP spid="645129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765175"/>
            <a:ext cx="7775575" cy="554355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蝶形图 </a:t>
            </a:r>
            <a:endParaRPr lang="en-US" altLang="zh-CN" smtClean="0"/>
          </a:p>
        </p:txBody>
      </p:sp>
      <p:pic>
        <p:nvPicPr>
          <p:cNvPr id="62467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575" y="1052513"/>
            <a:ext cx="2089150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8" name="Text Box 5"/>
          <p:cNvSpPr txBox="1">
            <a:spLocks noChangeArrowheads="1"/>
          </p:cNvSpPr>
          <p:nvPr/>
        </p:nvSpPr>
        <p:spPr bwMode="auto">
          <a:xfrm>
            <a:off x="3132138" y="1916113"/>
            <a:ext cx="2314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latin typeface="Arial" panose="020B0604020202020204" pitchFamily="34" charset="0"/>
              </a:rPr>
              <a:t>蝶形图及运算功能</a:t>
            </a:r>
            <a:r>
              <a:rPr lang="zh-CN" altLang="en-US" sz="28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683015" name="Text Box 7"/>
          <p:cNvSpPr txBox="1">
            <a:spLocks noChangeArrowheads="1"/>
          </p:cNvSpPr>
          <p:nvPr/>
        </p:nvSpPr>
        <p:spPr bwMode="auto">
          <a:xfrm>
            <a:off x="2484438" y="5589588"/>
            <a:ext cx="42211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8</a:t>
            </a:r>
            <a:r>
              <a:rPr lang="zh-CN" altLang="en-US" sz="2000">
                <a:latin typeface="Arial" panose="020B0604020202020204" pitchFamily="34" charset="0"/>
              </a:rPr>
              <a:t>点</a:t>
            </a:r>
            <a:r>
              <a:rPr lang="en-US" altLang="zh-CN" sz="2000">
                <a:latin typeface="Arial" panose="020B0604020202020204" pitchFamily="34" charset="0"/>
              </a:rPr>
              <a:t>DFT</a:t>
            </a:r>
            <a:r>
              <a:rPr lang="zh-CN" altLang="en-US" sz="2000">
                <a:latin typeface="Arial" panose="020B0604020202020204" pitchFamily="34" charset="0"/>
              </a:rPr>
              <a:t>一次时域抽取分解运算流图</a:t>
            </a:r>
            <a:r>
              <a:rPr lang="zh-CN" altLang="en-US" sz="28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83018" name="Picture 1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420938"/>
            <a:ext cx="5572125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3019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713" y="2420938"/>
            <a:ext cx="5572125" cy="324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72" name="AutoShape 12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62473" name="Rectangle 13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62474" name="AutoShape 14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62475" name="Rectangle 15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83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3015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ext Box 5"/>
          <p:cNvSpPr txBox="1">
            <a:spLocks noChangeArrowheads="1"/>
          </p:cNvSpPr>
          <p:nvPr/>
        </p:nvSpPr>
        <p:spPr bwMode="auto">
          <a:xfrm>
            <a:off x="2843213" y="5084763"/>
            <a:ext cx="26543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8</a:t>
            </a:r>
            <a:r>
              <a:rPr lang="zh-CN" altLang="en-US" sz="2000">
                <a:latin typeface="Arial" panose="020B0604020202020204" pitchFamily="34" charset="0"/>
              </a:rPr>
              <a:t>点</a:t>
            </a:r>
            <a:r>
              <a:rPr lang="en-US" altLang="zh-CN" sz="2000">
                <a:latin typeface="Arial" panose="020B0604020202020204" pitchFamily="34" charset="0"/>
              </a:rPr>
              <a:t>DIT-FFT</a:t>
            </a:r>
            <a:r>
              <a:rPr lang="zh-CN" altLang="en-US" sz="2000">
                <a:latin typeface="Arial" panose="020B0604020202020204" pitchFamily="34" charset="0"/>
              </a:rPr>
              <a:t>运算流图</a:t>
            </a:r>
            <a:r>
              <a:rPr lang="zh-CN" altLang="en-US" sz="28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pic>
        <p:nvPicPr>
          <p:cNvPr id="684044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268413"/>
            <a:ext cx="8266112" cy="376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4045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268413"/>
            <a:ext cx="8266112" cy="376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4046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313" y="1268413"/>
            <a:ext cx="8266112" cy="376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84047" name="Picture 1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" y="1268413"/>
            <a:ext cx="8266113" cy="3762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495" name="AutoShape 16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63496" name="Rectangle 17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63497" name="AutoShape 18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63498" name="Rectangle 19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7088" y="836613"/>
            <a:ext cx="7705725" cy="4267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mtClean="0"/>
              <a:t>2. DIT-FFT</a:t>
            </a:r>
            <a:r>
              <a:rPr lang="zh-CN" altLang="en-US" smtClean="0"/>
              <a:t>的运算效率 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  </a:t>
            </a:r>
          </a:p>
        </p:txBody>
      </p:sp>
      <p:pic>
        <p:nvPicPr>
          <p:cNvPr id="685060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484313"/>
            <a:ext cx="4968875" cy="3311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85061" name="Text Box 5"/>
          <p:cNvSpPr txBox="1">
            <a:spLocks noChangeArrowheads="1"/>
          </p:cNvSpPr>
          <p:nvPr/>
        </p:nvSpPr>
        <p:spPr bwMode="auto">
          <a:xfrm>
            <a:off x="2339975" y="4941888"/>
            <a:ext cx="42481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>
                <a:solidFill>
                  <a:schemeClr val="tx1"/>
                </a:solidFill>
                <a:latin typeface="Arial" panose="020B0604020202020204" pitchFamily="34" charset="0"/>
              </a:rPr>
              <a:t>  </a:t>
            </a:r>
            <a:r>
              <a:rPr lang="en-US" altLang="zh-CN" sz="1800">
                <a:latin typeface="Arial" panose="020B0604020202020204" pitchFamily="34" charset="0"/>
              </a:rPr>
              <a:t>DIT-FFT</a:t>
            </a:r>
            <a:r>
              <a:rPr lang="zh-CN" altLang="en-US" sz="1800">
                <a:latin typeface="Arial" panose="020B0604020202020204" pitchFamily="34" charset="0"/>
              </a:rPr>
              <a:t>与</a:t>
            </a:r>
            <a:r>
              <a:rPr lang="en-US" altLang="zh-CN" sz="1800">
                <a:latin typeface="Arial" panose="020B0604020202020204" pitchFamily="34" charset="0"/>
              </a:rPr>
              <a:t>DFT</a:t>
            </a:r>
            <a:r>
              <a:rPr lang="zh-CN" altLang="en-US" sz="1800">
                <a:latin typeface="Arial" panose="020B0604020202020204" pitchFamily="34" charset="0"/>
              </a:rPr>
              <a:t>所需乘法次数比较曲线</a:t>
            </a:r>
          </a:p>
        </p:txBody>
      </p:sp>
      <p:sp>
        <p:nvSpPr>
          <p:cNvPr id="64517" name="AutoShape 8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64518" name="Rectangle 9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64519" name="AutoShape 10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64520" name="Rectangle 11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6850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50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850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6850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5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850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850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850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850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506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1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908050"/>
            <a:ext cx="7920037" cy="568801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由</a:t>
            </a:r>
            <a:r>
              <a:rPr lang="en-US" altLang="zh-CN" smtClean="0"/>
              <a:t>8</a:t>
            </a:r>
            <a:r>
              <a:rPr lang="zh-CN" altLang="en-US" smtClean="0"/>
              <a:t>点</a:t>
            </a:r>
            <a:r>
              <a:rPr lang="en-US" altLang="zh-CN" smtClean="0"/>
              <a:t>DIT-FFT</a:t>
            </a:r>
            <a:r>
              <a:rPr lang="zh-CN" altLang="en-US" smtClean="0"/>
              <a:t>运算流图可见，</a:t>
            </a:r>
            <a:r>
              <a:rPr lang="en-US" altLang="zh-CN" smtClean="0"/>
              <a:t>N=2</a:t>
            </a:r>
            <a:r>
              <a:rPr lang="en-US" altLang="zh-CN" baseline="30000" smtClean="0"/>
              <a:t>M</a:t>
            </a:r>
            <a:r>
              <a:rPr lang="zh-CN" altLang="en-US" smtClean="0"/>
              <a:t>时，其</a:t>
            </a:r>
            <a:r>
              <a:rPr lang="en-US" altLang="zh-CN" smtClean="0"/>
              <a:t>DIT-FFT</a:t>
            </a:r>
            <a:r>
              <a:rPr lang="zh-CN" altLang="en-US" smtClean="0"/>
              <a:t>运算流图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由</a:t>
            </a:r>
            <a:r>
              <a:rPr lang="en-US" altLang="zh-CN" smtClean="0"/>
              <a:t>M</a:t>
            </a:r>
            <a:r>
              <a:rPr lang="zh-CN" altLang="en-US" smtClean="0"/>
              <a:t>级蝶形构成，每级有</a:t>
            </a:r>
            <a:r>
              <a:rPr lang="en-US" altLang="zh-CN" smtClean="0"/>
              <a:t>N/2</a:t>
            </a:r>
            <a:r>
              <a:rPr lang="zh-CN" altLang="en-US" smtClean="0"/>
              <a:t>个蝶形。因此，每级需要</a:t>
            </a:r>
            <a:r>
              <a:rPr lang="en-US" altLang="zh-CN" smtClean="0"/>
              <a:t>N/2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次复数乘法运算和</a:t>
            </a:r>
            <a:r>
              <a:rPr lang="en-US" altLang="zh-CN" smtClean="0"/>
              <a:t>N</a:t>
            </a:r>
            <a:r>
              <a:rPr lang="zh-CN" altLang="en-US" smtClean="0"/>
              <a:t>次复数加法运算，</a:t>
            </a:r>
            <a:r>
              <a:rPr lang="en-US" altLang="zh-CN" smtClean="0"/>
              <a:t>M</a:t>
            </a:r>
            <a:r>
              <a:rPr lang="zh-CN" altLang="en-US" smtClean="0"/>
              <a:t>级蝶形所需复数乘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法次数</a:t>
            </a:r>
            <a:r>
              <a:rPr lang="en-US" altLang="zh-CN" smtClean="0"/>
              <a:t>C</a:t>
            </a:r>
            <a:r>
              <a:rPr lang="en-US" altLang="zh-CN" baseline="-25000" smtClean="0"/>
              <a:t>M</a:t>
            </a:r>
            <a:r>
              <a:rPr lang="en-US" altLang="zh-CN" smtClean="0"/>
              <a:t>(2)</a:t>
            </a:r>
            <a:r>
              <a:rPr lang="zh-CN" altLang="en-US" smtClean="0"/>
              <a:t>和复数加法次数</a:t>
            </a:r>
            <a:r>
              <a:rPr lang="en-US" altLang="zh-CN" smtClean="0"/>
              <a:t>C</a:t>
            </a:r>
            <a:r>
              <a:rPr lang="en-US" altLang="zh-CN" baseline="-25000" smtClean="0"/>
              <a:t>A</a:t>
            </a:r>
            <a:r>
              <a:rPr lang="en-US" altLang="zh-CN" smtClean="0"/>
              <a:t>(2)</a:t>
            </a:r>
            <a:r>
              <a:rPr lang="zh-CN" altLang="en-US" smtClean="0"/>
              <a:t>分别为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直接计算</a:t>
            </a:r>
            <a:r>
              <a:rPr lang="en-US" altLang="zh-CN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的复数乘法次数为</a:t>
            </a:r>
            <a:r>
              <a:rPr lang="en-US" altLang="zh-CN" smtClean="0"/>
              <a:t>N</a:t>
            </a:r>
            <a:r>
              <a:rPr lang="en-US" altLang="zh-CN" baseline="30000" smtClean="0"/>
              <a:t>2</a:t>
            </a:r>
            <a:r>
              <a:rPr lang="zh-CN" altLang="en-US" smtClean="0"/>
              <a:t>，复数加法次数为</a:t>
            </a:r>
            <a:r>
              <a:rPr lang="en-US" altLang="zh-CN" smtClean="0"/>
              <a:t>(N-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1)N</a:t>
            </a:r>
            <a:r>
              <a:rPr lang="zh-CN" altLang="en-US" smtClean="0"/>
              <a:t>。当</a:t>
            </a:r>
            <a:r>
              <a:rPr lang="en-US" altLang="zh-CN" smtClean="0"/>
              <a:t>N&gt;&gt;1</a:t>
            </a:r>
            <a:r>
              <a:rPr lang="zh-CN" altLang="en-US" smtClean="0"/>
              <a:t>时，</a:t>
            </a:r>
            <a:r>
              <a:rPr lang="en-US" altLang="zh-CN" smtClean="0"/>
              <a:t>N</a:t>
            </a:r>
            <a:r>
              <a:rPr lang="en-US" altLang="zh-CN" baseline="30000" smtClean="0"/>
              <a:t>2</a:t>
            </a:r>
            <a:r>
              <a:rPr lang="en-US" altLang="zh-CN" smtClean="0"/>
              <a:t>/C</a:t>
            </a:r>
            <a:r>
              <a:rPr lang="en-US" altLang="zh-CN" baseline="-25000" smtClean="0"/>
              <a:t>M</a:t>
            </a:r>
            <a:r>
              <a:rPr lang="en-US" altLang="zh-CN" smtClean="0"/>
              <a:t>(2) &gt;&gt;1</a:t>
            </a:r>
            <a:r>
              <a:rPr lang="zh-CN" altLang="en-US" smtClean="0"/>
              <a:t>，所以</a:t>
            </a:r>
            <a:r>
              <a:rPr lang="en-US" altLang="zh-CN" smtClean="0"/>
              <a:t>N</a:t>
            </a:r>
            <a:r>
              <a:rPr lang="zh-CN" altLang="en-US" smtClean="0"/>
              <a:t>越大，</a:t>
            </a:r>
            <a:r>
              <a:rPr lang="en-US" altLang="zh-CN" smtClean="0"/>
              <a:t>DIT-FFT</a:t>
            </a:r>
            <a:r>
              <a:rPr lang="zh-CN" altLang="en-US" smtClean="0"/>
              <a:t>运算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效率越高。</a:t>
            </a:r>
            <a:r>
              <a:rPr lang="en-US" altLang="zh-CN" smtClean="0"/>
              <a:t>DIT-FFT</a:t>
            </a:r>
            <a:r>
              <a:rPr lang="zh-CN" altLang="en-US" smtClean="0"/>
              <a:t>算法与</a:t>
            </a:r>
            <a:r>
              <a:rPr lang="en-US" altLang="zh-CN" smtClean="0"/>
              <a:t>DFT</a:t>
            </a:r>
            <a:r>
              <a:rPr lang="zh-CN" altLang="en-US" smtClean="0"/>
              <a:t>所需乘法次数与</a:t>
            </a:r>
            <a:r>
              <a:rPr lang="en-US" altLang="zh-CN" smtClean="0"/>
              <a:t>N</a:t>
            </a:r>
            <a:r>
              <a:rPr lang="zh-CN" altLang="en-US" smtClean="0"/>
              <a:t>的关系曲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线见前页图示。 </a:t>
            </a:r>
          </a:p>
        </p:txBody>
      </p:sp>
      <p:sp>
        <p:nvSpPr>
          <p:cNvPr id="65539" name="Rectangle 5"/>
          <p:cNvSpPr>
            <a:spLocks noChangeArrowheads="1"/>
          </p:cNvSpPr>
          <p:nvPr/>
        </p:nvSpPr>
        <p:spPr bwMode="auto">
          <a:xfrm>
            <a:off x="0" y="32527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87108" name="Object 4"/>
          <p:cNvGraphicFramePr>
            <a:graphicFrameLocks noChangeAspect="1"/>
          </p:cNvGraphicFramePr>
          <p:nvPr/>
        </p:nvGraphicFramePr>
        <p:xfrm>
          <a:off x="3203575" y="2708275"/>
          <a:ext cx="2735263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8" r:id="rId3" imgW="1497950" imgH="355446" progId="Equation.DSMT4">
                  <p:embed/>
                </p:oleObj>
              </mc:Choice>
              <mc:Fallback>
                <p:oleObj r:id="rId3" imgW="1497950" imgH="35544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2708275"/>
                        <a:ext cx="2735263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5541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87110" name="Object 6"/>
          <p:cNvGraphicFramePr>
            <a:graphicFrameLocks noChangeAspect="1"/>
          </p:cNvGraphicFramePr>
          <p:nvPr/>
        </p:nvGraphicFramePr>
        <p:xfrm>
          <a:off x="3203575" y="3429000"/>
          <a:ext cx="2735263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5569" r:id="rId5" imgW="1396394" imgH="203112" progId="Equation.DSMT4">
                  <p:embed/>
                </p:oleObj>
              </mc:Choice>
              <mc:Fallback>
                <p:oleObj r:id="rId5" imgW="1396394" imgH="203112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3429000"/>
                        <a:ext cx="2735263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7114" name="AutoShape 10"/>
          <p:cNvSpPr>
            <a:spLocks noChangeArrowheads="1"/>
          </p:cNvSpPr>
          <p:nvPr/>
        </p:nvSpPr>
        <p:spPr bwMode="auto">
          <a:xfrm>
            <a:off x="2916238" y="2708275"/>
            <a:ext cx="3240087" cy="1152525"/>
          </a:xfrm>
          <a:prstGeom prst="roundRect">
            <a:avLst>
              <a:gd name="adj" fmla="val 16667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65544" name="AutoShape 11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65545" name="Rectangle 12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65546" name="AutoShape 13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65547" name="Rectangle 14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8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871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8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8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871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8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8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871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8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8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871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68710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871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687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871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687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87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decel="100000" fill="hold"/>
                                        <p:tgtEl>
                                          <p:spTgt spid="687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87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6871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6871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687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871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47" dur="80"/>
                                        <p:tgtEl>
                                          <p:spTgt spid="68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48" dur="80"/>
                                        <p:tgtEl>
                                          <p:spTgt spid="68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9" dur="80"/>
                                        <p:tgtEl>
                                          <p:spTgt spid="6871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2" dur="80"/>
                                        <p:tgtEl>
                                          <p:spTgt spid="68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3" dur="80"/>
                                        <p:tgtEl>
                                          <p:spTgt spid="68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4" dur="80"/>
                                        <p:tgtEl>
                                          <p:spTgt spid="6871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57" dur="80"/>
                                        <p:tgtEl>
                                          <p:spTgt spid="687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58" dur="80"/>
                                        <p:tgtEl>
                                          <p:spTgt spid="687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9" dur="80"/>
                                        <p:tgtEl>
                                          <p:spTgt spid="68710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7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62" dur="80"/>
                                        <p:tgtEl>
                                          <p:spTgt spid="687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63" dur="80"/>
                                        <p:tgtEl>
                                          <p:spTgt spid="687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4" dur="80"/>
                                        <p:tgtEl>
                                          <p:spTgt spid="68710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1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58888" y="1628775"/>
            <a:ext cx="6985000" cy="35274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例</a:t>
            </a:r>
            <a:r>
              <a:rPr lang="en-US" altLang="zh-CN" smtClean="0"/>
              <a:t>3.3</a:t>
            </a:r>
            <a:r>
              <a:rPr lang="zh-CN" altLang="en-US" smtClean="0"/>
              <a:t>：</a:t>
            </a:r>
            <a:r>
              <a:rPr lang="en-US" altLang="zh-CN" i="1" smtClean="0"/>
              <a:t>N</a:t>
            </a:r>
            <a:r>
              <a:rPr lang="en-US" altLang="zh-CN" smtClean="0"/>
              <a:t>=2</a:t>
            </a:r>
            <a:r>
              <a:rPr lang="en-US" altLang="zh-CN" baseline="30000" smtClean="0"/>
              <a:t>10</a:t>
            </a:r>
            <a:r>
              <a:rPr lang="en-US" altLang="zh-CN" smtClean="0"/>
              <a:t>=1024</a:t>
            </a:r>
            <a:r>
              <a:rPr lang="zh-CN" altLang="en-US" smtClean="0"/>
              <a:t>时，</a:t>
            </a:r>
            <a:r>
              <a:rPr lang="en-US" altLang="zh-CN" smtClean="0"/>
              <a:t>DIT-FFT</a:t>
            </a:r>
            <a:r>
              <a:rPr lang="zh-CN" altLang="en-US" smtClean="0"/>
              <a:t>的运算效率为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而当</a:t>
            </a:r>
            <a:r>
              <a:rPr lang="en-US" altLang="zh-CN" i="1" smtClean="0"/>
              <a:t>N </a:t>
            </a:r>
            <a:r>
              <a:rPr lang="en-US" altLang="zh-CN" smtClean="0"/>
              <a:t>=2</a:t>
            </a:r>
            <a:r>
              <a:rPr lang="en-US" altLang="zh-CN" baseline="30000" smtClean="0"/>
              <a:t>11</a:t>
            </a:r>
            <a:r>
              <a:rPr lang="en-US" altLang="zh-CN" smtClean="0"/>
              <a:t>=2048</a:t>
            </a:r>
            <a:r>
              <a:rPr lang="zh-CN" altLang="en-US" smtClean="0"/>
              <a:t>时有 </a:t>
            </a:r>
          </a:p>
          <a:p>
            <a:pPr eaLnBrk="1" hangingPunct="1">
              <a:buFontTx/>
              <a:buNone/>
            </a:pPr>
            <a:endParaRPr lang="zh-CN" altLang="en-US" smtClean="0"/>
          </a:p>
        </p:txBody>
      </p:sp>
      <p:graphicFrame>
        <p:nvGraphicFramePr>
          <p:cNvPr id="688132" name="Object 4"/>
          <p:cNvGraphicFramePr>
            <a:graphicFrameLocks noChangeAspect="1"/>
          </p:cNvGraphicFramePr>
          <p:nvPr/>
        </p:nvGraphicFramePr>
        <p:xfrm>
          <a:off x="2124075" y="2133600"/>
          <a:ext cx="5040313" cy="9318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0" r:id="rId3" imgW="2933700" imgH="546100" progId="Equation.DSMT4">
                  <p:embed/>
                </p:oleObj>
              </mc:Choice>
              <mc:Fallback>
                <p:oleObj r:id="rId3" imgW="2933700" imgH="546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133600"/>
                        <a:ext cx="5040313" cy="9318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8134" name="Rectangle 6"/>
          <p:cNvSpPr>
            <a:spLocks noChangeArrowheads="1"/>
          </p:cNvSpPr>
          <p:nvPr/>
        </p:nvSpPr>
        <p:spPr bwMode="auto">
          <a:xfrm>
            <a:off x="2052638" y="2133600"/>
            <a:ext cx="24479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DFT</a:t>
            </a:r>
            <a:r>
              <a:rPr lang="zh-CN" altLang="en-US" sz="2000">
                <a:latin typeface="Arial" panose="020B0604020202020204" pitchFamily="34" charset="0"/>
              </a:rPr>
              <a:t>的乘法次数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>
                <a:latin typeface="Arial" panose="020B0604020202020204" pitchFamily="34" charset="0"/>
              </a:rPr>
              <a:t>DIT-FFT</a:t>
            </a:r>
            <a:r>
              <a:rPr lang="zh-CN" altLang="en-US" sz="2000">
                <a:latin typeface="Arial" panose="020B0604020202020204" pitchFamily="34" charset="0"/>
              </a:rPr>
              <a:t>的乘法次数</a:t>
            </a:r>
          </a:p>
        </p:txBody>
      </p:sp>
      <p:graphicFrame>
        <p:nvGraphicFramePr>
          <p:cNvPr id="688135" name="Object 7"/>
          <p:cNvGraphicFramePr>
            <a:graphicFrameLocks noChangeAspect="1"/>
          </p:cNvGraphicFramePr>
          <p:nvPr/>
        </p:nvGraphicFramePr>
        <p:xfrm>
          <a:off x="2484438" y="3429000"/>
          <a:ext cx="4248150" cy="1004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6591" r:id="rId5" imgW="2298700" imgH="546100" progId="Equation.DSMT4">
                  <p:embed/>
                </p:oleObj>
              </mc:Choice>
              <mc:Fallback>
                <p:oleObj r:id="rId5" imgW="2298700" imgH="5461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84438" y="3429000"/>
                        <a:ext cx="4248150" cy="1004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566" name="AutoShape 11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66567" name="Rectangle 12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66568" name="AutoShape 13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66569" name="Rectangle 14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881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88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688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88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6881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881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900" decel="100000" fill="hold"/>
                                        <p:tgtEl>
                                          <p:spTgt spid="688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881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68813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881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881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6881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6881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8134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71550" y="1341438"/>
            <a:ext cx="6769100" cy="388778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mtClean="0"/>
              <a:t>3. DIT-FFT</a:t>
            </a:r>
            <a:r>
              <a:rPr lang="zh-CN" altLang="en-US" smtClean="0"/>
              <a:t>的运算规律及编程思想 </a:t>
            </a:r>
          </a:p>
          <a:p>
            <a:pPr eaLnBrk="1" hangingPunct="1">
              <a:buFontTx/>
              <a:buNone/>
            </a:pPr>
            <a:endParaRPr lang="zh-CN" altLang="en-US" b="1" smtClean="0"/>
          </a:p>
          <a:p>
            <a:pPr eaLnBrk="1" hangingPunct="1">
              <a:buFontTx/>
              <a:buNone/>
            </a:pPr>
            <a:r>
              <a:rPr lang="zh-CN" altLang="en-US" b="1" smtClean="0"/>
              <a:t>  运算规律</a:t>
            </a:r>
            <a:r>
              <a:rPr lang="zh-CN" altLang="en-US" smtClean="0"/>
              <a:t>：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 （</a:t>
            </a:r>
            <a:r>
              <a:rPr lang="en-US" altLang="zh-CN" smtClean="0"/>
              <a:t>1</a:t>
            </a:r>
            <a:r>
              <a:rPr lang="zh-CN" altLang="en-US" smtClean="0"/>
              <a:t>）原位计算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 （</a:t>
            </a:r>
            <a:r>
              <a:rPr lang="en-US" altLang="zh-CN" smtClean="0"/>
              <a:t>2</a:t>
            </a:r>
            <a:r>
              <a:rPr lang="zh-CN" altLang="en-US" smtClean="0"/>
              <a:t>）旋转因子的变化规律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 （</a:t>
            </a:r>
            <a:r>
              <a:rPr lang="en-US" altLang="zh-CN" smtClean="0"/>
              <a:t>3</a:t>
            </a:r>
            <a:r>
              <a:rPr lang="zh-CN" altLang="en-US" smtClean="0"/>
              <a:t>）蝶形运算规律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 （</a:t>
            </a:r>
            <a:r>
              <a:rPr lang="en-US" altLang="zh-CN" smtClean="0"/>
              <a:t>4</a:t>
            </a:r>
            <a:r>
              <a:rPr lang="zh-CN" altLang="en-US" smtClean="0"/>
              <a:t>）序列的倒序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 （</a:t>
            </a:r>
            <a:r>
              <a:rPr lang="en-US" altLang="zh-CN" smtClean="0"/>
              <a:t>5</a:t>
            </a:r>
            <a:r>
              <a:rPr lang="zh-CN" altLang="en-US" smtClean="0"/>
              <a:t>）编程思想及程序框图</a:t>
            </a:r>
          </a:p>
          <a:p>
            <a:pPr eaLnBrk="1" hangingPunct="1">
              <a:buFontTx/>
              <a:buNone/>
            </a:pPr>
            <a:endParaRPr lang="zh-CN" altLang="en-US" smtClean="0"/>
          </a:p>
        </p:txBody>
      </p:sp>
      <p:sp>
        <p:nvSpPr>
          <p:cNvPr id="67587" name="AutoShape 6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67588" name="Rectangle 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67589" name="AutoShape 8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67590" name="Rectangle 9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17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971550" y="549275"/>
            <a:ext cx="7272338" cy="4267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smtClean="0"/>
              <a:t>（</a:t>
            </a:r>
            <a:r>
              <a:rPr lang="en-US" altLang="zh-CN" b="1" smtClean="0"/>
              <a:t>1</a:t>
            </a:r>
            <a:r>
              <a:rPr lang="zh-CN" altLang="en-US" b="1" smtClean="0"/>
              <a:t>）原位计算</a:t>
            </a:r>
            <a:endParaRPr lang="zh-CN" altLang="en-US" smtClean="0"/>
          </a:p>
          <a:p>
            <a:pPr eaLnBrk="1" hangingPunct="1"/>
            <a:r>
              <a:rPr lang="zh-CN" altLang="en-US" smtClean="0"/>
              <a:t>观察每个蝶形的两个输入和两个输出</a:t>
            </a:r>
          </a:p>
          <a:p>
            <a:pPr eaLnBrk="1" hangingPunct="1"/>
            <a:r>
              <a:rPr lang="zh-CN" altLang="en-US" smtClean="0"/>
              <a:t>蝶形的输出可存入原输入数据所占存储单元</a:t>
            </a:r>
          </a:p>
          <a:p>
            <a:pPr eaLnBrk="1" hangingPunct="1"/>
            <a:r>
              <a:rPr lang="zh-CN" altLang="en-US" smtClean="0"/>
              <a:t>利用同一组存储单元存储输入、输出数据的方法，称为原位（址）计算。</a:t>
            </a:r>
          </a:p>
          <a:p>
            <a:pPr eaLnBrk="1" hangingPunct="1"/>
            <a:r>
              <a:rPr lang="zh-CN" altLang="en-US" smtClean="0">
                <a:solidFill>
                  <a:srgbClr val="FF0000"/>
                </a:solidFill>
              </a:rPr>
              <a:t>节约内存</a:t>
            </a:r>
          </a:p>
          <a:p>
            <a:pPr eaLnBrk="1" hangingPunct="1"/>
            <a:r>
              <a:rPr lang="zh-CN" altLang="en-US" smtClean="0">
                <a:solidFill>
                  <a:srgbClr val="FF0000"/>
                </a:solidFill>
              </a:rPr>
              <a:t>节省寻址的时间</a:t>
            </a:r>
          </a:p>
          <a:p>
            <a:pPr eaLnBrk="1" hangingPunct="1">
              <a:buFontTx/>
              <a:buNone/>
            </a:pPr>
            <a:endParaRPr lang="zh-CN" altLang="en-US" b="1" smtClean="0"/>
          </a:p>
        </p:txBody>
      </p:sp>
      <p:graphicFrame>
        <p:nvGraphicFramePr>
          <p:cNvPr id="68611" name="Object 7"/>
          <p:cNvGraphicFramePr>
            <a:graphicFrameLocks noGrp="1" noChangeAspect="1"/>
          </p:cNvGraphicFramePr>
          <p:nvPr>
            <p:ph sz="half" idx="2"/>
          </p:nvPr>
        </p:nvGraphicFramePr>
        <p:xfrm>
          <a:off x="1258888" y="3500438"/>
          <a:ext cx="6264275" cy="2720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8626" name="Visio" r:id="rId3" imgW="6688531" imgH="3477158" progId="Visio.Drawing.11">
                  <p:embed/>
                </p:oleObj>
              </mc:Choice>
              <mc:Fallback>
                <p:oleObj name="Visio" r:id="rId3" imgW="6688531" imgH="3477158" progId="Visio.Drawing.11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500438"/>
                        <a:ext cx="6264275" cy="2720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2" name="AutoShape 10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68613" name="Rectangle 11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68614" name="AutoShape 12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68615" name="Rectangle 13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9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9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9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9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901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4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9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9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9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9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901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27088" y="476250"/>
            <a:ext cx="7632700" cy="546735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（</a:t>
            </a:r>
            <a:r>
              <a:rPr lang="en-US" altLang="zh-CN" smtClean="0"/>
              <a:t>2</a:t>
            </a:r>
            <a:r>
              <a:rPr lang="zh-CN" altLang="en-US" smtClean="0"/>
              <a:t>）</a:t>
            </a:r>
            <a:r>
              <a:rPr lang="zh-CN" altLang="en-US" b="1" smtClean="0"/>
              <a:t>旋转因子的变化规律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DIT-FFT</a:t>
            </a:r>
            <a:r>
              <a:rPr lang="zh-CN" altLang="en-US" smtClean="0"/>
              <a:t>运算流图中，每级都有</a:t>
            </a:r>
            <a:r>
              <a:rPr lang="en-US" altLang="zh-CN" smtClean="0"/>
              <a:t>N/2</a:t>
            </a:r>
            <a:r>
              <a:rPr lang="zh-CN" altLang="en-US" smtClean="0"/>
              <a:t>个蝶形。每个蝶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形都要乘以因子，称其为旋转因子，</a:t>
            </a:r>
            <a:r>
              <a:rPr lang="en-US" altLang="zh-CN" smtClean="0"/>
              <a:t>p</a:t>
            </a:r>
            <a:r>
              <a:rPr lang="zh-CN" altLang="en-US" smtClean="0"/>
              <a:t>称为旋转因子的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指数。由于各级的旋转因子和循环方式都有所不同。为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了编写计算程序，应先找出旋转因子   与运算级数的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关系。用</a:t>
            </a:r>
            <a:r>
              <a:rPr lang="en-US" altLang="zh-CN" smtClean="0"/>
              <a:t>L</a:t>
            </a:r>
            <a:r>
              <a:rPr lang="zh-CN" altLang="en-US" smtClean="0"/>
              <a:t>表示从左到右的运算级数（</a:t>
            </a:r>
            <a:r>
              <a:rPr lang="en-US" altLang="zh-CN" smtClean="0"/>
              <a:t>L=1,2,…,M</a:t>
            </a:r>
            <a:r>
              <a:rPr lang="zh-CN" altLang="en-US" smtClean="0"/>
              <a:t>）。</a:t>
            </a:r>
          </a:p>
        </p:txBody>
      </p:sp>
      <p:graphicFrame>
        <p:nvGraphicFramePr>
          <p:cNvPr id="69635" name="Object 4"/>
          <p:cNvGraphicFramePr>
            <a:graphicFrameLocks noChangeAspect="1"/>
          </p:cNvGraphicFramePr>
          <p:nvPr/>
        </p:nvGraphicFramePr>
        <p:xfrm>
          <a:off x="5795963" y="2205038"/>
          <a:ext cx="504825" cy="484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1" r:id="rId3" imgW="228501" imgH="215806" progId="Equation.DSMT4">
                  <p:embed/>
                </p:oleObj>
              </mc:Choice>
              <mc:Fallback>
                <p:oleObj r:id="rId3" imgW="228501" imgH="21580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5963" y="2205038"/>
                        <a:ext cx="504825" cy="484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36" name="Object 14"/>
          <p:cNvGraphicFramePr>
            <a:graphicFrameLocks noGrp="1" noChangeAspect="1"/>
          </p:cNvGraphicFramePr>
          <p:nvPr>
            <p:ph sz="half" idx="2"/>
          </p:nvPr>
        </p:nvGraphicFramePr>
        <p:xfrm>
          <a:off x="1331913" y="3141663"/>
          <a:ext cx="6192837" cy="319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62" name="Visio" r:id="rId5" imgW="6688531" imgH="4287926" progId="Visio.Drawing.11">
                  <p:embed/>
                </p:oleObj>
              </mc:Choice>
              <mc:Fallback>
                <p:oleObj name="Visio" r:id="rId5" imgW="6688531" imgH="4287926" progId="Visio.Drawing.11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3141663"/>
                        <a:ext cx="6192837" cy="3190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637" name="AutoShape 17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69638" name="Rectangle 18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69639" name="AutoShape 19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69640" name="Rectangle 20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827088" y="836613"/>
            <a:ext cx="7632700" cy="46085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  由</a:t>
            </a:r>
            <a:r>
              <a:rPr lang="en-US" altLang="zh-CN" smtClean="0"/>
              <a:t>8</a:t>
            </a:r>
            <a:r>
              <a:rPr lang="zh-CN" altLang="en-US" smtClean="0"/>
              <a:t>点</a:t>
            </a:r>
            <a:r>
              <a:rPr lang="en-US" altLang="zh-CN" smtClean="0"/>
              <a:t>DIT-FFT</a:t>
            </a:r>
            <a:r>
              <a:rPr lang="zh-CN" altLang="en-US" smtClean="0"/>
              <a:t>运算流图可以发现，第</a:t>
            </a:r>
            <a:r>
              <a:rPr lang="en-US" altLang="zh-CN" smtClean="0"/>
              <a:t>L</a:t>
            </a:r>
            <a:r>
              <a:rPr lang="zh-CN" altLang="en-US" smtClean="0"/>
              <a:t>级共有</a:t>
            </a:r>
            <a:r>
              <a:rPr lang="en-US" altLang="zh-CN" smtClean="0"/>
              <a:t>2</a:t>
            </a:r>
            <a:r>
              <a:rPr lang="en-US" altLang="zh-CN" baseline="30000" smtClean="0"/>
              <a:t>L-1</a:t>
            </a:r>
            <a:r>
              <a:rPr lang="zh-CN" altLang="en-US" smtClean="0"/>
              <a:t>个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不同的旋转因子。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N=2</a:t>
            </a:r>
            <a:r>
              <a:rPr lang="en-US" altLang="zh-CN" baseline="30000" smtClean="0"/>
              <a:t>3</a:t>
            </a:r>
            <a:r>
              <a:rPr lang="en-US" altLang="zh-CN" smtClean="0"/>
              <a:t>=8</a:t>
            </a:r>
            <a:r>
              <a:rPr lang="zh-CN" altLang="en-US" smtClean="0"/>
              <a:t>时的各级旋转因子表示如下</a:t>
            </a:r>
            <a:r>
              <a:rPr lang="en-US" altLang="zh-CN" smtClean="0"/>
              <a:t>:</a:t>
            </a:r>
            <a:r>
              <a:rPr lang="zh-CN" altLang="en-US" smtClean="0"/>
              <a:t> 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L=1</a:t>
            </a:r>
            <a:r>
              <a:rPr lang="zh-CN" altLang="en-US" smtClean="0"/>
              <a:t>时 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en-US" altLang="zh-CN" smtClean="0"/>
              <a:t>L=2</a:t>
            </a:r>
            <a:r>
              <a:rPr lang="zh-CN" altLang="en-US" smtClean="0"/>
              <a:t>时 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en-US" altLang="zh-CN" smtClean="0"/>
              <a:t>L=3</a:t>
            </a:r>
            <a:r>
              <a:rPr lang="zh-CN" altLang="en-US" smtClean="0"/>
              <a:t>时 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               …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对</a:t>
            </a:r>
            <a:r>
              <a:rPr lang="en-US" altLang="zh-CN" smtClean="0"/>
              <a:t>N=2</a:t>
            </a:r>
            <a:r>
              <a:rPr lang="en-US" altLang="zh-CN" baseline="30000" smtClean="0"/>
              <a:t>M</a:t>
            </a:r>
            <a:r>
              <a:rPr lang="zh-CN" altLang="en-US" smtClean="0"/>
              <a:t>的一般情况，第</a:t>
            </a:r>
            <a:r>
              <a:rPr lang="en-US" altLang="zh-CN" smtClean="0"/>
              <a:t>L</a:t>
            </a:r>
            <a:r>
              <a:rPr lang="zh-CN" altLang="en-US" smtClean="0"/>
              <a:t>级的旋转因子为</a:t>
            </a:r>
            <a:endParaRPr lang="zh-CN" altLang="en-US" sz="2000" smtClean="0"/>
          </a:p>
        </p:txBody>
      </p:sp>
      <p:graphicFrame>
        <p:nvGraphicFramePr>
          <p:cNvPr id="70659" name="Object 17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2052638" y="2132013"/>
          <a:ext cx="3743325" cy="552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08" r:id="rId3" imgW="1549400" imgH="228600" progId="Equation.DSMT4">
                  <p:embed/>
                </p:oleObj>
              </mc:Choice>
              <mc:Fallback>
                <p:oleObj r:id="rId3" imgW="1549400" imgH="228600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638" y="2132013"/>
                        <a:ext cx="3743325" cy="552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0" name="Object 4"/>
          <p:cNvGraphicFramePr>
            <a:graphicFrameLocks noChangeAspect="1"/>
          </p:cNvGraphicFramePr>
          <p:nvPr/>
        </p:nvGraphicFramePr>
        <p:xfrm>
          <a:off x="1835150" y="5227638"/>
          <a:ext cx="5113338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09" r:id="rId5" imgW="2019300" imgH="228600" progId="Equation.DSMT4">
                  <p:embed/>
                </p:oleObj>
              </mc:Choice>
              <mc:Fallback>
                <p:oleObj r:id="rId5" imgW="20193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5227638"/>
                        <a:ext cx="5113338" cy="581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1" name="Rectangle 9"/>
          <p:cNvSpPr>
            <a:spLocks noChangeArrowheads="1"/>
          </p:cNvSpPr>
          <p:nvPr/>
        </p:nvSpPr>
        <p:spPr bwMode="auto">
          <a:xfrm>
            <a:off x="0" y="33099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0662" name="Object 20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979613" y="3068638"/>
          <a:ext cx="3887787" cy="542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10" r:id="rId7" imgW="1638300" imgH="228600" progId="Equation.DSMT4">
                  <p:embed/>
                </p:oleObj>
              </mc:Choice>
              <mc:Fallback>
                <p:oleObj r:id="rId7" imgW="1638300" imgH="228600" progId="Equation.DSMT4">
                  <p:embed/>
                  <p:pic>
                    <p:nvPicPr>
                      <p:cNvPr id="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068638"/>
                        <a:ext cx="3887787" cy="542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63" name="Object 23"/>
          <p:cNvGraphicFramePr>
            <a:graphicFrameLocks noChangeAspect="1"/>
          </p:cNvGraphicFramePr>
          <p:nvPr/>
        </p:nvGraphicFramePr>
        <p:xfrm>
          <a:off x="1979613" y="3860800"/>
          <a:ext cx="4535487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0711" r:id="rId9" imgW="1778000" imgH="228600" progId="Equation.DSMT4">
                  <p:embed/>
                </p:oleObj>
              </mc:Choice>
              <mc:Fallback>
                <p:oleObj r:id="rId9" imgW="1778000" imgH="228600" progId="Equation.DSMT4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860800"/>
                        <a:ext cx="4535487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0664" name="AutoShape 24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70665" name="Rectangle 25">
            <a:hlinkClick r:id="rId11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70666" name="AutoShape 26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70667" name="Rectangle 27">
            <a:hlinkClick r:id="rId12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0113" y="1484313"/>
            <a:ext cx="7448550" cy="28813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由于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所以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这样，就可按上面两个式子确定第</a:t>
            </a:r>
            <a:r>
              <a:rPr lang="en-US" altLang="zh-CN" smtClean="0"/>
              <a:t>L</a:t>
            </a:r>
            <a:r>
              <a:rPr lang="zh-CN" altLang="en-US" smtClean="0"/>
              <a:t>级运算的旋转因子。     </a:t>
            </a:r>
          </a:p>
        </p:txBody>
      </p:sp>
      <p:graphicFrame>
        <p:nvGraphicFramePr>
          <p:cNvPr id="71683" name="Object 4"/>
          <p:cNvGraphicFramePr>
            <a:graphicFrameLocks noChangeAspect="1"/>
          </p:cNvGraphicFramePr>
          <p:nvPr/>
        </p:nvGraphicFramePr>
        <p:xfrm>
          <a:off x="1979613" y="1484313"/>
          <a:ext cx="3455987" cy="439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1" r:id="rId3" imgW="1498600" imgH="190500" progId="Equation.DSMT4">
                  <p:embed/>
                </p:oleObj>
              </mc:Choice>
              <mc:Fallback>
                <p:oleObj r:id="rId3" imgW="1498600" imgH="1905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1484313"/>
                        <a:ext cx="3455987" cy="439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7461" name="Object 5"/>
          <p:cNvGraphicFramePr>
            <a:graphicFrameLocks noChangeAspect="1"/>
          </p:cNvGraphicFramePr>
          <p:nvPr/>
        </p:nvGraphicFramePr>
        <p:xfrm>
          <a:off x="1835150" y="2420938"/>
          <a:ext cx="6192838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2" r:id="rId5" imgW="2628900" imgH="241300" progId="Equation.DSMT4">
                  <p:embed/>
                </p:oleObj>
              </mc:Choice>
              <mc:Fallback>
                <p:oleObj r:id="rId5" imgW="2628900" imgH="2413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420938"/>
                        <a:ext cx="6192838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87462" name="Object 6"/>
          <p:cNvGraphicFramePr>
            <a:graphicFrameLocks noChangeAspect="1"/>
          </p:cNvGraphicFramePr>
          <p:nvPr/>
        </p:nvGraphicFramePr>
        <p:xfrm>
          <a:off x="3419475" y="3068638"/>
          <a:ext cx="1873250" cy="504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23" r:id="rId7" imgW="723586" imgH="215806" progId="Equation.DSMT4">
                  <p:embed/>
                </p:oleObj>
              </mc:Choice>
              <mc:Fallback>
                <p:oleObj r:id="rId7" imgW="723586" imgH="215806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3068638"/>
                        <a:ext cx="1873250" cy="504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7463" name="AutoShape 7"/>
          <p:cNvSpPr>
            <a:spLocks noChangeArrowheads="1"/>
          </p:cNvSpPr>
          <p:nvPr/>
        </p:nvSpPr>
        <p:spPr bwMode="auto">
          <a:xfrm>
            <a:off x="5435600" y="4652963"/>
            <a:ext cx="2232025" cy="1152525"/>
          </a:xfrm>
          <a:prstGeom prst="wedgeRoundRectCallout">
            <a:avLst>
              <a:gd name="adj1" fmla="val -36986"/>
              <a:gd name="adj2" fmla="val -83472"/>
              <a:gd name="adj3" fmla="val 16667"/>
            </a:avLst>
          </a:prstGeom>
          <a:solidFill>
            <a:srgbClr val="FFCC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 eaLnBrk="1" hangingPunct="1">
              <a:buFontTx/>
              <a:buNone/>
            </a:pP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</a:rPr>
              <a:t>实际编程序时，</a:t>
            </a:r>
          </a:p>
          <a:p>
            <a:pPr algn="ctr" eaLnBrk="1" hangingPunct="1">
              <a:buFontTx/>
              <a:buNone/>
            </a:pPr>
            <a:r>
              <a:rPr lang="en-US" altLang="zh-CN" sz="2000">
                <a:solidFill>
                  <a:schemeClr val="tx1"/>
                </a:solidFill>
                <a:latin typeface="Arial" panose="020B0604020202020204" pitchFamily="34" charset="0"/>
              </a:rPr>
              <a:t>L</a:t>
            </a:r>
            <a:r>
              <a:rPr lang="zh-CN" altLang="en-US" sz="2000">
                <a:solidFill>
                  <a:schemeClr val="tx1"/>
                </a:solidFill>
                <a:latin typeface="Arial" panose="020B0604020202020204" pitchFamily="34" charset="0"/>
              </a:rPr>
              <a:t>为最外层循环变量</a:t>
            </a:r>
          </a:p>
        </p:txBody>
      </p:sp>
      <p:sp>
        <p:nvSpPr>
          <p:cNvPr id="71687" name="AutoShape 8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71688" name="Rectangle 9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71689" name="AutoShape 10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71690" name="Rectangle 11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8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874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874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874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874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874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8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8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8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874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7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8746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874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874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87463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836613"/>
            <a:ext cx="7777163" cy="4267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smtClean="0"/>
              <a:t>（</a:t>
            </a:r>
            <a:r>
              <a:rPr lang="en-US" altLang="zh-CN" b="1" smtClean="0"/>
              <a:t>3</a:t>
            </a:r>
            <a:r>
              <a:rPr lang="zh-CN" altLang="en-US" b="1" smtClean="0"/>
              <a:t>）蝶形运算规律</a:t>
            </a:r>
            <a:r>
              <a:rPr lang="zh-CN" altLang="en-US" smtClean="0"/>
              <a:t> 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设序列</a:t>
            </a:r>
            <a:r>
              <a:rPr lang="en-US" altLang="zh-CN" smtClean="0"/>
              <a:t>x(n)</a:t>
            </a:r>
            <a:r>
              <a:rPr lang="zh-CN" altLang="en-US" smtClean="0"/>
              <a:t>经时域抽选（倒序）后，存入数组</a:t>
            </a:r>
            <a:r>
              <a:rPr lang="en-US" altLang="zh-CN" smtClean="0"/>
              <a:t>A</a:t>
            </a:r>
            <a:r>
              <a:rPr lang="zh-CN" altLang="en-US" smtClean="0"/>
              <a:t>中。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如果蝶形运算的两个输入数据相距</a:t>
            </a:r>
            <a:r>
              <a:rPr lang="en-US" altLang="zh-CN" smtClean="0"/>
              <a:t>B</a:t>
            </a:r>
            <a:r>
              <a:rPr lang="zh-CN" altLang="en-US" smtClean="0"/>
              <a:t>个点，应用原位计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算，则蝶形运算可表示成如下形式</a:t>
            </a:r>
            <a:r>
              <a:rPr lang="en-US" altLang="zh-CN" smtClean="0"/>
              <a:t>: 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式中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下标</a:t>
            </a:r>
            <a:r>
              <a:rPr lang="en-US" altLang="zh-CN" smtClean="0"/>
              <a:t>L</a:t>
            </a:r>
            <a:r>
              <a:rPr lang="zh-CN" altLang="en-US" smtClean="0"/>
              <a:t>表示第</a:t>
            </a:r>
            <a:r>
              <a:rPr lang="en-US" altLang="zh-CN" smtClean="0"/>
              <a:t>L</a:t>
            </a:r>
            <a:r>
              <a:rPr lang="zh-CN" altLang="en-US" smtClean="0"/>
              <a:t>级运算，</a:t>
            </a:r>
            <a:r>
              <a:rPr lang="en-US" altLang="zh-CN" smtClean="0"/>
              <a:t>A</a:t>
            </a:r>
            <a:r>
              <a:rPr lang="en-US" altLang="zh-CN" baseline="-25000" smtClean="0"/>
              <a:t>L</a:t>
            </a:r>
            <a:r>
              <a:rPr lang="en-US" altLang="zh-CN" smtClean="0"/>
              <a:t>(J)</a:t>
            </a:r>
            <a:r>
              <a:rPr lang="zh-CN" altLang="en-US" smtClean="0"/>
              <a:t>则表示第</a:t>
            </a:r>
            <a:r>
              <a:rPr lang="en-US" altLang="zh-CN" smtClean="0"/>
              <a:t>L</a:t>
            </a:r>
            <a:r>
              <a:rPr lang="zh-CN" altLang="en-US" smtClean="0"/>
              <a:t>级运算后数组元素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A(J)</a:t>
            </a:r>
            <a:r>
              <a:rPr lang="zh-CN" altLang="en-US" smtClean="0"/>
              <a:t>的值（即第</a:t>
            </a:r>
            <a:r>
              <a:rPr lang="en-US" altLang="zh-CN" smtClean="0"/>
              <a:t>L</a:t>
            </a:r>
            <a:r>
              <a:rPr lang="zh-CN" altLang="en-US" smtClean="0"/>
              <a:t>级蝶形的输出数据）。而</a:t>
            </a:r>
            <a:r>
              <a:rPr lang="en-US" altLang="zh-CN" smtClean="0"/>
              <a:t>A</a:t>
            </a:r>
            <a:r>
              <a:rPr lang="en-US" altLang="zh-CN" baseline="-25000" smtClean="0"/>
              <a:t>L-1</a:t>
            </a:r>
            <a:r>
              <a:rPr lang="en-US" altLang="zh-CN" smtClean="0"/>
              <a:t>(J)</a:t>
            </a:r>
            <a:r>
              <a:rPr lang="zh-CN" altLang="en-US" smtClean="0"/>
              <a:t>表示第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L</a:t>
            </a:r>
            <a:r>
              <a:rPr lang="zh-CN" altLang="en-US" smtClean="0"/>
              <a:t>级运算前</a:t>
            </a:r>
            <a:r>
              <a:rPr lang="en-US" altLang="zh-CN" smtClean="0"/>
              <a:t>A(J)</a:t>
            </a:r>
            <a:r>
              <a:rPr lang="zh-CN" altLang="en-US" smtClean="0"/>
              <a:t>的值（即第</a:t>
            </a:r>
            <a:r>
              <a:rPr lang="en-US" altLang="zh-CN" smtClean="0"/>
              <a:t>L</a:t>
            </a:r>
            <a:r>
              <a:rPr lang="zh-CN" altLang="en-US" smtClean="0"/>
              <a:t>级蝶形的输入数据）。 </a:t>
            </a:r>
          </a:p>
        </p:txBody>
      </p:sp>
      <p:graphicFrame>
        <p:nvGraphicFramePr>
          <p:cNvPr id="693254" name="Object 6"/>
          <p:cNvGraphicFramePr>
            <a:graphicFrameLocks noChangeAspect="1"/>
          </p:cNvGraphicFramePr>
          <p:nvPr/>
        </p:nvGraphicFramePr>
        <p:xfrm>
          <a:off x="2268538" y="2997200"/>
          <a:ext cx="4465637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4" r:id="rId3" imgW="2108200" imgH="215900" progId="Equation.DSMT4">
                  <p:embed/>
                </p:oleObj>
              </mc:Choice>
              <mc:Fallback>
                <p:oleObj r:id="rId3" imgW="2108200" imgH="2159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2997200"/>
                        <a:ext cx="4465637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3256" name="Object 8"/>
          <p:cNvGraphicFramePr>
            <a:graphicFrameLocks noChangeAspect="1"/>
          </p:cNvGraphicFramePr>
          <p:nvPr/>
        </p:nvGraphicFramePr>
        <p:xfrm>
          <a:off x="2555875" y="2565400"/>
          <a:ext cx="37449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5" r:id="rId5" imgW="1892300" imgH="215900" progId="Equation.DSMT4">
                  <p:embed/>
                </p:oleObj>
              </mc:Choice>
              <mc:Fallback>
                <p:oleObj r:id="rId5" imgW="1892300" imgH="215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2565400"/>
                        <a:ext cx="37449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3258" name="Object 10"/>
          <p:cNvGraphicFramePr>
            <a:graphicFrameLocks noChangeAspect="1"/>
          </p:cNvGraphicFramePr>
          <p:nvPr/>
        </p:nvGraphicFramePr>
        <p:xfrm>
          <a:off x="1979613" y="3500438"/>
          <a:ext cx="540067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746" r:id="rId7" imgW="2730500" imgH="215900" progId="Equation.DSMT4">
                  <p:embed/>
                </p:oleObj>
              </mc:Choice>
              <mc:Fallback>
                <p:oleObj r:id="rId7" imgW="2730500" imgH="2159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500438"/>
                        <a:ext cx="540067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2710" name="AutoShape 14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72711" name="Rectangle 15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72712" name="AutoShape 16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72713" name="Rectangle 17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32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9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9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9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932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9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9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9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6932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69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69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69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69325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6932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6932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6932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6932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932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932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932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6932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932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932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932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932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69325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69325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3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6" dur="500"/>
                                        <p:tgtEl>
                                          <p:spTgt spid="69325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836613"/>
            <a:ext cx="7920038" cy="49688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用实数运算完成上述蝶形运算，可按下面的算法进行：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设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式中，下标</a:t>
            </a:r>
            <a:r>
              <a:rPr lang="en-US" altLang="zh-CN" smtClean="0"/>
              <a:t>R</a:t>
            </a:r>
            <a:r>
              <a:rPr lang="zh-CN" altLang="en-US" smtClean="0"/>
              <a:t>表示取实部，</a:t>
            </a:r>
            <a:r>
              <a:rPr lang="en-US" altLang="zh-CN" smtClean="0"/>
              <a:t>I</a:t>
            </a:r>
            <a:r>
              <a:rPr lang="zh-CN" altLang="en-US" smtClean="0"/>
              <a:t>表示取虚部。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则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设 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则</a:t>
            </a:r>
          </a:p>
        </p:txBody>
      </p:sp>
      <p:graphicFrame>
        <p:nvGraphicFramePr>
          <p:cNvPr id="694276" name="Object 4"/>
          <p:cNvGraphicFramePr>
            <a:graphicFrameLocks noChangeAspect="1"/>
          </p:cNvGraphicFramePr>
          <p:nvPr/>
        </p:nvGraphicFramePr>
        <p:xfrm>
          <a:off x="2555875" y="1341438"/>
          <a:ext cx="3168650" cy="425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2" r:id="rId3" imgW="1624895" imgH="215806" progId="Equation.DSMT4">
                  <p:embed/>
                </p:oleObj>
              </mc:Choice>
              <mc:Fallback>
                <p:oleObj r:id="rId3" imgW="1624895" imgH="21580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1341438"/>
                        <a:ext cx="3168650" cy="425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78" name="Object 6"/>
          <p:cNvGraphicFramePr>
            <a:graphicFrameLocks noChangeAspect="1"/>
          </p:cNvGraphicFramePr>
          <p:nvPr/>
        </p:nvGraphicFramePr>
        <p:xfrm>
          <a:off x="2627313" y="1844675"/>
          <a:ext cx="2879725" cy="409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3" r:id="rId5" imgW="1409088" imgH="203112" progId="Equation.DSMT4">
                  <p:embed/>
                </p:oleObj>
              </mc:Choice>
              <mc:Fallback>
                <p:oleObj r:id="rId5" imgW="1409088" imgH="203112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1844675"/>
                        <a:ext cx="2879725" cy="409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80" name="Object 8"/>
          <p:cNvGraphicFramePr>
            <a:graphicFrameLocks noChangeAspect="1"/>
          </p:cNvGraphicFramePr>
          <p:nvPr/>
        </p:nvGraphicFramePr>
        <p:xfrm>
          <a:off x="1908175" y="2565400"/>
          <a:ext cx="5040313" cy="1477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4" r:id="rId7" imgW="2463800" imgH="723900" progId="Equation.DSMT4">
                  <p:embed/>
                </p:oleObj>
              </mc:Choice>
              <mc:Fallback>
                <p:oleObj r:id="rId7" imgW="2463800" imgH="723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565400"/>
                        <a:ext cx="5040313" cy="14779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82" name="Object 10"/>
          <p:cNvGraphicFramePr>
            <a:graphicFrameLocks noChangeAspect="1"/>
          </p:cNvGraphicFramePr>
          <p:nvPr/>
        </p:nvGraphicFramePr>
        <p:xfrm>
          <a:off x="2987675" y="4005263"/>
          <a:ext cx="2808288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5" r:id="rId9" imgW="1333500" imgH="203200" progId="Equation.DSMT4">
                  <p:embed/>
                </p:oleObj>
              </mc:Choice>
              <mc:Fallback>
                <p:oleObj r:id="rId9" imgW="1333500" imgH="203200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005263"/>
                        <a:ext cx="2808288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84" name="Object 12"/>
          <p:cNvGraphicFramePr>
            <a:graphicFrameLocks noChangeAspect="1"/>
          </p:cNvGraphicFramePr>
          <p:nvPr/>
        </p:nvGraphicFramePr>
        <p:xfrm>
          <a:off x="2411413" y="4508500"/>
          <a:ext cx="4103687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6" r:id="rId11" imgW="1981200" imgH="203200" progId="Equation.DSMT4">
                  <p:embed/>
                </p:oleObj>
              </mc:Choice>
              <mc:Fallback>
                <p:oleObj r:id="rId11" imgW="1981200" imgH="203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4508500"/>
                        <a:ext cx="4103687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86" name="Object 14"/>
          <p:cNvGraphicFramePr>
            <a:graphicFrameLocks noChangeAspect="1"/>
          </p:cNvGraphicFramePr>
          <p:nvPr/>
        </p:nvGraphicFramePr>
        <p:xfrm>
          <a:off x="2051050" y="4941888"/>
          <a:ext cx="46799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7" r:id="rId13" imgW="2222500" imgH="203200" progId="Equation.DSMT4">
                  <p:embed/>
                </p:oleObj>
              </mc:Choice>
              <mc:Fallback>
                <p:oleObj r:id="rId13" imgW="2222500" imgH="203200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1050" y="4941888"/>
                        <a:ext cx="467995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88" name="Object 16"/>
          <p:cNvGraphicFramePr>
            <a:graphicFrameLocks noChangeAspect="1"/>
          </p:cNvGraphicFramePr>
          <p:nvPr/>
        </p:nvGraphicFramePr>
        <p:xfrm>
          <a:off x="1476375" y="5373688"/>
          <a:ext cx="6121400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3818" r:id="rId15" imgW="2654300" imgH="203200" progId="Equation.DSMT4">
                  <p:embed/>
                </p:oleObj>
              </mc:Choice>
              <mc:Fallback>
                <p:oleObj r:id="rId15" imgW="2654300" imgH="203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373688"/>
                        <a:ext cx="6121400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3738" name="AutoShape 20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73739" name="Rectangle 21">
            <a:hlinkClick r:id="rId17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73740" name="AutoShape 22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73741" name="Rectangle 23">
            <a:hlinkClick r:id="rId18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9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9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942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9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9427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9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9427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6942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942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942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942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9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9427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942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942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9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69427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942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6942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6942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942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69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69427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6942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6942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6942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942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549275"/>
            <a:ext cx="8424862" cy="5256213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smtClean="0"/>
              <a:t>（</a:t>
            </a:r>
            <a:r>
              <a:rPr lang="en-US" altLang="zh-CN" b="1" smtClean="0"/>
              <a:t>4</a:t>
            </a:r>
            <a:r>
              <a:rPr lang="zh-CN" altLang="en-US" b="1" smtClean="0"/>
              <a:t>）序列的倒序</a:t>
            </a:r>
            <a:r>
              <a:rPr lang="zh-CN" altLang="en-US" smtClean="0"/>
              <a:t> 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    DIT-FFT</a:t>
            </a:r>
            <a:r>
              <a:rPr lang="zh-CN" altLang="en-US" smtClean="0"/>
              <a:t>算法的输出</a:t>
            </a:r>
            <a:r>
              <a:rPr lang="en-US" altLang="zh-CN" smtClean="0"/>
              <a:t>X(k)</a:t>
            </a:r>
            <a:r>
              <a:rPr lang="zh-CN" altLang="en-US" smtClean="0"/>
              <a:t>为自然顺序，但为了适应原位计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算，其输入序列不是按</a:t>
            </a:r>
            <a:r>
              <a:rPr lang="en-US" altLang="zh-CN" smtClean="0"/>
              <a:t>x(n)</a:t>
            </a:r>
            <a:r>
              <a:rPr lang="zh-CN" altLang="en-US" smtClean="0"/>
              <a:t>的自然顺序排序，这种经过</a:t>
            </a:r>
            <a:r>
              <a:rPr lang="en-US" altLang="zh-CN" smtClean="0"/>
              <a:t>M-1</a:t>
            </a:r>
            <a:r>
              <a:rPr lang="zh-CN" altLang="en-US" smtClean="0"/>
              <a:t>次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偶奇抽选后的排序称为序列</a:t>
            </a:r>
            <a:r>
              <a:rPr lang="en-US" altLang="zh-CN" smtClean="0"/>
              <a:t>x(n)</a:t>
            </a:r>
            <a:r>
              <a:rPr lang="zh-CN" altLang="en-US" smtClean="0"/>
              <a:t>的倒序（倒位）。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   因此，</a:t>
            </a:r>
            <a:r>
              <a:rPr lang="zh-CN" altLang="en-US" smtClean="0">
                <a:solidFill>
                  <a:srgbClr val="CC3300"/>
                </a:solidFill>
              </a:rPr>
              <a:t>在运算之前应先对序列</a:t>
            </a:r>
            <a:r>
              <a:rPr lang="en-US" altLang="zh-CN" smtClean="0">
                <a:solidFill>
                  <a:srgbClr val="CC3300"/>
                </a:solidFill>
              </a:rPr>
              <a:t>x(n)</a:t>
            </a:r>
            <a:r>
              <a:rPr lang="zh-CN" altLang="en-US" smtClean="0">
                <a:solidFill>
                  <a:srgbClr val="CC3300"/>
                </a:solidFill>
              </a:rPr>
              <a:t>进行倒序</a:t>
            </a:r>
            <a:r>
              <a:rPr lang="zh-CN" altLang="en-US" smtClean="0"/>
              <a:t>。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由于</a:t>
            </a:r>
            <a:r>
              <a:rPr lang="en-US" altLang="zh-CN" smtClean="0"/>
              <a:t>N = 2</a:t>
            </a:r>
            <a:r>
              <a:rPr lang="en-US" altLang="zh-CN" baseline="30000" smtClean="0"/>
              <a:t>M</a:t>
            </a:r>
            <a:r>
              <a:rPr lang="zh-CN" altLang="en-US" smtClean="0"/>
              <a:t>，因此顺序数可用</a:t>
            </a:r>
            <a:r>
              <a:rPr lang="en-US" altLang="zh-CN" smtClean="0"/>
              <a:t>M</a:t>
            </a:r>
            <a:r>
              <a:rPr lang="zh-CN" altLang="en-US" smtClean="0"/>
              <a:t>位二进制数（</a:t>
            </a:r>
            <a:r>
              <a:rPr lang="en-US" altLang="zh-CN" smtClean="0"/>
              <a:t>n</a:t>
            </a:r>
            <a:r>
              <a:rPr lang="en-US" altLang="zh-CN" baseline="-25000" smtClean="0"/>
              <a:t>M-1</a:t>
            </a:r>
            <a:r>
              <a:rPr lang="en-US" altLang="zh-CN" smtClean="0"/>
              <a:t>n</a:t>
            </a:r>
            <a:r>
              <a:rPr lang="en-US" altLang="zh-CN" baseline="-25000" smtClean="0"/>
              <a:t>M-2</a:t>
            </a:r>
            <a:r>
              <a:rPr lang="en-US" altLang="zh-CN" smtClean="0"/>
              <a:t>…n</a:t>
            </a:r>
            <a:r>
              <a:rPr lang="en-US" altLang="zh-CN" baseline="-25000" smtClean="0"/>
              <a:t>1</a:t>
            </a:r>
            <a:r>
              <a:rPr lang="en-US" altLang="zh-CN" smtClean="0"/>
              <a:t>n</a:t>
            </a:r>
            <a:r>
              <a:rPr lang="en-US" altLang="zh-CN" baseline="-25000" smtClean="0"/>
              <a:t>0</a:t>
            </a:r>
            <a:r>
              <a:rPr lang="zh-CN" altLang="en-US" smtClean="0"/>
              <a:t>）表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示。</a:t>
            </a:r>
            <a:r>
              <a:rPr lang="en-US" altLang="zh-CN" smtClean="0"/>
              <a:t>M</a:t>
            </a:r>
            <a:r>
              <a:rPr lang="zh-CN" altLang="en-US" smtClean="0"/>
              <a:t>次偶奇时域抽选过程如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右图所示。第一次按最低位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n</a:t>
            </a:r>
            <a:r>
              <a:rPr lang="en-US" altLang="zh-CN" baseline="-25000" smtClean="0"/>
              <a:t>0</a:t>
            </a:r>
            <a:r>
              <a:rPr lang="zh-CN" altLang="en-US" smtClean="0"/>
              <a:t>的</a:t>
            </a:r>
            <a:r>
              <a:rPr lang="en-US" altLang="zh-CN" smtClean="0"/>
              <a:t>0</a:t>
            </a:r>
            <a:r>
              <a:rPr lang="zh-CN" altLang="en-US" smtClean="0"/>
              <a:t>和</a:t>
            </a:r>
            <a:r>
              <a:rPr lang="en-US" altLang="zh-CN" smtClean="0"/>
              <a:t>1</a:t>
            </a:r>
            <a:r>
              <a:rPr lang="zh-CN" altLang="en-US" smtClean="0"/>
              <a:t>将</a:t>
            </a:r>
            <a:r>
              <a:rPr lang="en-US" altLang="zh-CN" smtClean="0"/>
              <a:t>x(n)</a:t>
            </a:r>
            <a:r>
              <a:rPr lang="zh-CN" altLang="en-US" smtClean="0"/>
              <a:t>分解为偶奇两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组，第二次又按次低位</a:t>
            </a:r>
            <a:r>
              <a:rPr lang="en-US" altLang="zh-CN" smtClean="0"/>
              <a:t>n</a:t>
            </a:r>
            <a:r>
              <a:rPr lang="en-US" altLang="zh-CN" baseline="-25000" smtClean="0"/>
              <a:t>1</a:t>
            </a:r>
            <a:r>
              <a:rPr lang="zh-CN" altLang="en-US" smtClean="0"/>
              <a:t>的</a:t>
            </a:r>
            <a:r>
              <a:rPr lang="en-US" altLang="zh-CN" smtClean="0"/>
              <a:t>0</a:t>
            </a:r>
            <a:r>
              <a:rPr lang="zh-CN" altLang="en-US" smtClean="0"/>
              <a:t>、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1</a:t>
            </a:r>
            <a:r>
              <a:rPr lang="zh-CN" altLang="en-US" smtClean="0"/>
              <a:t>值分别对偶奇组分解；依次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类推，第</a:t>
            </a:r>
            <a:r>
              <a:rPr lang="en-US" altLang="zh-CN" smtClean="0"/>
              <a:t>M</a:t>
            </a:r>
            <a:r>
              <a:rPr lang="zh-CN" altLang="en-US" smtClean="0"/>
              <a:t>次按</a:t>
            </a:r>
            <a:r>
              <a:rPr lang="en-US" altLang="zh-CN" smtClean="0"/>
              <a:t>n</a:t>
            </a:r>
            <a:r>
              <a:rPr lang="en-US" altLang="zh-CN" baseline="-25000" smtClean="0"/>
              <a:t>M-1</a:t>
            </a:r>
            <a:r>
              <a:rPr lang="zh-CN" altLang="en-US" smtClean="0"/>
              <a:t>位分解，最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后得到二进制倒序数。  </a:t>
            </a:r>
          </a:p>
        </p:txBody>
      </p:sp>
      <p:pic>
        <p:nvPicPr>
          <p:cNvPr id="697348" name="Picture 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3213100"/>
            <a:ext cx="4103688" cy="262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97349" name="Text Box 5"/>
          <p:cNvSpPr txBox="1">
            <a:spLocks noChangeArrowheads="1"/>
          </p:cNvSpPr>
          <p:nvPr/>
        </p:nvSpPr>
        <p:spPr bwMode="auto">
          <a:xfrm>
            <a:off x="5076825" y="5805488"/>
            <a:ext cx="31877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>
                <a:latin typeface="Arial" panose="020B0604020202020204" pitchFamily="34" charset="0"/>
              </a:rPr>
              <a:t>形成例序的树状图</a:t>
            </a:r>
            <a:r>
              <a:rPr lang="en-US" altLang="zh-CN" sz="2000">
                <a:latin typeface="Arial" panose="020B0604020202020204" pitchFamily="34" charset="0"/>
              </a:rPr>
              <a:t>(</a:t>
            </a:r>
            <a:r>
              <a:rPr lang="en-US" altLang="zh-CN" sz="2000" i="1">
                <a:latin typeface="Arial" panose="020B0604020202020204" pitchFamily="34" charset="0"/>
              </a:rPr>
              <a:t>N</a:t>
            </a:r>
            <a:r>
              <a:rPr lang="en-US" altLang="zh-CN" sz="2000">
                <a:latin typeface="Arial" panose="020B0604020202020204" pitchFamily="34" charset="0"/>
              </a:rPr>
              <a:t> = 2</a:t>
            </a:r>
            <a:r>
              <a:rPr lang="en-US" altLang="zh-CN" sz="2000" baseline="30000">
                <a:latin typeface="Arial" panose="020B0604020202020204" pitchFamily="34" charset="0"/>
              </a:rPr>
              <a:t>3</a:t>
            </a:r>
            <a:r>
              <a:rPr lang="en-US" altLang="zh-CN" sz="2000">
                <a:latin typeface="Arial" panose="020B0604020202020204" pitchFamily="34" charset="0"/>
              </a:rPr>
              <a:t>)</a:t>
            </a:r>
            <a:r>
              <a:rPr lang="zh-CN" altLang="en-US" sz="280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74757" name="AutoShape 8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74758" name="Rectangle 9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74759" name="AutoShape 10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74760" name="Rectangle 11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97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697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697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697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6973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973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973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973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973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973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973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6973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9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9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9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697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9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9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69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697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9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9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69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697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9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9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9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973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697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697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697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6973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697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697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697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69734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6973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6973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6973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69734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73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6973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6973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6973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69734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7349" grpId="0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37"/>
          <p:cNvSpPr>
            <a:spLocks noGrp="1" noChangeArrowheads="1"/>
          </p:cNvSpPr>
          <p:nvPr>
            <p:ph type="title"/>
          </p:nvPr>
        </p:nvSpPr>
        <p:spPr>
          <a:xfrm>
            <a:off x="5435600" y="5373688"/>
            <a:ext cx="2232025" cy="504825"/>
          </a:xfrm>
        </p:spPr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z="2400" b="0" smtClean="0"/>
              <a:t>不按顺序排列</a:t>
            </a:r>
          </a:p>
        </p:txBody>
      </p:sp>
      <p:graphicFrame>
        <p:nvGraphicFramePr>
          <p:cNvPr id="701485" name="Group 45"/>
          <p:cNvGraphicFramePr>
            <a:graphicFrameLocks noGrp="1"/>
          </p:cNvGraphicFramePr>
          <p:nvPr>
            <p:ph sz="half" idx="1"/>
          </p:nvPr>
        </p:nvGraphicFramePr>
        <p:xfrm>
          <a:off x="1187450" y="981075"/>
          <a:ext cx="6481763" cy="3749675"/>
        </p:xfrm>
        <a:graphic>
          <a:graphicData uri="http://schemas.openxmlformats.org/drawingml/2006/table">
            <a:tbl>
              <a:tblPr/>
              <a:tblGrid>
                <a:gridCol w="16176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40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2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76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307"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顺          序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倒          序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30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十进制数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I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二进制数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二进制数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十进制数 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J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5706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tabLst>
                          <a:tab pos="228600" algn="l"/>
                        </a:tabLst>
                        <a:defRPr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tabLst>
                          <a:tab pos="228600" algn="l"/>
                        </a:tabLst>
                        <a:defRPr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tabLst>
                          <a:tab pos="228600" algn="l"/>
                        </a:tabLst>
                        <a:defRPr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tabLst>
                          <a:tab pos="228600" algn="l"/>
                        </a:tabLs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tabLst>
                          <a:tab pos="228600" algn="l"/>
                        </a:tabLs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</a:tabLs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</a:tabLs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</a:tabLs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tabLst>
                          <a:tab pos="228600" algn="l"/>
                        </a:tabLs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1  0  0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0  0  1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0  1  0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0  1  1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1  0  0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1  0  1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1  1  0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228600" algn="l"/>
                        </a:tabLst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1  1  1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0  0  0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1  0  0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0  1  0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1  1  0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0  0  1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1  0  1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0  1  1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1  1  1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1pPr>
                      <a:lvl2pPr>
                        <a:spcBef>
                          <a:spcPct val="20000"/>
                        </a:spcBef>
                        <a:defRPr sz="20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defRPr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600">
                          <a:solidFill>
                            <a:srgbClr val="000000"/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5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3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anose="02010600030101010101" pitchFamily="2" charset="-122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a:t>7</a:t>
                      </a:r>
                      <a:endParaRPr kumimoji="0" lang="en-US" altLang="zh-CN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宋体" panose="02010600030101010101" pitchFamily="2" charset="-122"/>
                        <a:ea typeface="宋体" panose="02010600030101010101" pitchFamily="2" charset="-122"/>
                      </a:endParaRPr>
                    </a:p>
                  </a:txBody>
                  <a:tcPr marT="45728" marB="45728"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75799" name="Object 32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1979613" y="4941888"/>
          <a:ext cx="3168650" cy="363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26" name="Equation" r:id="rId3" imgW="1586811" imgH="203112" progId="Equation.DSMT4">
                  <p:embed/>
                </p:oleObj>
              </mc:Choice>
              <mc:Fallback>
                <p:oleObj name="Equation" r:id="rId3" imgW="1586811" imgH="203112" progId="Equation.DSMT4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4941888"/>
                        <a:ext cx="3168650" cy="363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00" name="Object 36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1908175" y="5516563"/>
          <a:ext cx="3384550" cy="379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827" name="Equation" r:id="rId5" imgW="1371600" imgH="203200" progId="Equation.DSMT4">
                  <p:embed/>
                </p:oleObj>
              </mc:Choice>
              <mc:Fallback>
                <p:oleObj name="Equation" r:id="rId5" imgW="1371600" imgH="203200" progId="Equation.DSMT4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5516563"/>
                        <a:ext cx="3384550" cy="379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5801" name="Rectangle 46"/>
          <p:cNvSpPr>
            <a:spLocks noChangeArrowheads="1"/>
          </p:cNvSpPr>
          <p:nvPr/>
        </p:nvSpPr>
        <p:spPr bwMode="auto">
          <a:xfrm>
            <a:off x="5508625" y="4868863"/>
            <a:ext cx="1792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zh-CN" altLang="en-US">
                <a:latin typeface="Arial" panose="020B0604020202020204" pitchFamily="34" charset="0"/>
              </a:rPr>
              <a:t>按顺序输出</a:t>
            </a:r>
          </a:p>
        </p:txBody>
      </p:sp>
      <p:sp>
        <p:nvSpPr>
          <p:cNvPr id="75802" name="AutoShape 47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75803" name="Rectangle 48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75804" name="AutoShape 49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75805" name="Rectangle 50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88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00113" y="620713"/>
            <a:ext cx="4392612" cy="5329237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（</a:t>
            </a:r>
            <a:r>
              <a:rPr lang="en-US" altLang="zh-CN" smtClean="0"/>
              <a:t>5</a:t>
            </a:r>
            <a:r>
              <a:rPr lang="zh-CN" altLang="en-US" smtClean="0"/>
              <a:t>）</a:t>
            </a:r>
            <a:r>
              <a:rPr lang="zh-CN" altLang="en-US" b="1" smtClean="0"/>
              <a:t>编程思想及程序框图</a:t>
            </a:r>
            <a:r>
              <a:rPr lang="zh-CN" altLang="en-US" smtClean="0"/>
              <a:t> 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先从输入端（第</a:t>
            </a:r>
            <a:r>
              <a:rPr lang="en-US" altLang="zh-CN" smtClean="0"/>
              <a:t>1</a:t>
            </a:r>
            <a:r>
              <a:rPr lang="zh-CN" altLang="en-US" smtClean="0"/>
              <a:t>级）开始，逐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级进行，共进行</a:t>
            </a:r>
            <a:r>
              <a:rPr lang="en-US" altLang="zh-CN" smtClean="0"/>
              <a:t>M</a:t>
            </a:r>
            <a:r>
              <a:rPr lang="zh-CN" altLang="en-US" smtClean="0"/>
              <a:t>级运算。在进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行第</a:t>
            </a:r>
            <a:r>
              <a:rPr lang="en-US" altLang="zh-CN" smtClean="0"/>
              <a:t>L</a:t>
            </a:r>
            <a:r>
              <a:rPr lang="zh-CN" altLang="en-US" smtClean="0"/>
              <a:t>级运算时，依次求出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B=2L-1</a:t>
            </a:r>
            <a:r>
              <a:rPr lang="zh-CN" altLang="en-US" smtClean="0"/>
              <a:t>个不同的旋转因子，每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求出一个旋转因子，就计算完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它对应的所有</a:t>
            </a:r>
            <a:r>
              <a:rPr lang="en-US" altLang="zh-CN" smtClean="0"/>
              <a:t>2</a:t>
            </a:r>
            <a:r>
              <a:rPr lang="en-US" altLang="zh-CN" baseline="30000" smtClean="0"/>
              <a:t>M</a:t>
            </a:r>
            <a:r>
              <a:rPr lang="en-US" altLang="zh-CN" smtClean="0"/>
              <a:t>-L</a:t>
            </a:r>
            <a:r>
              <a:rPr lang="zh-CN" altLang="en-US" smtClean="0"/>
              <a:t>个蝶形。这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样，我们可用三重循环程序实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现</a:t>
            </a:r>
            <a:r>
              <a:rPr lang="en-US" altLang="zh-CN" smtClean="0"/>
              <a:t>DIT-FFT</a:t>
            </a:r>
            <a:r>
              <a:rPr lang="zh-CN" altLang="en-US" smtClean="0"/>
              <a:t>运算，程序框图如右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       </a:t>
            </a:r>
            <a:r>
              <a:rPr lang="zh-CN" altLang="en-US" smtClean="0">
                <a:solidFill>
                  <a:schemeClr val="tx1"/>
                </a:solidFill>
              </a:rPr>
              <a:t>程序运行后，数组</a:t>
            </a:r>
            <a:r>
              <a:rPr lang="en-US" altLang="zh-CN" smtClean="0">
                <a:solidFill>
                  <a:schemeClr val="tx1"/>
                </a:solidFill>
              </a:rPr>
              <a:t>A</a:t>
            </a:r>
            <a:r>
              <a:rPr lang="zh-CN" altLang="en-US" smtClean="0">
                <a:solidFill>
                  <a:schemeClr val="tx1"/>
                </a:solidFill>
              </a:rPr>
              <a:t>中</a:t>
            </a:r>
          </a:p>
          <a:p>
            <a:pPr eaLnBrk="1" hangingPunct="1">
              <a:buFontTx/>
              <a:buNone/>
            </a:pPr>
            <a:r>
              <a:rPr lang="zh-CN" altLang="en-US" smtClean="0">
                <a:solidFill>
                  <a:schemeClr val="tx1"/>
                </a:solidFill>
              </a:rPr>
              <a:t>存放的是</a:t>
            </a:r>
            <a:r>
              <a:rPr lang="en-US" altLang="zh-CN" smtClean="0">
                <a:solidFill>
                  <a:schemeClr val="tx1"/>
                </a:solidFill>
              </a:rPr>
              <a:t>x(n)</a:t>
            </a:r>
            <a:r>
              <a:rPr lang="zh-CN" altLang="en-US" smtClean="0">
                <a:solidFill>
                  <a:schemeClr val="tx1"/>
                </a:solidFill>
              </a:rPr>
              <a:t>的</a:t>
            </a:r>
            <a:r>
              <a:rPr lang="en-US" altLang="zh-CN" smtClean="0">
                <a:solidFill>
                  <a:schemeClr val="tx1"/>
                </a:solidFill>
              </a:rPr>
              <a:t>N</a:t>
            </a:r>
            <a:r>
              <a:rPr lang="zh-CN" altLang="en-US" smtClean="0">
                <a:solidFill>
                  <a:schemeClr val="tx1"/>
                </a:solidFill>
              </a:rPr>
              <a:t>点</a:t>
            </a:r>
            <a:r>
              <a:rPr lang="en-US" altLang="zh-CN" smtClean="0">
                <a:solidFill>
                  <a:schemeClr val="tx1"/>
                </a:solidFill>
              </a:rPr>
              <a:t>DFT</a:t>
            </a:r>
            <a:r>
              <a:rPr lang="zh-CN" altLang="en-US" smtClean="0">
                <a:solidFill>
                  <a:schemeClr val="tx1"/>
                </a:solidFill>
              </a:rPr>
              <a:t>，即</a:t>
            </a:r>
          </a:p>
          <a:p>
            <a:pPr eaLnBrk="1" hangingPunct="1">
              <a:buFontTx/>
              <a:buNone/>
            </a:pPr>
            <a:r>
              <a:rPr lang="en-US" altLang="zh-CN" smtClean="0">
                <a:solidFill>
                  <a:schemeClr val="tx1"/>
                </a:solidFill>
              </a:rPr>
              <a:t>X(k)=A(k)</a:t>
            </a:r>
            <a:r>
              <a:rPr lang="zh-CN" altLang="en-US" smtClean="0">
                <a:solidFill>
                  <a:schemeClr val="tx1"/>
                </a:solidFill>
              </a:rPr>
              <a:t>。</a:t>
            </a:r>
            <a:r>
              <a:rPr lang="zh-CN" altLang="en-US" smtClean="0"/>
              <a:t> </a:t>
            </a:r>
          </a:p>
        </p:txBody>
      </p:sp>
      <p:pic>
        <p:nvPicPr>
          <p:cNvPr id="762883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163" y="981075"/>
            <a:ext cx="3095625" cy="5113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62884" name="Rectangle 4"/>
          <p:cNvSpPr>
            <a:spLocks noChangeArrowheads="1"/>
          </p:cNvSpPr>
          <p:nvPr/>
        </p:nvSpPr>
        <p:spPr bwMode="auto">
          <a:xfrm>
            <a:off x="900113" y="4581525"/>
            <a:ext cx="1403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>
                <a:latin typeface="Arial" panose="020B0604020202020204" pitchFamily="34" charset="0"/>
              </a:rPr>
              <a:t>图所示。</a:t>
            </a:r>
          </a:p>
        </p:txBody>
      </p:sp>
      <p:sp>
        <p:nvSpPr>
          <p:cNvPr id="76805" name="AutoShape 7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76806" name="Rectangle 8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76807" name="AutoShape 9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76808" name="Rectangle 10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6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628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62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628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6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628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628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628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628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628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628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628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628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6288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628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6288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628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7628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62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62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7628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76288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628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6288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8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7628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76288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2884" grpId="0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530" name="Rectangle 2"/>
          <p:cNvSpPr>
            <a:spLocks noGrp="1" noRot="1" noChangeAspect="1" noMove="1" noResize="1" noEditPoints="1" noAdjustHandles="1" noChangeArrowheads="1" noChangeShapeType="1" noTextEdit="1"/>
          </p:cNvSpPr>
          <p:nvPr>
            <p:ph type="body" idx="1"/>
          </p:nvPr>
        </p:nvSpPr>
        <p:spPr>
          <a:xfrm>
            <a:off x="755650" y="836613"/>
            <a:ext cx="7993063" cy="5040312"/>
          </a:xfrm>
          <a:blipFill>
            <a:blip r:embed="rId3"/>
            <a:stretch>
              <a:fillRect l="-1144" t="-967"/>
            </a:stretch>
          </a:blipFill>
          <a:extLst/>
        </p:spPr>
        <p:txBody>
          <a:bodyPr/>
          <a:lstStyle/>
          <a:p>
            <a:r>
              <a:rPr lang="zh-CN" altLang="en-US">
                <a:noFill/>
              </a:rPr>
              <a:t> </a:t>
            </a:r>
          </a:p>
        </p:txBody>
      </p:sp>
      <p:graphicFrame>
        <p:nvGraphicFramePr>
          <p:cNvPr id="790531" name="Object 3"/>
          <p:cNvGraphicFramePr>
            <a:graphicFrameLocks noChangeAspect="1"/>
          </p:cNvGraphicFramePr>
          <p:nvPr/>
        </p:nvGraphicFramePr>
        <p:xfrm>
          <a:off x="2124075" y="2060575"/>
          <a:ext cx="4392613" cy="1897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7842" name="Equation" r:id="rId4" imgW="2095200" imgH="901440" progId="Equation.DSMT4">
                  <p:embed/>
                </p:oleObj>
              </mc:Choice>
              <mc:Fallback>
                <p:oleObj name="Equation" r:id="rId4" imgW="2095200" imgH="901440" progId="Equation.DSMT4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060575"/>
                        <a:ext cx="4392613" cy="1897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7828" name="AutoShape 6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77829" name="Rectangle 7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77830" name="AutoShape 8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77831" name="Rectangle 9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9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9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9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905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9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9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9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905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905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905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905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905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90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90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900" decel="100000" fill="hold"/>
                                        <p:tgtEl>
                                          <p:spTgt spid="790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905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90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790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900" decel="100000" fill="hold"/>
                                        <p:tgtEl>
                                          <p:spTgt spid="790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9053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90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90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900" decel="100000" fill="hold"/>
                                        <p:tgtEl>
                                          <p:spTgt spid="790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9053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49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908050"/>
            <a:ext cx="7848600" cy="50419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>
                <a:solidFill>
                  <a:srgbClr val="CC3300"/>
                </a:solidFill>
              </a:rPr>
              <a:t>我们还可以直接调用</a:t>
            </a:r>
            <a:r>
              <a:rPr lang="en-US" altLang="zh-CN" smtClean="0">
                <a:solidFill>
                  <a:srgbClr val="CC3300"/>
                </a:solidFill>
              </a:rPr>
              <a:t>FFT</a:t>
            </a:r>
            <a:r>
              <a:rPr lang="zh-CN" altLang="en-US" smtClean="0">
                <a:solidFill>
                  <a:srgbClr val="CC3300"/>
                </a:solidFill>
              </a:rPr>
              <a:t>子程序计算</a:t>
            </a:r>
            <a:r>
              <a:rPr lang="en-US" altLang="zh-CN" smtClean="0">
                <a:solidFill>
                  <a:srgbClr val="CC3300"/>
                </a:solidFill>
              </a:rPr>
              <a:t>IFFT</a:t>
            </a:r>
            <a:r>
              <a:rPr lang="en-US" altLang="zh-CN" smtClean="0"/>
              <a:t> </a:t>
            </a:r>
            <a:r>
              <a:rPr lang="zh-CN" altLang="en-US" smtClean="0"/>
              <a:t>：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由于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对上式两边同时取共轭，得到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这样，可以先将</a:t>
            </a:r>
            <a:r>
              <a:rPr lang="en-US" altLang="zh-CN" smtClean="0"/>
              <a:t>X(k)</a:t>
            </a:r>
            <a:r>
              <a:rPr lang="zh-CN" altLang="en-US" smtClean="0"/>
              <a:t>取共轭，然后直接调用</a:t>
            </a:r>
            <a:r>
              <a:rPr lang="en-US" altLang="zh-CN" smtClean="0"/>
              <a:t>FFT</a:t>
            </a:r>
            <a:r>
              <a:rPr lang="zh-CN" altLang="en-US" smtClean="0"/>
              <a:t>子程序，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或者送入</a:t>
            </a:r>
            <a:r>
              <a:rPr lang="en-US" altLang="zh-CN" smtClean="0"/>
              <a:t>FFT</a:t>
            </a:r>
            <a:r>
              <a:rPr lang="zh-CN" altLang="en-US" smtClean="0"/>
              <a:t>专用硬件设备进行</a:t>
            </a:r>
            <a:r>
              <a:rPr lang="en-US" altLang="zh-CN" smtClean="0"/>
              <a:t>FFT</a:t>
            </a:r>
            <a:r>
              <a:rPr lang="zh-CN" altLang="en-US" smtClean="0"/>
              <a:t>运算，最后对</a:t>
            </a:r>
            <a:r>
              <a:rPr lang="en-US" altLang="zh-CN" smtClean="0"/>
              <a:t>FFT</a:t>
            </a:r>
            <a:r>
              <a:rPr lang="zh-CN" altLang="en-US" smtClean="0"/>
              <a:t>结果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取共轭并乘以</a:t>
            </a:r>
            <a:r>
              <a:rPr lang="en-US" altLang="zh-CN" smtClean="0"/>
              <a:t>1/N</a:t>
            </a:r>
            <a:r>
              <a:rPr lang="zh-CN" altLang="en-US" smtClean="0"/>
              <a:t>得到序列</a:t>
            </a:r>
            <a:r>
              <a:rPr lang="en-US" altLang="zh-CN" smtClean="0"/>
              <a:t>x(n)</a:t>
            </a:r>
            <a:r>
              <a:rPr lang="zh-CN" altLang="en-US" smtClean="0"/>
              <a:t>。 </a:t>
            </a:r>
          </a:p>
        </p:txBody>
      </p:sp>
      <p:graphicFrame>
        <p:nvGraphicFramePr>
          <p:cNvPr id="703492" name="Object 4"/>
          <p:cNvGraphicFramePr>
            <a:graphicFrameLocks noChangeAspect="1"/>
          </p:cNvGraphicFramePr>
          <p:nvPr/>
        </p:nvGraphicFramePr>
        <p:xfrm>
          <a:off x="2627313" y="1412875"/>
          <a:ext cx="2663825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88" r:id="rId3" imgW="1282700" imgH="419100" progId="Equation.DSMT4">
                  <p:embed/>
                </p:oleObj>
              </mc:Choice>
              <mc:Fallback>
                <p:oleObj r:id="rId3" imgW="1282700" imgH="4191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1412875"/>
                        <a:ext cx="2663825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3494" name="Object 6"/>
          <p:cNvGraphicFramePr>
            <a:graphicFrameLocks noChangeAspect="1"/>
          </p:cNvGraphicFramePr>
          <p:nvPr/>
        </p:nvGraphicFramePr>
        <p:xfrm>
          <a:off x="2627313" y="2349500"/>
          <a:ext cx="273685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89" r:id="rId5" imgW="1333500" imgH="419100" progId="Equation.DSMT4">
                  <p:embed/>
                </p:oleObj>
              </mc:Choice>
              <mc:Fallback>
                <p:oleObj r:id="rId5" imgW="1333500" imgH="419100" progId="Equation.DSMT4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2349500"/>
                        <a:ext cx="2736850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3496" name="Object 8"/>
          <p:cNvGraphicFramePr>
            <a:graphicFrameLocks noChangeAspect="1"/>
          </p:cNvGraphicFramePr>
          <p:nvPr/>
        </p:nvGraphicFramePr>
        <p:xfrm>
          <a:off x="1908175" y="3500438"/>
          <a:ext cx="5329238" cy="974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8890" r:id="rId7" imgW="2552700" imgH="469900" progId="Equation.DSMT4">
                  <p:embed/>
                </p:oleObj>
              </mc:Choice>
              <mc:Fallback>
                <p:oleObj r:id="rId7" imgW="2552700" imgH="4699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3500438"/>
                        <a:ext cx="5329238" cy="974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8854" name="AutoShape 12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78855" name="Rectangle 13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78856" name="AutoShape 14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78857" name="Rectangle 15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70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0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034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7034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03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0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7" presetClass="entr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27" dur="80"/>
                                        <p:tgtEl>
                                          <p:spTgt spid="70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28" dur="80"/>
                                        <p:tgtEl>
                                          <p:spTgt spid="70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80"/>
                                        <p:tgtEl>
                                          <p:spTgt spid="70349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2" dur="80"/>
                                        <p:tgtEl>
                                          <p:spTgt spid="70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3" dur="80"/>
                                        <p:tgtEl>
                                          <p:spTgt spid="70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4" dur="80"/>
                                        <p:tgtEl>
                                          <p:spTgt spid="70349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7" presetClass="entr" presetSubtype="0" fill="hold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5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discrete" valueType="clr">
                                      <p:cBhvr override="childStyle">
                                        <p:cTn id="37" dur="80"/>
                                        <p:tgtEl>
                                          <p:spTgt spid="70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anim calcmode="discrete" valueType="clr">
                                      <p:cBhvr>
                                        <p:cTn id="38" dur="80"/>
                                        <p:tgtEl>
                                          <p:spTgt spid="70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clrVal>
                                              <a:schemeClr val="accent2"/>
                                            </p:clrVal>
                                          </p:val>
                                        </p:tav>
                                        <p:tav tm="50000">
                                          <p:val>
                                            <p:clrVal>
                                              <a:schemeClr val="hlink"/>
                                            </p:clrVal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9" dur="80"/>
                                        <p:tgtEl>
                                          <p:spTgt spid="70349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549275"/>
            <a:ext cx="6859588" cy="758825"/>
          </a:xfrm>
        </p:spPr>
        <p:txBody>
          <a:bodyPr/>
          <a:lstStyle/>
          <a:p>
            <a:pPr eaLnBrk="1" hangingPunct="1"/>
            <a:r>
              <a:rPr lang="en-US" altLang="zh-CN" smtClean="0"/>
              <a:t>3.5 DFT(FFT)</a:t>
            </a:r>
            <a:r>
              <a:rPr lang="zh-CN" altLang="en-US" smtClean="0"/>
              <a:t>应用举例 </a:t>
            </a:r>
          </a:p>
        </p:txBody>
      </p:sp>
      <p:sp>
        <p:nvSpPr>
          <p:cNvPr id="798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8313" y="1341438"/>
            <a:ext cx="8207375" cy="4267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zh-CN" smtClean="0"/>
              <a:t>DFT</a:t>
            </a:r>
            <a:r>
              <a:rPr lang="zh-CN" altLang="en-US" smtClean="0"/>
              <a:t>因为具有快速算法</a:t>
            </a:r>
            <a:r>
              <a:rPr lang="en-US" altLang="zh-CN" smtClean="0"/>
              <a:t>FFT</a:t>
            </a:r>
            <a:r>
              <a:rPr lang="zh-CN" altLang="en-US" smtClean="0"/>
              <a:t>，应用非常广泛，限于篇幅，这里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仅介绍</a:t>
            </a:r>
            <a:r>
              <a:rPr lang="en-US" altLang="zh-CN" smtClean="0"/>
              <a:t>DFT</a:t>
            </a:r>
            <a:r>
              <a:rPr lang="zh-CN" altLang="en-US" smtClean="0"/>
              <a:t>在线性卷积和频谱分析两方面的应用。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b="1" smtClean="0"/>
              <a:t>本节主要论述：</a:t>
            </a:r>
          </a:p>
          <a:p>
            <a:pPr lvl="1" eaLnBrk="1" hangingPunct="1"/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/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/>
            <a:endParaRPr lang="zh-CN" altLang="en-US" smtClean="0"/>
          </a:p>
        </p:txBody>
      </p:sp>
      <p:sp>
        <p:nvSpPr>
          <p:cNvPr id="79876" name="AutoShape 5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79877" name="Rectangle 6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79878" name="Rectangle 7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611188" y="3357563"/>
            <a:ext cx="76374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p"/>
            </a:pPr>
            <a:r>
              <a:rPr lang="en-US" altLang="zh-CN">
                <a:latin typeface="Arial" panose="020B0604020202020204" pitchFamily="34" charset="0"/>
              </a:rPr>
              <a:t>  3.5.1 </a:t>
            </a:r>
            <a:r>
              <a:rPr lang="zh-CN" altLang="en-US">
                <a:latin typeface="Arial" panose="020B0604020202020204" pitchFamily="34" charset="0"/>
              </a:rPr>
              <a:t>用</a:t>
            </a:r>
            <a:r>
              <a:rPr lang="en-US" altLang="zh-CN">
                <a:latin typeface="Arial" panose="020B0604020202020204" pitchFamily="34" charset="0"/>
              </a:rPr>
              <a:t>DFT</a:t>
            </a:r>
            <a:r>
              <a:rPr lang="zh-CN" altLang="en-US">
                <a:latin typeface="Arial" panose="020B0604020202020204" pitchFamily="34" charset="0"/>
              </a:rPr>
              <a:t>（</a:t>
            </a:r>
            <a:r>
              <a:rPr lang="en-US" altLang="zh-CN">
                <a:latin typeface="Arial" panose="020B0604020202020204" pitchFamily="34" charset="0"/>
              </a:rPr>
              <a:t>FFT</a:t>
            </a:r>
            <a:r>
              <a:rPr lang="zh-CN" altLang="en-US">
                <a:latin typeface="Arial" panose="020B0604020202020204" pitchFamily="34" charset="0"/>
              </a:rPr>
              <a:t>）计算两个有限长序列的线性卷积</a:t>
            </a:r>
          </a:p>
        </p:txBody>
      </p:sp>
      <p:sp>
        <p:nvSpPr>
          <p:cNvPr id="79879" name="Rectangle 8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611188" y="4149725"/>
            <a:ext cx="7689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p"/>
            </a:pPr>
            <a:r>
              <a:rPr lang="en-US" altLang="zh-CN">
                <a:latin typeface="Arial" panose="020B0604020202020204" pitchFamily="34" charset="0"/>
              </a:rPr>
              <a:t>  3.5.2 </a:t>
            </a:r>
            <a:r>
              <a:rPr lang="zh-CN" altLang="en-US">
                <a:latin typeface="Arial" panose="020B0604020202020204" pitchFamily="34" charset="0"/>
              </a:rPr>
              <a:t>用</a:t>
            </a:r>
            <a:r>
              <a:rPr lang="en-US" altLang="zh-CN">
                <a:latin typeface="Arial" panose="020B0604020202020204" pitchFamily="34" charset="0"/>
              </a:rPr>
              <a:t>DFT</a:t>
            </a:r>
            <a:r>
              <a:rPr lang="zh-CN" altLang="en-US">
                <a:latin typeface="Arial" panose="020B0604020202020204" pitchFamily="34" charset="0"/>
              </a:rPr>
              <a:t>计算有限长序列与无限长序列的线性卷积</a:t>
            </a:r>
          </a:p>
        </p:txBody>
      </p:sp>
      <p:sp>
        <p:nvSpPr>
          <p:cNvPr id="79880" name="Rectangle 9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611188" y="4941888"/>
            <a:ext cx="4641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SzPct val="70000"/>
              <a:buFont typeface="Wingdings" panose="05000000000000000000" pitchFamily="2" charset="2"/>
              <a:buChar char="p"/>
            </a:pPr>
            <a:r>
              <a:rPr lang="en-US" altLang="zh-CN">
                <a:latin typeface="Arial" panose="020B0604020202020204" pitchFamily="34" charset="0"/>
              </a:rPr>
              <a:t>  3.5.3 </a:t>
            </a:r>
            <a:r>
              <a:rPr lang="zh-CN" altLang="en-US">
                <a:latin typeface="Arial" panose="020B0604020202020204" pitchFamily="34" charset="0"/>
              </a:rPr>
              <a:t>用</a:t>
            </a:r>
            <a:r>
              <a:rPr lang="en-US" altLang="zh-CN">
                <a:latin typeface="Arial" panose="020B0604020202020204" pitchFamily="34" charset="0"/>
              </a:rPr>
              <a:t>DFT</a:t>
            </a:r>
            <a:r>
              <a:rPr lang="zh-CN" altLang="en-US">
                <a:latin typeface="Arial" panose="020B0604020202020204" pitchFamily="34" charset="0"/>
              </a:rPr>
              <a:t>对序列进行谱分析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>
          <a:xfrm>
            <a:off x="1187450" y="404813"/>
            <a:ext cx="6859588" cy="974725"/>
          </a:xfrm>
        </p:spPr>
        <p:txBody>
          <a:bodyPr/>
          <a:lstStyle/>
          <a:p>
            <a:pPr algn="ctr" eaLnBrk="1" hangingPunct="1"/>
            <a:r>
              <a:rPr lang="en-US" altLang="zh-CN" sz="2800" smtClean="0"/>
              <a:t>3.5.1 </a:t>
            </a:r>
            <a:r>
              <a:rPr lang="zh-CN" altLang="en-US" sz="2800" smtClean="0"/>
              <a:t>用</a:t>
            </a:r>
            <a:r>
              <a:rPr lang="en-US" altLang="zh-CN" sz="2800" smtClean="0"/>
              <a:t>DFT(FFT)</a:t>
            </a:r>
            <a:r>
              <a:rPr lang="zh-CN" altLang="en-US" sz="2800" smtClean="0"/>
              <a:t>计算两个有限长序列的线性卷积</a:t>
            </a:r>
          </a:p>
        </p:txBody>
      </p:sp>
      <p:sp>
        <p:nvSpPr>
          <p:cNvPr id="6471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341438"/>
            <a:ext cx="8135937" cy="48244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  当</a:t>
            </a:r>
            <a:r>
              <a:rPr lang="en-US" altLang="zh-CN" smtClean="0"/>
              <a:t>h(n)</a:t>
            </a:r>
            <a:r>
              <a:rPr lang="zh-CN" altLang="en-US" smtClean="0"/>
              <a:t>或</a:t>
            </a:r>
            <a:r>
              <a:rPr lang="en-US" altLang="zh-CN" smtClean="0"/>
              <a:t>x(n)</a:t>
            </a:r>
            <a:r>
              <a:rPr lang="zh-CN" altLang="en-US" smtClean="0"/>
              <a:t>序列较长时，直接计算线性卷积的时间会很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长，满足不了实时处理的要求。可</a:t>
            </a:r>
            <a:r>
              <a:rPr lang="zh-CN" altLang="en-US" smtClean="0">
                <a:solidFill>
                  <a:srgbClr val="CC3300"/>
                </a:solidFill>
              </a:rPr>
              <a:t>用</a:t>
            </a:r>
            <a:r>
              <a:rPr lang="en-US" altLang="zh-CN" smtClean="0">
                <a:solidFill>
                  <a:srgbClr val="CC3300"/>
                </a:solidFill>
              </a:rPr>
              <a:t>FFT</a:t>
            </a:r>
            <a:r>
              <a:rPr lang="zh-CN" altLang="en-US" smtClean="0">
                <a:solidFill>
                  <a:srgbClr val="CC3300"/>
                </a:solidFill>
              </a:rPr>
              <a:t>将时域卷积变换为</a:t>
            </a:r>
          </a:p>
          <a:p>
            <a:pPr eaLnBrk="1" hangingPunct="1">
              <a:buFontTx/>
              <a:buNone/>
            </a:pPr>
            <a:r>
              <a:rPr lang="zh-CN" altLang="en-US" smtClean="0">
                <a:solidFill>
                  <a:srgbClr val="CC3300"/>
                </a:solidFill>
              </a:rPr>
              <a:t>频域相乘来计算线性卷积，达到快速实时要求</a:t>
            </a:r>
            <a:r>
              <a:rPr lang="zh-CN" altLang="en-US" smtClean="0"/>
              <a:t>。 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 下面求出线性卷积结果和循环卷积结果相等的条件：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 设</a:t>
            </a:r>
            <a:r>
              <a:rPr lang="en-US" altLang="zh-CN" smtClean="0"/>
              <a:t>h(n)</a:t>
            </a:r>
            <a:r>
              <a:rPr lang="zh-CN" altLang="en-US" smtClean="0"/>
              <a:t>长度为</a:t>
            </a:r>
            <a:r>
              <a:rPr lang="en-US" altLang="zh-CN" smtClean="0"/>
              <a:t>N</a:t>
            </a:r>
            <a:r>
              <a:rPr lang="zh-CN" altLang="en-US" smtClean="0"/>
              <a:t>，</a:t>
            </a:r>
            <a:r>
              <a:rPr lang="en-US" altLang="zh-CN" smtClean="0"/>
              <a:t>x(n)</a:t>
            </a:r>
            <a:r>
              <a:rPr lang="zh-CN" altLang="en-US" smtClean="0"/>
              <a:t>长度为</a:t>
            </a:r>
            <a:r>
              <a:rPr lang="en-US" altLang="zh-CN" smtClean="0"/>
              <a:t>M</a:t>
            </a:r>
            <a:r>
              <a:rPr lang="zh-CN" altLang="en-US" smtClean="0"/>
              <a:t>，</a:t>
            </a:r>
            <a:r>
              <a:rPr lang="en-US" altLang="zh-CN" smtClean="0"/>
              <a:t>y</a:t>
            </a:r>
            <a:r>
              <a:rPr lang="en-US" altLang="zh-CN" baseline="-25000" smtClean="0"/>
              <a:t>c</a:t>
            </a:r>
            <a:r>
              <a:rPr lang="en-US" altLang="zh-CN" smtClean="0"/>
              <a:t>(n)</a:t>
            </a:r>
            <a:r>
              <a:rPr lang="zh-CN" altLang="en-US" smtClean="0"/>
              <a:t>和</a:t>
            </a:r>
            <a:r>
              <a:rPr lang="en-US" altLang="zh-CN" smtClean="0"/>
              <a:t>y(n)</a:t>
            </a:r>
            <a:r>
              <a:rPr lang="zh-CN" altLang="en-US" smtClean="0"/>
              <a:t>分别表示</a:t>
            </a:r>
            <a:r>
              <a:rPr lang="en-US" altLang="zh-CN" smtClean="0"/>
              <a:t>h(n)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与</a:t>
            </a:r>
            <a:r>
              <a:rPr lang="en-US" altLang="zh-CN" smtClean="0"/>
              <a:t>x(n)</a:t>
            </a:r>
            <a:r>
              <a:rPr lang="zh-CN" altLang="en-US" smtClean="0"/>
              <a:t>的</a:t>
            </a:r>
            <a:r>
              <a:rPr lang="en-US" altLang="zh-CN" smtClean="0"/>
              <a:t>L</a:t>
            </a:r>
            <a:r>
              <a:rPr lang="zh-CN" altLang="en-US" smtClean="0"/>
              <a:t>点循环卷积和线性卷积，          ，有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</p:txBody>
      </p:sp>
      <p:graphicFrame>
        <p:nvGraphicFramePr>
          <p:cNvPr id="647172" name="Object 4"/>
          <p:cNvGraphicFramePr>
            <a:graphicFrameLocks noChangeAspect="1"/>
          </p:cNvGraphicFramePr>
          <p:nvPr/>
        </p:nvGraphicFramePr>
        <p:xfrm>
          <a:off x="5292725" y="3573463"/>
          <a:ext cx="1728788" cy="428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56" r:id="rId3" imgW="888614" imgH="215806" progId="Equation.3">
                  <p:embed/>
                </p:oleObj>
              </mc:Choice>
              <mc:Fallback>
                <p:oleObj r:id="rId3" imgW="888614" imgH="21580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573463"/>
                        <a:ext cx="1728788" cy="428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1" name="Rectangle 7"/>
          <p:cNvSpPr>
            <a:spLocks noChangeArrowheads="1"/>
          </p:cNvSpPr>
          <p:nvPr/>
        </p:nvSpPr>
        <p:spPr bwMode="auto">
          <a:xfrm>
            <a:off x="0" y="33289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47174" name="Object 6"/>
          <p:cNvGraphicFramePr>
            <a:graphicFrameLocks noChangeAspect="1"/>
          </p:cNvGraphicFramePr>
          <p:nvPr/>
        </p:nvGraphicFramePr>
        <p:xfrm>
          <a:off x="1042988" y="4221163"/>
          <a:ext cx="1727200" cy="498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57" r:id="rId5" imgW="698197" imgH="203112" progId="Equation.3">
                  <p:embed/>
                </p:oleObj>
              </mc:Choice>
              <mc:Fallback>
                <p:oleObj r:id="rId5" imgW="698197" imgH="20311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4221163"/>
                        <a:ext cx="1727200" cy="498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3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47176" name="Object 8"/>
          <p:cNvGraphicFramePr>
            <a:graphicFrameLocks noChangeAspect="1"/>
          </p:cNvGraphicFramePr>
          <p:nvPr/>
        </p:nvGraphicFramePr>
        <p:xfrm>
          <a:off x="3203575" y="4005263"/>
          <a:ext cx="4176713" cy="982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58" r:id="rId7" imgW="1778000" imgH="419100" progId="Equation.DSMT4">
                  <p:embed/>
                </p:oleObj>
              </mc:Choice>
              <mc:Fallback>
                <p:oleObj r:id="rId7" imgW="1778000" imgH="419100" progId="Equation.DSMT4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4005263"/>
                        <a:ext cx="4176713" cy="9826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0905" name="Rectangle 12"/>
          <p:cNvSpPr>
            <a:spLocks noChangeArrowheads="1"/>
          </p:cNvSpPr>
          <p:nvPr/>
        </p:nvSpPr>
        <p:spPr bwMode="auto">
          <a:xfrm>
            <a:off x="0" y="32194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647179" name="Object 11"/>
          <p:cNvGraphicFramePr>
            <a:graphicFrameLocks noChangeAspect="1"/>
          </p:cNvGraphicFramePr>
          <p:nvPr/>
        </p:nvGraphicFramePr>
        <p:xfrm>
          <a:off x="1692275" y="5013325"/>
          <a:ext cx="4176713" cy="868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0959" r:id="rId9" imgW="2019300" imgH="419100" progId="Equation.3">
                  <p:embed/>
                </p:oleObj>
              </mc:Choice>
              <mc:Fallback>
                <p:oleObj r:id="rId9" imgW="2019300" imgH="4191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5013325"/>
                        <a:ext cx="4176713" cy="868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7181" name="Text Box 13"/>
          <p:cNvSpPr txBox="1">
            <a:spLocks noChangeArrowheads="1"/>
          </p:cNvSpPr>
          <p:nvPr/>
        </p:nvSpPr>
        <p:spPr bwMode="auto">
          <a:xfrm>
            <a:off x="7524750" y="4292600"/>
            <a:ext cx="1065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(3.5.1)</a:t>
            </a:r>
          </a:p>
        </p:txBody>
      </p:sp>
      <p:sp>
        <p:nvSpPr>
          <p:cNvPr id="647182" name="Text Box 14"/>
          <p:cNvSpPr txBox="1">
            <a:spLocks noChangeArrowheads="1"/>
          </p:cNvSpPr>
          <p:nvPr/>
        </p:nvSpPr>
        <p:spPr bwMode="auto">
          <a:xfrm>
            <a:off x="7504113" y="5248275"/>
            <a:ext cx="1065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(3.5.2)</a:t>
            </a:r>
          </a:p>
        </p:txBody>
      </p:sp>
      <p:grpSp>
        <p:nvGrpSpPr>
          <p:cNvPr id="647186" name="Group 18"/>
          <p:cNvGrpSpPr>
            <a:grpSpLocks/>
          </p:cNvGrpSpPr>
          <p:nvPr/>
        </p:nvGrpSpPr>
        <p:grpSpPr bwMode="auto">
          <a:xfrm>
            <a:off x="2771775" y="4292600"/>
            <a:ext cx="431800" cy="431800"/>
            <a:chOff x="2064" y="3294"/>
            <a:chExt cx="272" cy="272"/>
          </a:xfrm>
        </p:grpSpPr>
        <p:sp>
          <p:nvSpPr>
            <p:cNvPr id="80914" name="Oval 19"/>
            <p:cNvSpPr>
              <a:spLocks noChangeArrowheads="1"/>
            </p:cNvSpPr>
            <p:nvPr/>
          </p:nvSpPr>
          <p:spPr bwMode="auto">
            <a:xfrm>
              <a:off x="2064" y="3294"/>
              <a:ext cx="272" cy="272"/>
            </a:xfrm>
            <a:prstGeom prst="ellipse">
              <a:avLst/>
            </a:prstGeom>
            <a:noFill/>
            <a:ln w="19050" algn="ctr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endParaRPr lang="zh-CN" altLang="en-US" sz="2800">
                <a:solidFill>
                  <a:schemeClr val="tx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0915" name="Text Box 20"/>
            <p:cNvSpPr txBox="1">
              <a:spLocks noChangeArrowheads="1"/>
            </p:cNvSpPr>
            <p:nvPr/>
          </p:nvSpPr>
          <p:spPr bwMode="auto">
            <a:xfrm>
              <a:off x="2109" y="3294"/>
              <a:ext cx="181" cy="2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24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2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0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lang="en-US" altLang="zh-CN" sz="2000">
                  <a:solidFill>
                    <a:schemeClr val="tx1"/>
                  </a:solidFill>
                  <a:latin typeface="Arial" panose="020B0604020202020204" pitchFamily="34" charset="0"/>
                </a:rPr>
                <a:t>L</a:t>
              </a:r>
            </a:p>
          </p:txBody>
        </p:sp>
      </p:grpSp>
      <p:sp>
        <p:nvSpPr>
          <p:cNvPr id="80910" name="AutoShape 21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80911" name="Rectangle 22">
            <a:hlinkClick r:id="rId11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80912" name="AutoShape 23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80913" name="Rectangle 24">
            <a:hlinkClick r:id="rId12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4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4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64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6471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471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6471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647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47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647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647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647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647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647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7181" grpId="0"/>
      <p:bldP spid="647182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6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341438"/>
            <a:ext cx="7848600" cy="47529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在式</a:t>
            </a:r>
            <a:r>
              <a:rPr lang="en-US" altLang="zh-CN" smtClean="0"/>
              <a:t>(3.5.1)</a:t>
            </a:r>
            <a:r>
              <a:rPr lang="zh-CN" altLang="en-US" smtClean="0"/>
              <a:t>中 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因此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将上式与式</a:t>
            </a:r>
            <a:r>
              <a:rPr lang="en-US" altLang="zh-CN" smtClean="0"/>
              <a:t>(3.5.2)</a:t>
            </a:r>
            <a:r>
              <a:rPr lang="zh-CN" altLang="en-US" smtClean="0"/>
              <a:t>对比，方括号部分就是移位</a:t>
            </a:r>
            <a:r>
              <a:rPr lang="en-US" altLang="zh-CN" smtClean="0"/>
              <a:t>iL</a:t>
            </a:r>
            <a:r>
              <a:rPr lang="zh-CN" altLang="en-US" smtClean="0"/>
              <a:t>的线性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卷积        ，因此得到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</p:txBody>
      </p:sp>
      <p:graphicFrame>
        <p:nvGraphicFramePr>
          <p:cNvPr id="710660" name="Object 4"/>
          <p:cNvGraphicFramePr>
            <a:graphicFrameLocks noChangeAspect="1"/>
          </p:cNvGraphicFramePr>
          <p:nvPr/>
        </p:nvGraphicFramePr>
        <p:xfrm>
          <a:off x="3132138" y="1196975"/>
          <a:ext cx="3527425" cy="885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5" r:id="rId3" imgW="1663700" imgH="419100" progId="Equation.3">
                  <p:embed/>
                </p:oleObj>
              </mc:Choice>
              <mc:Fallback>
                <p:oleObj r:id="rId3" imgW="16637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1196975"/>
                        <a:ext cx="3527425" cy="885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0662" name="Object 6"/>
          <p:cNvGraphicFramePr>
            <a:graphicFrameLocks noChangeAspect="1"/>
          </p:cNvGraphicFramePr>
          <p:nvPr/>
        </p:nvGraphicFramePr>
        <p:xfrm>
          <a:off x="2124075" y="2133600"/>
          <a:ext cx="4681538" cy="919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6" r:id="rId5" imgW="2133600" imgH="419100" progId="Equation.3">
                  <p:embed/>
                </p:oleObj>
              </mc:Choice>
              <mc:Fallback>
                <p:oleObj r:id="rId5" imgW="21336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2133600"/>
                        <a:ext cx="4681538" cy="919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0664" name="Object 8"/>
          <p:cNvGraphicFramePr>
            <a:graphicFrameLocks noChangeAspect="1"/>
          </p:cNvGraphicFramePr>
          <p:nvPr/>
        </p:nvGraphicFramePr>
        <p:xfrm>
          <a:off x="2843213" y="3068638"/>
          <a:ext cx="4321175" cy="981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7" r:id="rId7" imgW="1968500" imgH="444500" progId="Equation.3">
                  <p:embed/>
                </p:oleObj>
              </mc:Choice>
              <mc:Fallback>
                <p:oleObj r:id="rId7" imgW="1968500" imgH="4445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3068638"/>
                        <a:ext cx="4321175" cy="981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0666" name="Object 10"/>
          <p:cNvGraphicFramePr>
            <a:graphicFrameLocks noChangeAspect="1"/>
          </p:cNvGraphicFramePr>
          <p:nvPr/>
        </p:nvGraphicFramePr>
        <p:xfrm>
          <a:off x="1476375" y="4437063"/>
          <a:ext cx="1223963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8" r:id="rId9" imgW="520474" imgH="190417" progId="Equation.3">
                  <p:embed/>
                </p:oleObj>
              </mc:Choice>
              <mc:Fallback>
                <p:oleObj r:id="rId9" imgW="520474" imgH="190417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4437063"/>
                        <a:ext cx="1223963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0668" name="Object 12"/>
          <p:cNvGraphicFramePr>
            <a:graphicFrameLocks noChangeAspect="1"/>
          </p:cNvGraphicFramePr>
          <p:nvPr/>
        </p:nvGraphicFramePr>
        <p:xfrm>
          <a:off x="2987675" y="4868863"/>
          <a:ext cx="3240088" cy="931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1989" r:id="rId11" imgW="1460500" imgH="419100" progId="Equation.3">
                  <p:embed/>
                </p:oleObj>
              </mc:Choice>
              <mc:Fallback>
                <p:oleObj r:id="rId11" imgW="1460500" imgH="419100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87675" y="4868863"/>
                        <a:ext cx="3240088" cy="931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10670" name="Text Box 14"/>
          <p:cNvSpPr txBox="1">
            <a:spLocks noChangeArrowheads="1"/>
          </p:cNvSpPr>
          <p:nvPr/>
        </p:nvSpPr>
        <p:spPr bwMode="auto">
          <a:xfrm>
            <a:off x="7380288" y="5084763"/>
            <a:ext cx="1065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(3.5.5)</a:t>
            </a:r>
          </a:p>
        </p:txBody>
      </p:sp>
      <p:sp>
        <p:nvSpPr>
          <p:cNvPr id="710671" name="Text Box 15"/>
          <p:cNvSpPr txBox="1">
            <a:spLocks noChangeArrowheads="1"/>
          </p:cNvSpPr>
          <p:nvPr/>
        </p:nvSpPr>
        <p:spPr bwMode="auto">
          <a:xfrm>
            <a:off x="7380288" y="1412875"/>
            <a:ext cx="1065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(3.5.3)</a:t>
            </a:r>
          </a:p>
        </p:txBody>
      </p:sp>
      <p:sp>
        <p:nvSpPr>
          <p:cNvPr id="710672" name="Text Box 16"/>
          <p:cNvSpPr txBox="1">
            <a:spLocks noChangeArrowheads="1"/>
          </p:cNvSpPr>
          <p:nvPr/>
        </p:nvSpPr>
        <p:spPr bwMode="auto">
          <a:xfrm>
            <a:off x="7380288" y="3284538"/>
            <a:ext cx="1065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>
                <a:latin typeface="Arial" panose="020B0604020202020204" pitchFamily="34" charset="0"/>
              </a:rPr>
              <a:t>(3.5.4)</a:t>
            </a:r>
          </a:p>
        </p:txBody>
      </p:sp>
      <p:sp>
        <p:nvSpPr>
          <p:cNvPr id="81931" name="AutoShape 19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81932" name="Rectangle 20">
            <a:hlinkClick r:id="rId13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81933" name="AutoShape 21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81934" name="Rectangle 22">
            <a:hlinkClick r:id="rId14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06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106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106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106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106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106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106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8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71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7106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8" presetClass="entr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1066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106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106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710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48" presetClass="entr" presetSubtype="0" ac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1066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106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106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10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71067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106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106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7106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1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1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900" decel="100000" fill="hold"/>
                                        <p:tgtEl>
                                          <p:spTgt spid="71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1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1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900" decel="100000" fill="hold"/>
                                        <p:tgtEl>
                                          <p:spTgt spid="71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106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71066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7106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900" decel="100000" fill="hold"/>
                                        <p:tgtEl>
                                          <p:spTgt spid="710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106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3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71066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71066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900" decel="100000" fill="hold"/>
                                        <p:tgtEl>
                                          <p:spTgt spid="710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1066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06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7106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7106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900" decel="100000" fill="hold"/>
                                        <p:tgtEl>
                                          <p:spTgt spid="710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7106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0670" grpId="0"/>
      <p:bldP spid="710671" grpId="0"/>
      <p:bldP spid="710672" grpId="0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68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55650" y="765175"/>
            <a:ext cx="7632700" cy="374332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  式</a:t>
            </a:r>
            <a:r>
              <a:rPr lang="en-US" altLang="zh-CN" smtClean="0"/>
              <a:t>(3.5.5)</a:t>
            </a:r>
            <a:r>
              <a:rPr lang="zh-CN" altLang="en-US" smtClean="0"/>
              <a:t>说明，</a:t>
            </a:r>
            <a:r>
              <a:rPr lang="en-US" altLang="zh-CN" smtClean="0">
                <a:solidFill>
                  <a:srgbClr val="FF0000"/>
                </a:solidFill>
              </a:rPr>
              <a:t>L</a:t>
            </a:r>
            <a:r>
              <a:rPr lang="zh-CN" altLang="en-US" smtClean="0">
                <a:solidFill>
                  <a:srgbClr val="FF0000"/>
                </a:solidFill>
              </a:rPr>
              <a:t>点循环卷积</a:t>
            </a:r>
            <a:r>
              <a:rPr lang="en-US" altLang="zh-CN" smtClean="0">
                <a:solidFill>
                  <a:srgbClr val="FF0000"/>
                </a:solidFill>
              </a:rPr>
              <a:t>y</a:t>
            </a:r>
            <a:r>
              <a:rPr lang="en-US" altLang="zh-CN" baseline="-25000" smtClean="0">
                <a:solidFill>
                  <a:srgbClr val="FF0000"/>
                </a:solidFill>
              </a:rPr>
              <a:t>c</a:t>
            </a:r>
            <a:r>
              <a:rPr lang="en-US" altLang="zh-CN" smtClean="0">
                <a:solidFill>
                  <a:srgbClr val="FF0000"/>
                </a:solidFill>
              </a:rPr>
              <a:t>(n)</a:t>
            </a:r>
            <a:r>
              <a:rPr lang="zh-CN" altLang="en-US" smtClean="0">
                <a:solidFill>
                  <a:srgbClr val="FF0000"/>
                </a:solidFill>
              </a:rPr>
              <a:t>等于线性卷积</a:t>
            </a:r>
            <a:r>
              <a:rPr lang="en-US" altLang="zh-CN" smtClean="0">
                <a:solidFill>
                  <a:srgbClr val="FF0000"/>
                </a:solidFill>
              </a:rPr>
              <a:t>y(n)</a:t>
            </a:r>
          </a:p>
          <a:p>
            <a:pPr eaLnBrk="1" hangingPunct="1">
              <a:buFontTx/>
              <a:buNone/>
            </a:pPr>
            <a:r>
              <a:rPr lang="zh-CN" altLang="en-US" smtClean="0">
                <a:solidFill>
                  <a:srgbClr val="FF0000"/>
                </a:solidFill>
              </a:rPr>
              <a:t>以</a:t>
            </a:r>
            <a:r>
              <a:rPr lang="en-US" altLang="zh-CN" smtClean="0">
                <a:solidFill>
                  <a:srgbClr val="FF0000"/>
                </a:solidFill>
              </a:rPr>
              <a:t>L</a:t>
            </a:r>
            <a:r>
              <a:rPr lang="zh-CN" altLang="en-US" smtClean="0">
                <a:solidFill>
                  <a:srgbClr val="FF0000"/>
                </a:solidFill>
              </a:rPr>
              <a:t>为周期的周期延拓序列的主值序列。</a:t>
            </a:r>
          </a:p>
          <a:p>
            <a:pPr eaLnBrk="1" hangingPunct="1">
              <a:buFontTx/>
              <a:buNone/>
            </a:pPr>
            <a:endParaRPr lang="en-US" altLang="zh-CN" smtClean="0"/>
          </a:p>
          <a:p>
            <a:pPr eaLnBrk="1" hangingPunct="1">
              <a:buFontTx/>
              <a:buNone/>
            </a:pPr>
            <a:r>
              <a:rPr lang="zh-CN" altLang="en-US" smtClean="0"/>
              <a:t>  由于</a:t>
            </a:r>
            <a:r>
              <a:rPr lang="en-US" altLang="zh-CN" smtClean="0"/>
              <a:t>y(n)</a:t>
            </a:r>
            <a:r>
              <a:rPr lang="zh-CN" altLang="en-US" smtClean="0"/>
              <a:t>长度为</a:t>
            </a:r>
            <a:r>
              <a:rPr lang="en-US" altLang="zh-CN" smtClean="0"/>
              <a:t>N+M-1</a:t>
            </a:r>
            <a:r>
              <a:rPr lang="zh-CN" altLang="en-US" smtClean="0"/>
              <a:t>，所以，只有当</a:t>
            </a:r>
            <a:r>
              <a:rPr lang="en-US" altLang="zh-CN" smtClean="0"/>
              <a:t>L≥N+M-1</a:t>
            </a:r>
            <a:r>
              <a:rPr lang="zh-CN" altLang="en-US" smtClean="0"/>
              <a:t>时，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式</a:t>
            </a:r>
            <a:r>
              <a:rPr lang="en-US" altLang="zh-CN" smtClean="0"/>
              <a:t>(3.5.5)</a:t>
            </a:r>
            <a:r>
              <a:rPr lang="zh-CN" altLang="en-US" smtClean="0"/>
              <a:t>给出的周期延拓无混叠，才能使</a:t>
            </a:r>
            <a:r>
              <a:rPr lang="en-US" altLang="zh-CN" smtClean="0"/>
              <a:t>y</a:t>
            </a:r>
            <a:r>
              <a:rPr lang="en-US" altLang="zh-CN" baseline="-25000" smtClean="0"/>
              <a:t>c</a:t>
            </a:r>
            <a:r>
              <a:rPr lang="en-US" altLang="zh-CN" smtClean="0"/>
              <a:t>(n)=y(n)</a:t>
            </a:r>
            <a:r>
              <a:rPr lang="zh-CN" altLang="en-US" smtClean="0"/>
              <a:t>。</a:t>
            </a:r>
          </a:p>
          <a:p>
            <a:pPr eaLnBrk="1" hangingPunct="1">
              <a:buFontTx/>
              <a:buNone/>
            </a:pPr>
            <a:endParaRPr lang="en-US" altLang="zh-CN" smtClean="0"/>
          </a:p>
          <a:p>
            <a:pPr eaLnBrk="1" hangingPunct="1">
              <a:buFontTx/>
              <a:buNone/>
            </a:pPr>
            <a:r>
              <a:rPr lang="en-US" altLang="zh-CN" b="1" smtClean="0"/>
              <a:t>  L≥N+M-1</a:t>
            </a:r>
            <a:r>
              <a:rPr lang="zh-CN" altLang="en-US" b="1" smtClean="0"/>
              <a:t>是循环卷积结果和线性卷积结果相等的重要</a:t>
            </a:r>
          </a:p>
          <a:p>
            <a:pPr eaLnBrk="1" hangingPunct="1">
              <a:buFontTx/>
              <a:buNone/>
            </a:pPr>
            <a:r>
              <a:rPr lang="zh-CN" altLang="en-US" b="1" smtClean="0"/>
              <a:t>条件</a:t>
            </a:r>
            <a:r>
              <a:rPr lang="zh-CN" altLang="en-US" smtClean="0"/>
              <a:t>。只要满足该条件，就可以用下图计算线性卷积。</a:t>
            </a:r>
            <a:r>
              <a:rPr lang="zh-CN" altLang="en-US" sz="2000" smtClean="0"/>
              <a:t> </a:t>
            </a:r>
          </a:p>
        </p:txBody>
      </p:sp>
      <p:graphicFrame>
        <p:nvGraphicFramePr>
          <p:cNvPr id="711688" name="Object 8"/>
          <p:cNvGraphicFramePr>
            <a:graphicFrameLocks noGrp="1" noChangeAspect="1"/>
          </p:cNvGraphicFramePr>
          <p:nvPr>
            <p:ph sz="half" idx="2"/>
          </p:nvPr>
        </p:nvGraphicFramePr>
        <p:xfrm>
          <a:off x="1619250" y="4437063"/>
          <a:ext cx="5976938" cy="166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962" name="Visio" r:id="rId3" imgW="5953049" imgH="1661160" progId="Visio.Drawing.11">
                  <p:embed/>
                </p:oleObj>
              </mc:Choice>
              <mc:Fallback>
                <p:oleObj name="Visio" r:id="rId3" imgW="5953049" imgH="1661160" progId="Visio.Drawing.11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250" y="4437063"/>
                        <a:ext cx="5976938" cy="166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948" name="AutoShape 11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82949" name="Rectangle 12">
            <a:hlinkClick r:id="rId5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82950" name="AutoShape 13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82951" name="Rectangle 14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16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1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1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116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7116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71168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71168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71168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1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7116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>
          <a:xfrm>
            <a:off x="1258888" y="1412875"/>
            <a:ext cx="6859587" cy="615950"/>
          </a:xfrm>
        </p:spPr>
        <p:txBody>
          <a:bodyPr/>
          <a:lstStyle/>
          <a:p>
            <a:pPr eaLnBrk="1" hangingPunct="1"/>
            <a:r>
              <a:rPr lang="zh-CN" altLang="en-US" sz="2800" smtClean="0"/>
              <a:t>循环卷积计算线性卷积的运算量：</a:t>
            </a:r>
          </a:p>
        </p:txBody>
      </p:sp>
      <p:sp>
        <p:nvSpPr>
          <p:cNvPr id="766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42988" y="2924175"/>
            <a:ext cx="6859587" cy="2722563"/>
          </a:xfrm>
        </p:spPr>
        <p:txBody>
          <a:bodyPr/>
          <a:lstStyle/>
          <a:p>
            <a:pPr eaLnBrk="1" hangingPunct="1">
              <a:buClr>
                <a:srgbClr val="CC330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mtClean="0"/>
              <a:t>  小于直接计算线性卷积的运算量</a:t>
            </a:r>
          </a:p>
          <a:p>
            <a:pPr eaLnBrk="1" hangingPunct="1">
              <a:buClr>
                <a:srgbClr val="CC3300"/>
              </a:buClr>
              <a:buSzPct val="75000"/>
              <a:buFont typeface="Wingdings" panose="05000000000000000000" pitchFamily="2" charset="2"/>
              <a:buChar char="u"/>
            </a:pPr>
            <a:endParaRPr lang="zh-CN" altLang="en-US" smtClean="0"/>
          </a:p>
          <a:p>
            <a:pPr eaLnBrk="1" hangingPunct="1">
              <a:buClr>
                <a:srgbClr val="CC330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mtClean="0"/>
              <a:t>                可预先计算并存储，乘法的 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zh-CN" altLang="en-US" smtClean="0"/>
              <a:t>    运算次数可降低：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zh-CN" altLang="en-US" smtClean="0"/>
          </a:p>
          <a:p>
            <a:pPr eaLnBrk="1" hangingPunct="1">
              <a:buClr>
                <a:srgbClr val="CC3300"/>
              </a:buClr>
              <a:buSzPct val="75000"/>
              <a:buFont typeface="Wingdings" panose="05000000000000000000" pitchFamily="2" charset="2"/>
              <a:buChar char="u"/>
            </a:pPr>
            <a:r>
              <a:rPr lang="zh-CN" altLang="en-US" smtClean="0"/>
              <a:t>  又称</a:t>
            </a:r>
            <a:r>
              <a:rPr lang="zh-CN" altLang="en-US" b="1" smtClean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快速卷积法</a:t>
            </a:r>
          </a:p>
        </p:txBody>
      </p:sp>
      <p:graphicFrame>
        <p:nvGraphicFramePr>
          <p:cNvPr id="83972" name="Object 4"/>
          <p:cNvGraphicFramePr>
            <a:graphicFrameLocks noChangeAspect="1"/>
          </p:cNvGraphicFramePr>
          <p:nvPr/>
        </p:nvGraphicFramePr>
        <p:xfrm>
          <a:off x="3059113" y="2205038"/>
          <a:ext cx="1871662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09" name="Equation" r:id="rId3" imgW="774028" imgH="177646" progId="Equation.DSMT4">
                  <p:embed/>
                </p:oleObj>
              </mc:Choice>
              <mc:Fallback>
                <p:oleObj name="Equation" r:id="rId3" imgW="774028" imgH="177646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205038"/>
                        <a:ext cx="1871662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6981" name="Object 5"/>
          <p:cNvGraphicFramePr>
            <a:graphicFrameLocks noChangeAspect="1"/>
          </p:cNvGraphicFramePr>
          <p:nvPr/>
        </p:nvGraphicFramePr>
        <p:xfrm>
          <a:off x="4068763" y="4278313"/>
          <a:ext cx="2087562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10" name="Equation" r:id="rId5" imgW="1016000" imgH="228600" progId="Equation.DSMT4">
                  <p:embed/>
                </p:oleObj>
              </mc:Choice>
              <mc:Fallback>
                <p:oleObj name="Equation" r:id="rId5" imgW="1016000" imgH="228600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68763" y="4278313"/>
                        <a:ext cx="2087562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6983" name="Object 7"/>
          <p:cNvGraphicFramePr>
            <a:graphicFrameLocks noChangeAspect="1"/>
          </p:cNvGraphicFramePr>
          <p:nvPr/>
        </p:nvGraphicFramePr>
        <p:xfrm>
          <a:off x="1692275" y="3917950"/>
          <a:ext cx="21590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4011" name="Equation" r:id="rId7" imgW="1193800" imgH="203200" progId="Equation.DSMT4">
                  <p:embed/>
                </p:oleObj>
              </mc:Choice>
              <mc:Fallback>
                <p:oleObj name="Equation" r:id="rId7" imgW="1193800" imgH="203200" progId="Equation.DSMT4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3917950"/>
                        <a:ext cx="21590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5" name="AutoShape 8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83976" name="Rectangle 9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83977" name="AutoShape 10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83978" name="Rectangle 11">
            <a:hlinkClick r:id="rId10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69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76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6697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6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6697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6698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6698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7669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7669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6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6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669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1476375" y="692150"/>
            <a:ext cx="1008063" cy="493713"/>
          </a:xfrm>
        </p:spPr>
        <p:txBody>
          <a:bodyPr/>
          <a:lstStyle/>
          <a:p>
            <a:pPr eaLnBrk="1" hangingPunct="1"/>
            <a:r>
              <a:rPr lang="zh-CN" altLang="en-US" sz="2400" smtClean="0"/>
              <a:t>例</a:t>
            </a:r>
            <a:r>
              <a:rPr lang="en-US" altLang="zh-CN" sz="2400" smtClean="0"/>
              <a:t>3.4</a:t>
            </a:r>
            <a:endParaRPr lang="zh-CN" altLang="en-US" sz="2400" smtClean="0"/>
          </a:p>
        </p:txBody>
      </p:sp>
      <p:graphicFrame>
        <p:nvGraphicFramePr>
          <p:cNvPr id="84995" name="Object 4"/>
          <p:cNvGraphicFramePr>
            <a:graphicFrameLocks noChangeAspect="1"/>
          </p:cNvGraphicFramePr>
          <p:nvPr/>
        </p:nvGraphicFramePr>
        <p:xfrm>
          <a:off x="2771775" y="692150"/>
          <a:ext cx="432117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23" name="Equation" r:id="rId3" imgW="1663700" imgH="228600" progId="Equation.DSMT4">
                  <p:embed/>
                </p:oleObj>
              </mc:Choice>
              <mc:Fallback>
                <p:oleObj name="Equation" r:id="rId3" imgW="1663700" imgH="228600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692150"/>
                        <a:ext cx="432117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4996" name="Object 5"/>
          <p:cNvGraphicFramePr>
            <a:graphicFrameLocks noChangeAspect="1"/>
          </p:cNvGraphicFramePr>
          <p:nvPr/>
        </p:nvGraphicFramePr>
        <p:xfrm>
          <a:off x="2916238" y="1196975"/>
          <a:ext cx="2879725" cy="5222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5024" name="Equation" r:id="rId5" imgW="1117115" imgH="203112" progId="Equation.DSMT4">
                  <p:embed/>
                </p:oleObj>
              </mc:Choice>
              <mc:Fallback>
                <p:oleObj name="Equation" r:id="rId5" imgW="1117115" imgH="203112" progId="Equation.DSMT4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1196975"/>
                        <a:ext cx="2879725" cy="5222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69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628775"/>
            <a:ext cx="6694487" cy="4895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4998" name="Rectangle 7"/>
          <p:cNvSpPr>
            <a:spLocks noChangeArrowheads="1"/>
          </p:cNvSpPr>
          <p:nvPr/>
        </p:nvSpPr>
        <p:spPr bwMode="auto">
          <a:xfrm>
            <a:off x="2411413" y="1196975"/>
            <a:ext cx="4905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b="1">
                <a:latin typeface="Arial" panose="020B0604020202020204" pitchFamily="34" charset="0"/>
              </a:rPr>
              <a:t>求</a:t>
            </a:r>
          </a:p>
        </p:txBody>
      </p:sp>
      <p:sp>
        <p:nvSpPr>
          <p:cNvPr id="84999" name="AutoShape 8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85000" name="Rectangle 9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85001" name="AutoShape 10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85002" name="Rectangle 11">
            <a:hlinkClick r:id="rId9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9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690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>
          <a:xfrm>
            <a:off x="1116013" y="476250"/>
            <a:ext cx="6859587" cy="1143000"/>
          </a:xfrm>
        </p:spPr>
        <p:txBody>
          <a:bodyPr/>
          <a:lstStyle/>
          <a:p>
            <a:pPr algn="ctr" eaLnBrk="1" hangingPunct="1"/>
            <a:r>
              <a:rPr lang="en-US" altLang="zh-CN" sz="2800" smtClean="0"/>
              <a:t>3.5.2 </a:t>
            </a:r>
            <a:r>
              <a:rPr lang="zh-CN" altLang="en-US" sz="2800" smtClean="0"/>
              <a:t>用</a:t>
            </a:r>
            <a:r>
              <a:rPr lang="en-US" altLang="zh-CN" sz="2800" smtClean="0"/>
              <a:t>DFT</a:t>
            </a:r>
            <a:r>
              <a:rPr lang="zh-CN" altLang="en-US" sz="2800" smtClean="0"/>
              <a:t>计算有限长序列与无限长序列的线性卷积</a:t>
            </a:r>
            <a:r>
              <a:rPr lang="zh-CN" altLang="en-US" smtClean="0"/>
              <a:t> </a:t>
            </a:r>
          </a:p>
        </p:txBody>
      </p:sp>
      <p:sp>
        <p:nvSpPr>
          <p:cNvPr id="64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1773238"/>
            <a:ext cx="8064500" cy="41036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smtClean="0"/>
              <a:t>用</a:t>
            </a:r>
            <a:r>
              <a:rPr lang="en-US" altLang="zh-CN" b="1" smtClean="0"/>
              <a:t>FFT</a:t>
            </a:r>
            <a:r>
              <a:rPr lang="zh-CN" altLang="en-US" b="1" smtClean="0"/>
              <a:t>计算有限长序列与无限长序列的线性卷积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mtClean="0"/>
              <a:t>  问题： </a:t>
            </a:r>
            <a:r>
              <a:rPr lang="en-US" altLang="zh-CN" smtClean="0"/>
              <a:t>·h(n) </a:t>
            </a:r>
            <a:r>
              <a:rPr lang="zh-CN" altLang="en-US" smtClean="0"/>
              <a:t>为某滤波器的单位脉冲响应</a:t>
            </a:r>
            <a:r>
              <a:rPr lang="en-US" altLang="zh-CN" smtClean="0"/>
              <a:t>,</a:t>
            </a:r>
            <a:r>
              <a:rPr lang="zh-CN" altLang="en-US" smtClean="0"/>
              <a:t>长度有限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zh-CN" smtClean="0"/>
              <a:t>      ·</a:t>
            </a:r>
            <a:r>
              <a:rPr lang="zh-CN" altLang="en-US" smtClean="0"/>
              <a:t>输入信号 </a:t>
            </a:r>
            <a:r>
              <a:rPr lang="en-US" altLang="zh-CN" smtClean="0"/>
              <a:t>x(n)</a:t>
            </a:r>
            <a:r>
              <a:rPr lang="zh-CN" altLang="en-US" smtClean="0"/>
              <a:t>很长，</a:t>
            </a:r>
            <a:r>
              <a:rPr lang="en-US" altLang="zh-CN" smtClean="0"/>
              <a:t>h(n) </a:t>
            </a:r>
            <a:r>
              <a:rPr lang="zh-CN" altLang="en-US" smtClean="0"/>
              <a:t>要补许多零再进行计算</a:t>
            </a:r>
            <a:r>
              <a:rPr lang="en-US" altLang="zh-CN" smtClean="0"/>
              <a:t>,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zh-CN" altLang="en-US" smtClean="0"/>
              <a:t>        计算量有很大的浪费</a:t>
            </a:r>
            <a:endParaRPr lang="en-US" altLang="zh-CN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zh-CN" smtClean="0"/>
              <a:t>  </a:t>
            </a:r>
            <a:r>
              <a:rPr lang="zh-CN" altLang="en-US" smtClean="0"/>
              <a:t>解决方法：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zh-CN" smtClean="0"/>
              <a:t>   </a:t>
            </a:r>
            <a:r>
              <a:rPr lang="zh-CN" altLang="en-US" sz="2200" smtClean="0"/>
              <a:t>重叠相加法</a:t>
            </a:r>
          </a:p>
          <a:p>
            <a:pPr lvl="2" eaLnBrk="1" hangingPunct="1"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altLang="zh-CN" smtClean="0"/>
              <a:t>   </a:t>
            </a:r>
            <a:r>
              <a:rPr lang="zh-CN" altLang="en-US" sz="2200" smtClean="0"/>
              <a:t>重叠保留法</a:t>
            </a:r>
            <a:r>
              <a:rPr lang="zh-CN" altLang="en-US" smtClean="0"/>
              <a:t> </a:t>
            </a:r>
            <a:endParaRPr lang="zh-CN" altLang="en-US" b="1" smtClean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b="1" smtClean="0"/>
              <a:t>重叠相加法：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mtClean="0"/>
              <a:t>   将</a:t>
            </a:r>
            <a:r>
              <a:rPr lang="en-US" altLang="zh-CN" i="1" smtClean="0"/>
              <a:t>x</a:t>
            </a:r>
            <a:r>
              <a:rPr lang="en-US" altLang="zh-CN" smtClean="0"/>
              <a:t>(</a:t>
            </a:r>
            <a:r>
              <a:rPr lang="en-US" altLang="zh-CN" i="1" smtClean="0"/>
              <a:t>n</a:t>
            </a:r>
            <a:r>
              <a:rPr lang="en-US" altLang="zh-CN" smtClean="0"/>
              <a:t>)</a:t>
            </a:r>
            <a:r>
              <a:rPr lang="zh-CN" altLang="en-US" smtClean="0"/>
              <a:t>分段，每段长度为</a:t>
            </a:r>
            <a:r>
              <a:rPr lang="en-US" altLang="zh-CN" i="1" smtClean="0"/>
              <a:t>M</a:t>
            </a:r>
            <a:r>
              <a:rPr lang="zh-CN" altLang="en-US" smtClean="0"/>
              <a:t>，然后依次计算各段与</a:t>
            </a:r>
            <a:r>
              <a:rPr lang="en-US" altLang="zh-CN" i="1" smtClean="0"/>
              <a:t>h</a:t>
            </a:r>
            <a:r>
              <a:rPr lang="en-US" altLang="zh-CN" smtClean="0"/>
              <a:t>(</a:t>
            </a:r>
            <a:r>
              <a:rPr lang="en-US" altLang="zh-CN" i="1" smtClean="0"/>
              <a:t>n</a:t>
            </a:r>
            <a:r>
              <a:rPr lang="en-US" altLang="zh-CN" smtClean="0"/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zh-CN" altLang="en-US" smtClean="0"/>
              <a:t>的卷积，再由各段的卷积结果得到</a:t>
            </a:r>
            <a:r>
              <a:rPr lang="en-US" altLang="zh-CN" i="1" smtClean="0"/>
              <a:t>y</a:t>
            </a:r>
            <a:r>
              <a:rPr lang="en-US" altLang="zh-CN" smtClean="0"/>
              <a:t>(</a:t>
            </a:r>
            <a:r>
              <a:rPr lang="en-US" altLang="zh-CN" i="1" smtClean="0"/>
              <a:t>n</a:t>
            </a:r>
            <a:r>
              <a:rPr lang="en-US" altLang="zh-CN" smtClean="0"/>
              <a:t>)</a:t>
            </a:r>
            <a:r>
              <a:rPr lang="zh-CN" altLang="en-US" smtClean="0"/>
              <a:t>。 </a:t>
            </a:r>
          </a:p>
        </p:txBody>
      </p:sp>
      <p:sp>
        <p:nvSpPr>
          <p:cNvPr id="86020" name="AutoShape 6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86021" name="Rectangle 7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86022" name="AutoShape 8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86023" name="Rectangle 9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4819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648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4819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64819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3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1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2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3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24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5" presetID="3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27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28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29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0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1" presetID="3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from="(-#ppt_w/2)" to="(#ppt_x)" calcmode="lin" valueType="num">
                                      <p:cBhvr>
                                        <p:cTn id="33" dur="6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0" to="-1.0" calcmode="lin" valueType="num">
                                      <p:cBhvr>
                                        <p:cTn id="34" dur="200" decel="5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xshear</p:attrName>
                                        </p:attrNameLst>
                                      </p:cBhvr>
                                    </p:anim>
                                    <p:animScale>
                                      <p:cBhvr>
                                        <p:cTn id="35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from x="100000" y="100000"/>
                                      <p:to x="80000" y="100000"/>
                                    </p:animScale>
                                    <p:anim by="(#ppt_h/3+#ppt_w*0.1)" calcmode="lin" valueType="num">
                                      <p:cBhvr additive="sum">
                                        <p:cTn id="36" dur="200" decel="100000" autoRev="1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64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64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64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64819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64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64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64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64819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6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765175"/>
            <a:ext cx="8281987" cy="56165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假设</a:t>
            </a:r>
            <a:r>
              <a:rPr lang="en-US" altLang="zh-CN" smtClean="0"/>
              <a:t>h(n)</a:t>
            </a:r>
            <a:r>
              <a:rPr lang="zh-CN" altLang="en-US" smtClean="0"/>
              <a:t>和</a:t>
            </a:r>
            <a:r>
              <a:rPr lang="en-US" altLang="zh-CN" smtClean="0"/>
              <a:t>x(n)</a:t>
            </a:r>
            <a:r>
              <a:rPr lang="zh-CN" altLang="en-US" smtClean="0"/>
              <a:t>是因果序列，对</a:t>
            </a:r>
            <a:r>
              <a:rPr lang="en-US" altLang="zh-CN" smtClean="0"/>
              <a:t>x(n)</a:t>
            </a:r>
            <a:r>
              <a:rPr lang="zh-CN" altLang="en-US" smtClean="0"/>
              <a:t>进行分段，每段长为</a:t>
            </a:r>
            <a:r>
              <a:rPr lang="en-US" altLang="zh-CN" smtClean="0"/>
              <a:t>M</a:t>
            </a:r>
            <a:r>
              <a:rPr lang="zh-CN" altLang="en-US" smtClean="0"/>
              <a:t>，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则</a:t>
            </a:r>
            <a:r>
              <a:rPr lang="en-US" altLang="zh-CN" smtClean="0"/>
              <a:t>x(n)</a:t>
            </a:r>
            <a:r>
              <a:rPr lang="zh-CN" altLang="en-US" smtClean="0"/>
              <a:t>可以表示为如下形式</a:t>
            </a:r>
            <a:r>
              <a:rPr lang="en-US" altLang="zh-CN" smtClean="0"/>
              <a:t>: 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    的长度为</a:t>
            </a:r>
            <a:r>
              <a:rPr lang="en-US" altLang="zh-CN" smtClean="0"/>
              <a:t>L=N+M-1</a:t>
            </a:r>
            <a:r>
              <a:rPr lang="zh-CN" altLang="en-US" smtClean="0"/>
              <a:t>。按照图</a:t>
            </a:r>
            <a:r>
              <a:rPr lang="en-US" altLang="zh-CN" smtClean="0"/>
              <a:t>3.2.3</a:t>
            </a:r>
            <a:r>
              <a:rPr lang="zh-CN" altLang="en-US" smtClean="0"/>
              <a:t>用</a:t>
            </a:r>
            <a:r>
              <a:rPr lang="en-US" altLang="zh-CN" smtClean="0"/>
              <a:t>L</a:t>
            </a:r>
            <a:r>
              <a:rPr lang="zh-CN" altLang="en-US" smtClean="0"/>
              <a:t>点</a:t>
            </a:r>
            <a:r>
              <a:rPr lang="en-US" altLang="zh-CN" smtClean="0"/>
              <a:t>FFT</a:t>
            </a:r>
            <a:r>
              <a:rPr lang="zh-CN" altLang="en-US" smtClean="0"/>
              <a:t>和</a:t>
            </a:r>
            <a:r>
              <a:rPr lang="en-US" altLang="zh-CN" smtClean="0"/>
              <a:t>IFFT</a:t>
            </a:r>
            <a:r>
              <a:rPr lang="zh-CN" altLang="en-US" smtClean="0"/>
              <a:t>计算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   </a:t>
            </a:r>
            <a:r>
              <a:rPr lang="en-US" altLang="zh-CN" smtClean="0"/>
              <a:t>,</a:t>
            </a:r>
            <a:r>
              <a:rPr lang="zh-CN" altLang="en-US" smtClean="0"/>
              <a:t>再按式（</a:t>
            </a:r>
            <a:r>
              <a:rPr lang="en-US" altLang="zh-CN" smtClean="0"/>
              <a:t>3.5.8</a:t>
            </a:r>
            <a:r>
              <a:rPr lang="zh-CN" altLang="en-US" smtClean="0"/>
              <a:t>）求和，               得到。 </a:t>
            </a:r>
          </a:p>
        </p:txBody>
      </p:sp>
      <p:graphicFrame>
        <p:nvGraphicFramePr>
          <p:cNvPr id="709636" name="Object 4"/>
          <p:cNvGraphicFramePr>
            <a:graphicFrameLocks noChangeAspect="1"/>
          </p:cNvGraphicFramePr>
          <p:nvPr/>
        </p:nvGraphicFramePr>
        <p:xfrm>
          <a:off x="3132138" y="1557338"/>
          <a:ext cx="2447925" cy="898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35" r:id="rId3" imgW="1143000" imgH="419100" progId="Equation.3">
                  <p:embed/>
                </p:oleObj>
              </mc:Choice>
              <mc:Fallback>
                <p:oleObj r:id="rId3" imgW="1143000" imgH="4191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1557338"/>
                        <a:ext cx="2447925" cy="898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38" name="Object 6"/>
          <p:cNvGraphicFramePr>
            <a:graphicFrameLocks noChangeAspect="1"/>
          </p:cNvGraphicFramePr>
          <p:nvPr/>
        </p:nvGraphicFramePr>
        <p:xfrm>
          <a:off x="1908175" y="2422525"/>
          <a:ext cx="5040313" cy="4778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36" r:id="rId5" imgW="2108200" imgH="203200" progId="Equation.3">
                  <p:embed/>
                </p:oleObj>
              </mc:Choice>
              <mc:Fallback>
                <p:oleObj r:id="rId5" imgW="2108200" imgH="203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8175" y="2422525"/>
                        <a:ext cx="5040313" cy="4778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40" name="Object 8"/>
          <p:cNvGraphicFramePr>
            <a:graphicFrameLocks noChangeAspect="1"/>
          </p:cNvGraphicFramePr>
          <p:nvPr/>
        </p:nvGraphicFramePr>
        <p:xfrm>
          <a:off x="2052638" y="2854325"/>
          <a:ext cx="4752975" cy="906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37" r:id="rId7" imgW="2197100" imgH="419100" progId="Equation.3">
                  <p:embed/>
                </p:oleObj>
              </mc:Choice>
              <mc:Fallback>
                <p:oleObj r:id="rId7" imgW="2197100" imgH="4191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2638" y="2854325"/>
                        <a:ext cx="4752975" cy="906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42" name="Object 10"/>
          <p:cNvGraphicFramePr>
            <a:graphicFrameLocks noChangeAspect="1"/>
          </p:cNvGraphicFramePr>
          <p:nvPr/>
        </p:nvGraphicFramePr>
        <p:xfrm>
          <a:off x="3348038" y="3716338"/>
          <a:ext cx="2520950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38" r:id="rId9" imgW="1168400" imgH="419100" progId="Equation.3">
                  <p:embed/>
                </p:oleObj>
              </mc:Choice>
              <mc:Fallback>
                <p:oleObj r:id="rId9" imgW="1168400" imgH="4191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716338"/>
                        <a:ext cx="2520950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44" name="Object 12"/>
          <p:cNvGraphicFramePr>
            <a:graphicFrameLocks noChangeAspect="1"/>
          </p:cNvGraphicFramePr>
          <p:nvPr/>
        </p:nvGraphicFramePr>
        <p:xfrm>
          <a:off x="3348038" y="4652963"/>
          <a:ext cx="244792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39" r:id="rId11" imgW="1054100" imgH="203200" progId="Equation.DSMT4">
                  <p:embed/>
                </p:oleObj>
              </mc:Choice>
              <mc:Fallback>
                <p:oleObj r:id="rId11" imgW="1054100" imgH="203200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652963"/>
                        <a:ext cx="244792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46" name="Object 14"/>
          <p:cNvGraphicFramePr>
            <a:graphicFrameLocks noChangeAspect="1"/>
          </p:cNvGraphicFramePr>
          <p:nvPr/>
        </p:nvGraphicFramePr>
        <p:xfrm>
          <a:off x="684213" y="5157788"/>
          <a:ext cx="72072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40" r:id="rId13" imgW="317225" imgH="203024" progId="Equation.DSMT4">
                  <p:embed/>
                </p:oleObj>
              </mc:Choice>
              <mc:Fallback>
                <p:oleObj r:id="rId13" imgW="317225" imgH="203024" progId="Equation.DSMT4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157788"/>
                        <a:ext cx="72072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48" name="Object 16"/>
          <p:cNvGraphicFramePr>
            <a:graphicFrameLocks noChangeAspect="1"/>
          </p:cNvGraphicFramePr>
          <p:nvPr/>
        </p:nvGraphicFramePr>
        <p:xfrm>
          <a:off x="4573588" y="5589588"/>
          <a:ext cx="2447925" cy="461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41" r:id="rId15" imgW="1054100" imgH="203200" progId="Equation.DSMT4">
                  <p:embed/>
                </p:oleObj>
              </mc:Choice>
              <mc:Fallback>
                <p:oleObj r:id="rId15" imgW="1054100" imgH="203200" progId="Equation.DSMT4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588" y="5589588"/>
                        <a:ext cx="2447925" cy="4619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9649" name="Object 17"/>
          <p:cNvGraphicFramePr>
            <a:graphicFrameLocks noChangeAspect="1"/>
          </p:cNvGraphicFramePr>
          <p:nvPr/>
        </p:nvGraphicFramePr>
        <p:xfrm>
          <a:off x="684213" y="5589588"/>
          <a:ext cx="720725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7142" r:id="rId16" imgW="317225" imgH="203024" progId="Equation.DSMT4">
                  <p:embed/>
                </p:oleObj>
              </mc:Choice>
              <mc:Fallback>
                <p:oleObj r:id="rId16" imgW="317225" imgH="203024" progId="Equation.DSMT4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5589588"/>
                        <a:ext cx="720725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7051" name="AutoShape 20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87052" name="Rectangle 21">
            <a:hlinkClick r:id="rId17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87053" name="AutoShape 22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87054" name="Rectangle 23">
            <a:hlinkClick r:id="rId18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0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0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096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0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0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096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096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096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096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096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7096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7096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096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096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096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7096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7096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4" dur="500"/>
                                        <p:tgtEl>
                                          <p:spTgt spid="70963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709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709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9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709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7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55650" y="1268413"/>
            <a:ext cx="7775575" cy="4267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b="1" smtClean="0"/>
              <a:t>计算步骤</a:t>
            </a:r>
            <a:r>
              <a:rPr lang="en-US" altLang="zh-CN" smtClean="0"/>
              <a:t>: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(1)</a:t>
            </a:r>
            <a:r>
              <a:rPr lang="zh-CN" altLang="en-US" smtClean="0"/>
              <a:t>计算并保存</a:t>
            </a:r>
            <a:r>
              <a:rPr lang="en-US" altLang="zh-CN" smtClean="0"/>
              <a:t>H(k)=DFT[h(n)]</a:t>
            </a:r>
            <a:r>
              <a:rPr lang="en-US" altLang="zh-CN" baseline="-25000" smtClean="0"/>
              <a:t>L</a:t>
            </a:r>
            <a:r>
              <a:rPr lang="zh-CN" altLang="en-US" smtClean="0"/>
              <a:t>，</a:t>
            </a:r>
            <a:r>
              <a:rPr lang="en-US" altLang="zh-CN" smtClean="0"/>
              <a:t>L=N+M-1</a:t>
            </a:r>
            <a:r>
              <a:rPr lang="zh-CN" altLang="en-US" smtClean="0"/>
              <a:t>，</a:t>
            </a:r>
            <a:r>
              <a:rPr lang="en-US" altLang="zh-CN" smtClean="0"/>
              <a:t>i=0</a:t>
            </a:r>
            <a:r>
              <a:rPr lang="zh-CN" altLang="en-US" smtClean="0"/>
              <a:t>；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(2)</a:t>
            </a:r>
            <a:r>
              <a:rPr lang="zh-CN" altLang="en-US" smtClean="0"/>
              <a:t>读入    并计算                ；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(3)</a:t>
            </a:r>
            <a:r>
              <a:rPr lang="zh-CN" altLang="en-US" smtClean="0"/>
              <a:t>              ；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(4)</a:t>
            </a:r>
            <a:r>
              <a:rPr lang="zh-CN" altLang="en-US" smtClean="0"/>
              <a:t>               ，</a:t>
            </a:r>
            <a:r>
              <a:rPr lang="en-US" altLang="zh-CN" smtClean="0"/>
              <a:t>n=0, 1, 2, …, L-1</a:t>
            </a:r>
            <a:r>
              <a:rPr lang="zh-CN" altLang="en-US" smtClean="0"/>
              <a:t>；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(5)</a:t>
            </a:r>
            <a:r>
              <a:rPr lang="zh-CN" altLang="en-US" smtClean="0"/>
              <a:t>计算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en-US" altLang="zh-CN" smtClean="0"/>
              <a:t>(6)i = i + 1</a:t>
            </a:r>
            <a:r>
              <a:rPr lang="zh-CN" altLang="en-US" smtClean="0"/>
              <a:t>，返回（</a:t>
            </a:r>
            <a:r>
              <a:rPr lang="en-US" altLang="zh-CN" smtClean="0"/>
              <a:t>2</a:t>
            </a:r>
            <a:r>
              <a:rPr lang="zh-CN" altLang="en-US" smtClean="0"/>
              <a:t>）。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说明：一般</a:t>
            </a:r>
            <a:r>
              <a:rPr lang="en-US" altLang="zh-CN" smtClean="0"/>
              <a:t>x(n)</a:t>
            </a:r>
            <a:r>
              <a:rPr lang="zh-CN" altLang="en-US" smtClean="0"/>
              <a:t>是因果序列，假设初始条件       。 </a:t>
            </a:r>
            <a:endParaRPr lang="en-US" altLang="zh-CN" smtClean="0"/>
          </a:p>
        </p:txBody>
      </p:sp>
      <p:graphicFrame>
        <p:nvGraphicFramePr>
          <p:cNvPr id="712708" name="Object 4"/>
          <p:cNvGraphicFramePr>
            <a:graphicFrameLocks noChangeAspect="1"/>
          </p:cNvGraphicFramePr>
          <p:nvPr/>
        </p:nvGraphicFramePr>
        <p:xfrm>
          <a:off x="6588125" y="4868863"/>
          <a:ext cx="115093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38" r:id="rId3" imgW="583947" imgH="203112" progId="Equation.DSMT4">
                  <p:embed/>
                </p:oleObj>
              </mc:Choice>
              <mc:Fallback>
                <p:oleObj r:id="rId3" imgW="583947" imgH="203112" progId="Equation.DSMT4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4868863"/>
                        <a:ext cx="1150938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2710" name="Object 6"/>
          <p:cNvGraphicFramePr>
            <a:graphicFrameLocks noChangeAspect="1"/>
          </p:cNvGraphicFramePr>
          <p:nvPr/>
        </p:nvGraphicFramePr>
        <p:xfrm>
          <a:off x="1979613" y="3500438"/>
          <a:ext cx="6480175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39" r:id="rId5" imgW="2921000" imgH="419100" progId="Equation.3">
                  <p:embed/>
                </p:oleObj>
              </mc:Choice>
              <mc:Fallback>
                <p:oleObj r:id="rId5" imgW="2921000" imgH="4191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3500438"/>
                        <a:ext cx="6480175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2712" name="Object 8"/>
          <p:cNvGraphicFramePr>
            <a:graphicFrameLocks noChangeAspect="1"/>
          </p:cNvGraphicFramePr>
          <p:nvPr/>
        </p:nvGraphicFramePr>
        <p:xfrm>
          <a:off x="1330325" y="2708275"/>
          <a:ext cx="2087563" cy="401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40" r:id="rId7" imgW="1040948" imgH="203112" progId="Equation.3">
                  <p:embed/>
                </p:oleObj>
              </mc:Choice>
              <mc:Fallback>
                <p:oleObj r:id="rId7" imgW="1040948" imgH="203112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0325" y="2708275"/>
                        <a:ext cx="2087563" cy="401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2714" name="Object 10"/>
          <p:cNvGraphicFramePr>
            <a:graphicFrameLocks noChangeAspect="1"/>
          </p:cNvGraphicFramePr>
          <p:nvPr/>
        </p:nvGraphicFramePr>
        <p:xfrm>
          <a:off x="1258888" y="3140075"/>
          <a:ext cx="2374900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41" r:id="rId9" imgW="1143000" imgH="203200" progId="Equation.3">
                  <p:embed/>
                </p:oleObj>
              </mc:Choice>
              <mc:Fallback>
                <p:oleObj r:id="rId9" imgW="1143000" imgH="2032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3140075"/>
                        <a:ext cx="2374900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2716" name="Object 12"/>
          <p:cNvGraphicFramePr>
            <a:graphicFrameLocks noChangeAspect="1"/>
          </p:cNvGraphicFramePr>
          <p:nvPr/>
        </p:nvGraphicFramePr>
        <p:xfrm>
          <a:off x="1835150" y="2132013"/>
          <a:ext cx="719138" cy="458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42" r:id="rId11" imgW="317225" imgH="203024" progId="Equation.DSMT4">
                  <p:embed/>
                </p:oleObj>
              </mc:Choice>
              <mc:Fallback>
                <p:oleObj r:id="rId11" imgW="317225" imgH="203024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2132013"/>
                        <a:ext cx="719138" cy="4587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2718" name="Object 14"/>
          <p:cNvGraphicFramePr>
            <a:graphicFrameLocks noChangeAspect="1"/>
          </p:cNvGraphicFramePr>
          <p:nvPr/>
        </p:nvGraphicFramePr>
        <p:xfrm>
          <a:off x="3419475" y="2203450"/>
          <a:ext cx="2376488" cy="415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8143" r:id="rId13" imgW="1143000" imgH="203200" progId="Equation.3">
                  <p:embed/>
                </p:oleObj>
              </mc:Choice>
              <mc:Fallback>
                <p:oleObj r:id="rId13" imgW="1143000" imgH="203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5" y="2203450"/>
                        <a:ext cx="2376488" cy="415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8073" name="Rectangle 18"/>
          <p:cNvSpPr>
            <a:spLocks noChangeArrowheads="1"/>
          </p:cNvSpPr>
          <p:nvPr/>
        </p:nvSpPr>
        <p:spPr bwMode="auto">
          <a:xfrm>
            <a:off x="684213" y="1196975"/>
            <a:ext cx="7848600" cy="4248150"/>
          </a:xfrm>
          <a:prstGeom prst="rect">
            <a:avLst/>
          </a:prstGeom>
          <a:noFill/>
          <a:ln w="9525">
            <a:solidFill>
              <a:srgbClr val="CC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88074" name="AutoShape 19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88075" name="Rectangle 20">
            <a:hlinkClick r:id="rId15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88076" name="AutoShape 21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88077" name="Rectangle 22">
            <a:hlinkClick r:id="rId16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71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71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71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1270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2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7127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7127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7127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7127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611188" y="692150"/>
            <a:ext cx="7786687" cy="744538"/>
          </a:xfrm>
        </p:spPr>
        <p:txBody>
          <a:bodyPr/>
          <a:lstStyle/>
          <a:p>
            <a:pPr eaLnBrk="1" hangingPunct="1"/>
            <a:r>
              <a:rPr lang="en-US" altLang="zh-CN" sz="2000" smtClean="0">
                <a:solidFill>
                  <a:srgbClr val="333300"/>
                </a:solidFill>
              </a:rPr>
              <a:t>(1)</a:t>
            </a:r>
            <a:r>
              <a:rPr lang="en-US" altLang="zh-CN" sz="2000" smtClean="0">
                <a:solidFill>
                  <a:srgbClr val="333300"/>
                </a:solidFill>
                <a:cs typeface="Times New Roman" panose="02020603050405020304" pitchFamily="18" charset="0"/>
              </a:rPr>
              <a:t>    </a:t>
            </a:r>
            <a:r>
              <a:rPr lang="zh-CN" altLang="en-US" sz="2000" smtClean="0">
                <a:solidFill>
                  <a:srgbClr val="333300"/>
                </a:solidFill>
              </a:rPr>
              <a:t>重叠相加法</a:t>
            </a:r>
            <a:r>
              <a:rPr lang="en-US" altLang="zh-CN" sz="2000" smtClean="0">
                <a:solidFill>
                  <a:srgbClr val="333300"/>
                </a:solidFill>
              </a:rPr>
              <a:t>——</a:t>
            </a:r>
            <a:r>
              <a:rPr lang="zh-CN" altLang="en-US" sz="2000" smtClean="0">
                <a:solidFill>
                  <a:srgbClr val="333300"/>
                </a:solidFill>
              </a:rPr>
              <a:t>由分段卷积的各段相加构成总的卷积输出</a:t>
            </a:r>
            <a:br>
              <a:rPr lang="zh-CN" altLang="en-US" sz="2000" smtClean="0">
                <a:solidFill>
                  <a:srgbClr val="333300"/>
                </a:solidFill>
              </a:rPr>
            </a:br>
            <a:endParaRPr lang="zh-CN" altLang="en-US" sz="2000" smtClean="0">
              <a:solidFill>
                <a:srgbClr val="333300"/>
              </a:solidFill>
            </a:endParaRPr>
          </a:p>
        </p:txBody>
      </p:sp>
      <p:sp>
        <p:nvSpPr>
          <p:cNvPr id="89091" name="Text Box 4"/>
          <p:cNvSpPr txBox="1">
            <a:spLocks noChangeArrowheads="1"/>
          </p:cNvSpPr>
          <p:nvPr/>
        </p:nvSpPr>
        <p:spPr bwMode="auto">
          <a:xfrm>
            <a:off x="2819400" y="1143000"/>
            <a:ext cx="914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endParaRPr kumimoji="1" lang="zh-CN" altLang="en-US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9092" name="AutoShape 7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89093" name="Rectangle 8">
            <a:hlinkClick r:id="rId2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89094" name="AutoShape 9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89095" name="Rectangle 10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  <p:pic>
        <p:nvPicPr>
          <p:cNvPr id="89096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1341438"/>
            <a:ext cx="7993063" cy="479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114" name="Picture 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1188" y="260350"/>
            <a:ext cx="7920037" cy="6348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0115" name="AutoShape 10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90116" name="Rectangle 11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  <p:sp>
        <p:nvSpPr>
          <p:cNvPr id="90117" name="AutoShape 12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90118" name="Rectangle 13">
            <a:hlinkClick r:id="rId4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1403350" y="549275"/>
            <a:ext cx="5689600" cy="542925"/>
          </a:xfrm>
        </p:spPr>
        <p:txBody>
          <a:bodyPr/>
          <a:lstStyle/>
          <a:p>
            <a:pPr eaLnBrk="1" hangingPunct="1"/>
            <a:r>
              <a:rPr lang="en-US" altLang="zh-CN" sz="2800" smtClean="0"/>
              <a:t>3.5.3 </a:t>
            </a:r>
            <a:r>
              <a:rPr lang="zh-CN" altLang="en-US" sz="2800" smtClean="0"/>
              <a:t>用</a:t>
            </a:r>
            <a:r>
              <a:rPr lang="en-US" altLang="zh-CN" sz="2800" smtClean="0"/>
              <a:t>DFT</a:t>
            </a:r>
            <a:r>
              <a:rPr lang="zh-CN" altLang="en-US" sz="2800" smtClean="0"/>
              <a:t>对序列进行谱分析</a:t>
            </a:r>
            <a:r>
              <a:rPr lang="zh-CN" altLang="en-US" smtClean="0"/>
              <a:t> </a:t>
            </a:r>
          </a:p>
        </p:txBody>
      </p:sp>
      <p:sp>
        <p:nvSpPr>
          <p:cNvPr id="64921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682625" y="1196975"/>
            <a:ext cx="7848600" cy="5184775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   本节只讨论序列的频谱分析，连续信号的谱分析在第</a:t>
            </a:r>
            <a:r>
              <a:rPr lang="en-US" altLang="zh-CN" smtClean="0"/>
              <a:t>5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章介绍。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  理论依据：序列的</a:t>
            </a:r>
            <a:r>
              <a:rPr lang="en-US" altLang="zh-CN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就是序列的频谱函数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在频率区间    上的</a:t>
            </a:r>
            <a:r>
              <a:rPr lang="en-US" altLang="zh-CN" smtClean="0"/>
              <a:t>N</a:t>
            </a:r>
            <a:r>
              <a:rPr lang="zh-CN" altLang="en-US" smtClean="0"/>
              <a:t>点等间隔采样。</a:t>
            </a:r>
          </a:p>
          <a:p>
            <a:pPr eaLnBrk="1" hangingPunct="1">
              <a:buFontTx/>
              <a:buNone/>
            </a:pPr>
            <a:r>
              <a:rPr lang="zh-CN" altLang="en-US" sz="2000" b="1" smtClean="0"/>
              <a:t>具体方法</a:t>
            </a:r>
            <a:r>
              <a:rPr lang="en-US" altLang="zh-CN" sz="2000" smtClean="0"/>
              <a:t>: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(1)</a:t>
            </a:r>
            <a:r>
              <a:rPr lang="zh-CN" altLang="en-US" smtClean="0"/>
              <a:t>根据频率分辨率要求确定</a:t>
            </a:r>
            <a:r>
              <a:rPr lang="en-US" altLang="zh-CN" smtClean="0"/>
              <a:t>DFT</a:t>
            </a:r>
            <a:r>
              <a:rPr lang="zh-CN" altLang="en-US" smtClean="0"/>
              <a:t>变换区间长度</a:t>
            </a:r>
            <a:r>
              <a:rPr lang="en-US" altLang="zh-CN" smtClean="0"/>
              <a:t>N</a:t>
            </a:r>
            <a:r>
              <a:rPr lang="zh-CN" altLang="en-US" smtClean="0"/>
              <a:t>：</a:t>
            </a:r>
            <a:r>
              <a:rPr lang="zh-CN" altLang="zh-CN" smtClean="0"/>
              <a:t>在数字</a:t>
            </a: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zh-CN" smtClean="0"/>
              <a:t>频率域，如果要求频率分辨率为</a:t>
            </a:r>
            <a:r>
              <a:rPr lang="en-US" altLang="zh-CN" smtClean="0"/>
              <a:t>D</a:t>
            </a:r>
            <a:r>
              <a:rPr lang="zh-CN" altLang="en-US" smtClean="0"/>
              <a:t>弧度，而</a:t>
            </a:r>
            <a:r>
              <a:rPr lang="en-US" altLang="zh-CN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意味着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频谱采样间隔为</a:t>
            </a:r>
            <a:r>
              <a:rPr lang="en-US" altLang="zh-CN" smtClean="0"/>
              <a:t>2</a:t>
            </a:r>
            <a:r>
              <a:rPr lang="en-US" altLang="zh-CN" smtClean="0">
                <a:sym typeface="Symbol" panose="05050102010706020507" pitchFamily="18" charset="2"/>
              </a:rPr>
              <a:t></a:t>
            </a:r>
            <a:r>
              <a:rPr lang="en-US" altLang="zh-CN" smtClean="0"/>
              <a:t>/N</a:t>
            </a:r>
            <a:r>
              <a:rPr lang="zh-CN" altLang="en-US" smtClean="0"/>
              <a:t>，即</a:t>
            </a:r>
            <a:r>
              <a:rPr lang="en-US" altLang="zh-CN" smtClean="0"/>
              <a:t>DFT</a:t>
            </a:r>
            <a:r>
              <a:rPr lang="zh-CN" altLang="en-US" smtClean="0"/>
              <a:t>能够实现的频率分辨率为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2</a:t>
            </a:r>
            <a:r>
              <a:rPr lang="en-US" altLang="zh-CN" smtClean="0">
                <a:sym typeface="Symbol" panose="05050102010706020507" pitchFamily="18" charset="2"/>
              </a:rPr>
              <a:t></a:t>
            </a:r>
            <a:r>
              <a:rPr lang="en-US" altLang="zh-CN" smtClean="0"/>
              <a:t>/N</a:t>
            </a:r>
            <a:r>
              <a:rPr lang="zh-CN" altLang="en-US" smtClean="0"/>
              <a:t>，因此要求</a:t>
            </a:r>
            <a:r>
              <a:rPr lang="en-US" altLang="zh-CN" smtClean="0"/>
              <a:t>2</a:t>
            </a:r>
            <a:r>
              <a:rPr lang="en-US" altLang="zh-CN" smtClean="0">
                <a:sym typeface="Symbol" panose="05050102010706020507" pitchFamily="18" charset="2"/>
              </a:rPr>
              <a:t></a:t>
            </a:r>
            <a:r>
              <a:rPr lang="en-US" altLang="zh-CN" smtClean="0"/>
              <a:t>/N≤D</a:t>
            </a:r>
            <a:r>
              <a:rPr lang="zh-CN" altLang="en-US" smtClean="0"/>
              <a:t>，即          。 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  另外为满足基</a:t>
            </a:r>
            <a:r>
              <a:rPr lang="en-US" altLang="zh-CN" smtClean="0"/>
              <a:t>2FFT</a:t>
            </a:r>
            <a:r>
              <a:rPr lang="zh-CN" altLang="en-US" smtClean="0"/>
              <a:t>对点数</a:t>
            </a:r>
            <a:r>
              <a:rPr lang="en-US" altLang="zh-CN" smtClean="0"/>
              <a:t>N</a:t>
            </a:r>
            <a:r>
              <a:rPr lang="zh-CN" altLang="en-US" smtClean="0"/>
              <a:t>的要求，一般取      </a:t>
            </a:r>
            <a:r>
              <a:rPr lang="en-US" altLang="zh-CN" smtClean="0"/>
              <a:t>(M</a:t>
            </a:r>
            <a:r>
              <a:rPr lang="zh-CN" altLang="en-US" smtClean="0"/>
              <a:t>为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正整数</a:t>
            </a:r>
            <a:r>
              <a:rPr lang="en-US" altLang="zh-CN" smtClean="0"/>
              <a:t>)</a:t>
            </a:r>
            <a:r>
              <a:rPr lang="zh-CN" altLang="en-US" smtClean="0"/>
              <a:t>。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(2)</a:t>
            </a:r>
            <a:r>
              <a:rPr lang="zh-CN" altLang="en-US" smtClean="0"/>
              <a:t>计算</a:t>
            </a:r>
            <a:r>
              <a:rPr lang="en-US" altLang="zh-CN" smtClean="0"/>
              <a:t>x(n)</a:t>
            </a:r>
            <a:r>
              <a:rPr lang="zh-CN" altLang="en-US" smtClean="0"/>
              <a:t>的</a:t>
            </a:r>
            <a:r>
              <a:rPr lang="en-US" altLang="zh-CN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DFT</a:t>
            </a:r>
            <a:r>
              <a:rPr lang="zh-CN" altLang="en-US" smtClean="0"/>
              <a:t>，并绘制频谱图。 </a:t>
            </a:r>
            <a:endParaRPr lang="en-US" altLang="zh-CN" smtClean="0"/>
          </a:p>
        </p:txBody>
      </p:sp>
      <p:graphicFrame>
        <p:nvGraphicFramePr>
          <p:cNvPr id="649226" name="Object 10"/>
          <p:cNvGraphicFramePr>
            <a:graphicFrameLocks noGrp="1" noChangeAspect="1"/>
          </p:cNvGraphicFramePr>
          <p:nvPr>
            <p:ph sz="quarter" idx="2"/>
          </p:nvPr>
        </p:nvGraphicFramePr>
        <p:xfrm>
          <a:off x="7307263" y="2132013"/>
          <a:ext cx="863600" cy="452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89" name="Equation" r:id="rId3" imgW="482391" imgH="228501" progId="Equation.DSMT4">
                  <p:embed/>
                </p:oleObj>
              </mc:Choice>
              <mc:Fallback>
                <p:oleObj name="Equation" r:id="rId3" imgW="482391" imgH="228501" progId="Equation.DSMT4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7263" y="2132013"/>
                        <a:ext cx="863600" cy="452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9220" name="Object 4"/>
          <p:cNvGraphicFramePr>
            <a:graphicFrameLocks noChangeAspect="1"/>
          </p:cNvGraphicFramePr>
          <p:nvPr/>
        </p:nvGraphicFramePr>
        <p:xfrm>
          <a:off x="4570413" y="4652963"/>
          <a:ext cx="1584325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90" r:id="rId5" imgW="748975" imgH="203112" progId="Equation.3">
                  <p:embed/>
                </p:oleObj>
              </mc:Choice>
              <mc:Fallback>
                <p:oleObj r:id="rId5" imgW="748975" imgH="203112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0413" y="4652963"/>
                        <a:ext cx="1584325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9222" name="Object 6"/>
          <p:cNvGraphicFramePr>
            <a:graphicFrameLocks noChangeAspect="1"/>
          </p:cNvGraphicFramePr>
          <p:nvPr/>
        </p:nvGraphicFramePr>
        <p:xfrm>
          <a:off x="6875463" y="5156200"/>
          <a:ext cx="8636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91" r:id="rId7" imgW="444307" imgH="190417" progId="Equation.3">
                  <p:embed/>
                </p:oleObj>
              </mc:Choice>
              <mc:Fallback>
                <p:oleObj r:id="rId7" imgW="444307" imgH="190417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5463" y="5156200"/>
                        <a:ext cx="8636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9228" name="Object 12"/>
          <p:cNvGraphicFramePr>
            <a:graphicFrameLocks noGrp="1" noChangeAspect="1"/>
          </p:cNvGraphicFramePr>
          <p:nvPr>
            <p:ph sz="quarter" idx="3"/>
          </p:nvPr>
        </p:nvGraphicFramePr>
        <p:xfrm>
          <a:off x="2266950" y="2563813"/>
          <a:ext cx="64928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1192" name="Equation" r:id="rId9" imgW="457002" imgH="203112" progId="Equation.DSMT4">
                  <p:embed/>
                </p:oleObj>
              </mc:Choice>
              <mc:Fallback>
                <p:oleObj name="Equation" r:id="rId9" imgW="457002" imgH="203112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6950" y="2563813"/>
                        <a:ext cx="649288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 algn="ctr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9230" name="AutoShape 14"/>
          <p:cNvSpPr>
            <a:spLocks noChangeArrowheads="1"/>
          </p:cNvSpPr>
          <p:nvPr/>
        </p:nvSpPr>
        <p:spPr bwMode="auto">
          <a:xfrm>
            <a:off x="682625" y="2133600"/>
            <a:ext cx="7632700" cy="863600"/>
          </a:xfrm>
          <a:prstGeom prst="roundRect">
            <a:avLst>
              <a:gd name="adj" fmla="val 16667"/>
            </a:avLst>
          </a:prstGeom>
          <a:solidFill>
            <a:schemeClr val="accent1">
              <a:alpha val="20000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91145" name="AutoShape 15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91146" name="Rectangle 16">
            <a:hlinkClick r:id="rId11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91147" name="AutoShape 17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91148" name="Rectangle 18">
            <a:hlinkClick r:id="rId12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50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49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49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64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492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492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64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4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4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6492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4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64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64921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492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6492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64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1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64921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64921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0" dur="500"/>
                                        <p:tgtEl>
                                          <p:spTgt spid="64921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3" dur="500"/>
                                        <p:tgtEl>
                                          <p:spTgt spid="64921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64921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64921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649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64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1000"/>
                                        <p:tgtEl>
                                          <p:spTgt spid="64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64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900" decel="100000" fill="hold"/>
                                        <p:tgtEl>
                                          <p:spTgt spid="64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4921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4213" y="1341438"/>
            <a:ext cx="7991475" cy="4267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例</a:t>
            </a:r>
            <a:r>
              <a:rPr lang="en-US" altLang="zh-CN" smtClean="0"/>
              <a:t>3.5: </a:t>
            </a:r>
            <a:r>
              <a:rPr lang="zh-CN" altLang="en-US" smtClean="0"/>
              <a:t>假设             ，用</a:t>
            </a:r>
            <a:r>
              <a:rPr lang="en-US" altLang="zh-CN" smtClean="0"/>
              <a:t>DFT</a:t>
            </a:r>
            <a:r>
              <a:rPr lang="zh-CN" altLang="en-US" smtClean="0"/>
              <a:t>分析</a:t>
            </a:r>
            <a:r>
              <a:rPr lang="en-US" altLang="zh-CN" smtClean="0"/>
              <a:t>x(n)</a:t>
            </a:r>
            <a:r>
              <a:rPr lang="zh-CN" altLang="en-US" smtClean="0"/>
              <a:t>的频谱，频率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分辨率为</a:t>
            </a:r>
            <a:r>
              <a:rPr lang="en-US" altLang="zh-CN" smtClean="0"/>
              <a:t>0.02</a:t>
            </a:r>
            <a:r>
              <a:rPr lang="en-US" altLang="zh-CN" smtClean="0">
                <a:sym typeface="Symbol" panose="05050102010706020507" pitchFamily="18" charset="2"/>
              </a:rPr>
              <a:t></a:t>
            </a:r>
            <a:r>
              <a:rPr lang="zh-CN" altLang="en-US" smtClean="0"/>
              <a:t>，要求画出幅频特性曲线和相频特性曲线。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解</a:t>
            </a:r>
            <a:r>
              <a:rPr lang="en-US" altLang="zh-CN" smtClean="0"/>
              <a:t>:</a:t>
            </a:r>
            <a:r>
              <a:rPr lang="en-US" altLang="zh-CN" smtClean="0">
                <a:sym typeface="Wingdings" panose="05000000000000000000" pitchFamily="2" charset="2"/>
              </a:rPr>
              <a:t>(1)</a:t>
            </a:r>
            <a:r>
              <a:rPr lang="zh-CN" altLang="en-US" smtClean="0"/>
              <a:t>根据频率分辨率求</a:t>
            </a:r>
            <a:r>
              <a:rPr lang="en-US" altLang="zh-CN" smtClean="0"/>
              <a:t>N</a:t>
            </a:r>
            <a:r>
              <a:rPr lang="zh-CN" altLang="en-US" smtClean="0"/>
              <a:t>。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         因为</a:t>
            </a:r>
            <a:r>
              <a:rPr lang="en-US" altLang="zh-CN" smtClean="0"/>
              <a:t>2</a:t>
            </a:r>
            <a:r>
              <a:rPr lang="en-US" altLang="zh-CN" smtClean="0">
                <a:sym typeface="Symbol" panose="05050102010706020507" pitchFamily="18" charset="2"/>
              </a:rPr>
              <a:t></a:t>
            </a:r>
            <a:r>
              <a:rPr lang="en-US" altLang="zh-CN" smtClean="0"/>
              <a:t>/N≤0.02</a:t>
            </a:r>
            <a:r>
              <a:rPr lang="en-US" altLang="zh-CN" smtClean="0">
                <a:sym typeface="Symbol" panose="05050102010706020507" pitchFamily="18" charset="2"/>
              </a:rPr>
              <a:t></a:t>
            </a:r>
            <a:r>
              <a:rPr lang="en-US" altLang="zh-CN" smtClean="0"/>
              <a:t>,</a:t>
            </a:r>
            <a:r>
              <a:rPr lang="zh-CN" altLang="en-US" smtClean="0"/>
              <a:t>即</a:t>
            </a:r>
            <a:r>
              <a:rPr lang="en-US" altLang="zh-CN" smtClean="0"/>
              <a:t>N≥100,</a:t>
            </a:r>
            <a:r>
              <a:rPr lang="zh-CN" altLang="en-US" smtClean="0"/>
              <a:t>取</a:t>
            </a:r>
            <a:r>
              <a:rPr lang="en-US" altLang="zh-CN" smtClean="0"/>
              <a:t>N=100</a:t>
            </a:r>
            <a:r>
              <a:rPr lang="zh-CN" altLang="en-US" smtClean="0"/>
              <a:t>。</a:t>
            </a:r>
          </a:p>
          <a:p>
            <a:pPr eaLnBrk="1" hangingPunct="1">
              <a:buFontTx/>
              <a:buNone/>
            </a:pPr>
            <a:r>
              <a:rPr lang="en-US" altLang="zh-CN" smtClean="0"/>
              <a:t>    (2)</a:t>
            </a:r>
            <a:r>
              <a:rPr lang="zh-CN" altLang="en-US" smtClean="0"/>
              <a:t>计算</a:t>
            </a:r>
            <a:r>
              <a:rPr lang="en-US" altLang="zh-CN" smtClean="0"/>
              <a:t>x(n)</a:t>
            </a:r>
            <a:r>
              <a:rPr lang="zh-CN" altLang="en-US" smtClean="0"/>
              <a:t>的</a:t>
            </a:r>
            <a:r>
              <a:rPr lang="en-US" altLang="zh-CN" smtClean="0"/>
              <a:t>N</a:t>
            </a:r>
            <a:r>
              <a:rPr lang="zh-CN" altLang="en-US" smtClean="0"/>
              <a:t>点</a:t>
            </a:r>
            <a:r>
              <a:rPr lang="en-US" altLang="zh-CN" smtClean="0"/>
              <a:t>DFT:</a:t>
            </a:r>
          </a:p>
        </p:txBody>
      </p:sp>
      <p:graphicFrame>
        <p:nvGraphicFramePr>
          <p:cNvPr id="92163" name="Object 4"/>
          <p:cNvGraphicFramePr>
            <a:graphicFrameLocks noChangeAspect="1"/>
          </p:cNvGraphicFramePr>
          <p:nvPr/>
        </p:nvGraphicFramePr>
        <p:xfrm>
          <a:off x="2411413" y="1414463"/>
          <a:ext cx="2016125" cy="449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0" r:id="rId3" imgW="977476" imgH="215806" progId="Equation.3">
                  <p:embed/>
                </p:oleObj>
              </mc:Choice>
              <mc:Fallback>
                <p:oleObj r:id="rId3" imgW="977476" imgH="21580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11413" y="1414463"/>
                        <a:ext cx="2016125" cy="4492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4" name="Rectangle 7"/>
          <p:cNvSpPr>
            <a:spLocks noChangeArrowheads="1"/>
          </p:cNvSpPr>
          <p:nvPr/>
        </p:nvSpPr>
        <p:spPr bwMode="auto">
          <a:xfrm>
            <a:off x="0" y="30051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zh-CN" altLang="en-US" sz="2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716806" name="Object 6"/>
          <p:cNvGraphicFramePr>
            <a:graphicFrameLocks noChangeAspect="1"/>
          </p:cNvGraphicFramePr>
          <p:nvPr/>
        </p:nvGraphicFramePr>
        <p:xfrm>
          <a:off x="1476375" y="3575050"/>
          <a:ext cx="6049963" cy="168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191" r:id="rId5" imgW="3035300" imgH="850900" progId="Equation.3">
                  <p:embed/>
                </p:oleObj>
              </mc:Choice>
              <mc:Fallback>
                <p:oleObj r:id="rId5" imgW="3035300" imgH="8509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3575050"/>
                        <a:ext cx="6049963" cy="168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166" name="AutoShape 10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92167" name="Rectangle 11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92168" name="AutoShape 12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92169" name="Rectangle 13">
            <a:hlinkClick r:id="rId8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39" presetClass="entr" presetSubtype="0" ac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1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1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1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1680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9" presetClass="entr" presetSubtype="0" ac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7168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7168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168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168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8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11188" y="620713"/>
            <a:ext cx="8137525" cy="5472112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zh-CN" altLang="en-US" smtClean="0"/>
              <a:t>      的幅频特性和相频特性曲线如下图</a:t>
            </a:r>
            <a:r>
              <a:rPr lang="en-US" altLang="zh-CN" smtClean="0"/>
              <a:t>(a)</a:t>
            </a:r>
            <a:r>
              <a:rPr lang="zh-CN" altLang="en-US" smtClean="0"/>
              <a:t>和</a:t>
            </a:r>
            <a:r>
              <a:rPr lang="en-US" altLang="zh-CN" smtClean="0"/>
              <a:t>(b)</a:t>
            </a:r>
            <a:r>
              <a:rPr lang="zh-CN" altLang="en-US" smtClean="0"/>
              <a:t>所示。</a:t>
            </a:r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endParaRPr lang="zh-CN" altLang="en-US" smtClean="0"/>
          </a:p>
          <a:p>
            <a:pPr eaLnBrk="1" hangingPunct="1">
              <a:buFontTx/>
              <a:buNone/>
            </a:pPr>
            <a:r>
              <a:rPr lang="zh-CN" altLang="en-US" smtClean="0"/>
              <a:t>由上图可见，</a:t>
            </a:r>
            <a:r>
              <a:rPr lang="en-US" altLang="zh-CN" smtClean="0"/>
              <a:t>x(n)</a:t>
            </a:r>
            <a:r>
              <a:rPr lang="zh-CN" altLang="en-US" smtClean="0"/>
              <a:t>的频谱变化很缓慢，所以用</a:t>
            </a:r>
            <a:r>
              <a:rPr lang="en-US" altLang="zh-CN" smtClean="0"/>
              <a:t>DFT</a:t>
            </a:r>
            <a:r>
              <a:rPr lang="zh-CN" altLang="en-US" smtClean="0"/>
              <a:t>对该信号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进行谱分析时，频率分辨率可以再低一些</a:t>
            </a:r>
            <a:r>
              <a:rPr lang="en-US" altLang="zh-CN" smtClean="0"/>
              <a:t>(</a:t>
            </a:r>
            <a:r>
              <a:rPr lang="zh-CN" altLang="en-US" smtClean="0"/>
              <a:t>即</a:t>
            </a:r>
            <a:r>
              <a:rPr lang="en-US" altLang="zh-CN" smtClean="0"/>
              <a:t>N</a:t>
            </a:r>
            <a:r>
              <a:rPr lang="zh-CN" altLang="en-US" smtClean="0"/>
              <a:t>小一些</a:t>
            </a:r>
            <a:r>
              <a:rPr lang="en-US" altLang="zh-CN" smtClean="0"/>
              <a:t>)</a:t>
            </a:r>
            <a:r>
              <a:rPr lang="zh-CN" altLang="en-US" smtClean="0"/>
              <a:t>也可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以得到正确的频谱。当</a:t>
            </a:r>
            <a:r>
              <a:rPr lang="en-US" altLang="zh-CN" smtClean="0"/>
              <a:t>N=16</a:t>
            </a:r>
            <a:r>
              <a:rPr lang="zh-CN" altLang="en-US" smtClean="0"/>
              <a:t>时，频率分辨率为</a:t>
            </a:r>
            <a:r>
              <a:rPr lang="el-GR" altLang="zh-CN" smtClean="0"/>
              <a:t>π</a:t>
            </a:r>
            <a:r>
              <a:rPr lang="en-US" altLang="zh-CN" smtClean="0"/>
              <a:t>/8</a:t>
            </a:r>
            <a:r>
              <a:rPr lang="zh-CN" altLang="en-US" smtClean="0"/>
              <a:t>，幅频特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性和相频特性曲线如图</a:t>
            </a:r>
            <a:r>
              <a:rPr lang="en-US" altLang="zh-CN" smtClean="0"/>
              <a:t>3.5.4(c)</a:t>
            </a:r>
            <a:r>
              <a:rPr lang="zh-CN" altLang="en-US" smtClean="0"/>
              <a:t>和</a:t>
            </a:r>
            <a:r>
              <a:rPr lang="en-US" altLang="zh-CN" smtClean="0"/>
              <a:t>(d)</a:t>
            </a:r>
            <a:r>
              <a:rPr lang="zh-CN" altLang="en-US" smtClean="0"/>
              <a:t>所示，与</a:t>
            </a:r>
            <a:r>
              <a:rPr lang="en-US" altLang="zh-CN" smtClean="0"/>
              <a:t>N=100</a:t>
            </a:r>
            <a:r>
              <a:rPr lang="zh-CN" altLang="en-US" smtClean="0"/>
              <a:t>的情况</a:t>
            </a:r>
          </a:p>
          <a:p>
            <a:pPr eaLnBrk="1" hangingPunct="1">
              <a:buFontTx/>
              <a:buNone/>
            </a:pPr>
            <a:r>
              <a:rPr lang="zh-CN" altLang="en-US" smtClean="0"/>
              <a:t>相差很小。</a:t>
            </a:r>
          </a:p>
        </p:txBody>
      </p:sp>
      <p:pic>
        <p:nvPicPr>
          <p:cNvPr id="717828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613" y="1052513"/>
            <a:ext cx="4537075" cy="3152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17831" name="Object 7"/>
          <p:cNvGraphicFramePr>
            <a:graphicFrameLocks noChangeAspect="1"/>
          </p:cNvGraphicFramePr>
          <p:nvPr/>
        </p:nvGraphicFramePr>
        <p:xfrm>
          <a:off x="755650" y="692150"/>
          <a:ext cx="865188" cy="4143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3203" r:id="rId4" imgW="457002" imgH="215806" progId="Equation.3">
                  <p:embed/>
                </p:oleObj>
              </mc:Choice>
              <mc:Fallback>
                <p:oleObj r:id="rId4" imgW="457002" imgH="215806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692150"/>
                        <a:ext cx="865188" cy="4143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3189" name="AutoShape 11"/>
          <p:cNvSpPr>
            <a:spLocks noChangeArrowheads="1"/>
          </p:cNvSpPr>
          <p:nvPr/>
        </p:nvSpPr>
        <p:spPr bwMode="auto">
          <a:xfrm>
            <a:off x="8388350" y="6237288"/>
            <a:ext cx="755650" cy="465137"/>
          </a:xfrm>
          <a:prstGeom prst="cloudCallout">
            <a:avLst>
              <a:gd name="adj1" fmla="val -63444"/>
              <a:gd name="adj2" fmla="val 76278"/>
            </a:avLst>
          </a:prstGeom>
          <a:solidFill>
            <a:srgbClr val="99CCFF"/>
          </a:solidFill>
          <a:ln w="9525">
            <a:solidFill>
              <a:srgbClr val="0066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kumimoji="1" lang="zh-CN" altLang="en-US" sz="1400" b="1" i="1">
              <a:solidFill>
                <a:schemeClr val="tx1"/>
              </a:solidFill>
            </a:endParaRPr>
          </a:p>
        </p:txBody>
      </p:sp>
      <p:sp>
        <p:nvSpPr>
          <p:cNvPr id="93190" name="Rectangle 12">
            <a:hlinkClick r:id="rId6" action="ppaction://hlinksldjump"/>
          </p:cNvPr>
          <p:cNvSpPr>
            <a:spLocks noChangeArrowheads="1"/>
          </p:cNvSpPr>
          <p:nvPr/>
        </p:nvSpPr>
        <p:spPr bwMode="auto">
          <a:xfrm>
            <a:off x="8459788" y="6308725"/>
            <a:ext cx="684212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kumimoji="1"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返回</a:t>
            </a:r>
          </a:p>
        </p:txBody>
      </p:sp>
      <p:sp>
        <p:nvSpPr>
          <p:cNvPr id="93191" name="AutoShape 13"/>
          <p:cNvSpPr>
            <a:spLocks noChangeArrowheads="1"/>
          </p:cNvSpPr>
          <p:nvPr/>
        </p:nvSpPr>
        <p:spPr bwMode="auto">
          <a:xfrm>
            <a:off x="0" y="0"/>
            <a:ext cx="1187450" cy="836613"/>
          </a:xfrm>
          <a:prstGeom prst="irregularSeal1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1200" b="1" i="1">
              <a:latin typeface="Arial" panose="020B0604020202020204" pitchFamily="34" charset="0"/>
            </a:endParaRPr>
          </a:p>
        </p:txBody>
      </p:sp>
      <p:sp>
        <p:nvSpPr>
          <p:cNvPr id="93192" name="Rectangle 14">
            <a:hlinkClick r:id="rId7" action="ppaction://hlinksldjump"/>
          </p:cNvPr>
          <p:cNvSpPr>
            <a:spLocks noChangeArrowheads="1"/>
          </p:cNvSpPr>
          <p:nvPr/>
        </p:nvSpPr>
        <p:spPr bwMode="auto">
          <a:xfrm>
            <a:off x="144463" y="260350"/>
            <a:ext cx="97155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2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0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1400" b="1" i="1">
                <a:solidFill>
                  <a:schemeClr val="tx1"/>
                </a:solidFill>
                <a:latin typeface="Tahoma" panose="020B0604030504040204" pitchFamily="34" charset="0"/>
                <a:ea typeface="新宋体" panose="02010609030101010101" pitchFamily="49" charset="-122"/>
              </a:rPr>
              <a:t>回到本节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8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178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178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178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9" dur="2000"/>
                                        <p:tgtEl>
                                          <p:spTgt spid="7178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17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17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1782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717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17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178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7178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7178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178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178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7178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71782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8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7178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7178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71782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营销计划演示文稿">
  <a:themeElements>
    <a:clrScheme name="营销计划演示文稿 4">
      <a:dk1>
        <a:srgbClr val="336699"/>
      </a:dk1>
      <a:lt1>
        <a:srgbClr val="FFFFFF"/>
      </a:lt1>
      <a:dk2>
        <a:srgbClr val="0066FF"/>
      </a:dk2>
      <a:lt2>
        <a:srgbClr val="AFB5D2"/>
      </a:lt2>
      <a:accent1>
        <a:srgbClr val="66CCFF"/>
      </a:accent1>
      <a:accent2>
        <a:srgbClr val="99FFCC"/>
      </a:accent2>
      <a:accent3>
        <a:srgbClr val="FFFFFF"/>
      </a:accent3>
      <a:accent4>
        <a:srgbClr val="2A5682"/>
      </a:accent4>
      <a:accent5>
        <a:srgbClr val="B8E2FF"/>
      </a:accent5>
      <a:accent6>
        <a:srgbClr val="8AE7B9"/>
      </a:accent6>
      <a:hlink>
        <a:srgbClr val="000000"/>
      </a:hlink>
      <a:folHlink>
        <a:srgbClr val="000000"/>
      </a:folHlink>
    </a:clrScheme>
    <a:fontScheme name="营销计划演示文稿">
      <a:majorFont>
        <a:latin typeface="宋体"/>
        <a:ea typeface="宋体"/>
        <a:cs typeface=""/>
      </a:majorFont>
      <a:minorFont>
        <a:latin typeface="宋体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营销计划演示文稿 1">
        <a:dk1>
          <a:srgbClr val="336699"/>
        </a:dk1>
        <a:lt1>
          <a:srgbClr val="FFFFFF"/>
        </a:lt1>
        <a:dk2>
          <a:srgbClr val="0066FF"/>
        </a:dk2>
        <a:lt2>
          <a:srgbClr val="AFB5D2"/>
        </a:lt2>
        <a:accent1>
          <a:srgbClr val="66CCFF"/>
        </a:accent1>
        <a:accent2>
          <a:srgbClr val="99FFCC"/>
        </a:accent2>
        <a:accent3>
          <a:srgbClr val="FFFFFF"/>
        </a:accent3>
        <a:accent4>
          <a:srgbClr val="2A5682"/>
        </a:accent4>
        <a:accent5>
          <a:srgbClr val="B8E2FF"/>
        </a:accent5>
        <a:accent6>
          <a:srgbClr val="8AE7B9"/>
        </a:accent6>
        <a:hlink>
          <a:srgbClr val="FF99FF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营销计划演示文稿 2">
        <a:dk1>
          <a:srgbClr val="003366"/>
        </a:dk1>
        <a:lt1>
          <a:srgbClr val="CCECFF"/>
        </a:lt1>
        <a:dk2>
          <a:srgbClr val="4B3384"/>
        </a:dk2>
        <a:lt2>
          <a:srgbClr val="849CBB"/>
        </a:lt2>
        <a:accent1>
          <a:srgbClr val="90DBFF"/>
        </a:accent1>
        <a:accent2>
          <a:srgbClr val="99FFCC"/>
        </a:accent2>
        <a:accent3>
          <a:srgbClr val="E2F4FF"/>
        </a:accent3>
        <a:accent4>
          <a:srgbClr val="002A56"/>
        </a:accent4>
        <a:accent5>
          <a:srgbClr val="C6EAFF"/>
        </a:accent5>
        <a:accent6>
          <a:srgbClr val="8AE7B9"/>
        </a:accent6>
        <a:hlink>
          <a:srgbClr val="DFC0FF"/>
        </a:hlink>
        <a:folHlink>
          <a:srgbClr val="6DC5D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营销计划演示文稿 3">
        <a:dk1>
          <a:srgbClr val="000000"/>
        </a:dk1>
        <a:lt1>
          <a:srgbClr val="FFFFFF"/>
        </a:lt1>
        <a:dk2>
          <a:srgbClr val="000000"/>
        </a:dk2>
        <a:lt2>
          <a:srgbClr val="B2B2B2"/>
        </a:lt2>
        <a:accent1>
          <a:srgbClr val="CBCBCB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97979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营销计划演示文稿 4">
        <a:dk1>
          <a:srgbClr val="336699"/>
        </a:dk1>
        <a:lt1>
          <a:srgbClr val="FFFFFF"/>
        </a:lt1>
        <a:dk2>
          <a:srgbClr val="0066FF"/>
        </a:dk2>
        <a:lt2>
          <a:srgbClr val="AFB5D2"/>
        </a:lt2>
        <a:accent1>
          <a:srgbClr val="66CCFF"/>
        </a:accent1>
        <a:accent2>
          <a:srgbClr val="99FFCC"/>
        </a:accent2>
        <a:accent3>
          <a:srgbClr val="FFFFFF"/>
        </a:accent3>
        <a:accent4>
          <a:srgbClr val="2A5682"/>
        </a:accent4>
        <a:accent5>
          <a:srgbClr val="B8E2FF"/>
        </a:accent5>
        <a:accent6>
          <a:srgbClr val="8AE7B9"/>
        </a:accent6>
        <a:hlink>
          <a:srgbClr val="000000"/>
        </a:hlink>
        <a:folHlink>
          <a:srgbClr val="0000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7865</TotalTime>
  <Words>5832</Words>
  <Application>Microsoft Office PowerPoint</Application>
  <PresentationFormat>全屏显示(4:3)</PresentationFormat>
  <Paragraphs>946</Paragraphs>
  <Slides>88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88</vt:i4>
      </vt:variant>
    </vt:vector>
  </HeadingPairs>
  <TitlesOfParts>
    <vt:vector size="109" baseType="lpstr">
      <vt:lpstr>华文彩云</vt:lpstr>
      <vt:lpstr>华文新魏</vt:lpstr>
      <vt:lpstr>华文中宋</vt:lpstr>
      <vt:lpstr>楷体_GB2312</vt:lpstr>
      <vt:lpstr>隶书</vt:lpstr>
      <vt:lpstr>宋体</vt:lpstr>
      <vt:lpstr>新宋体</vt:lpstr>
      <vt:lpstr>Arial</vt:lpstr>
      <vt:lpstr>Arial Black</vt:lpstr>
      <vt:lpstr>Bodoni MT Black</vt:lpstr>
      <vt:lpstr>Symbol</vt:lpstr>
      <vt:lpstr>Tahoma</vt:lpstr>
      <vt:lpstr>Times New Roman</vt:lpstr>
      <vt:lpstr>Wingdings</vt:lpstr>
      <vt:lpstr>营销计划演示文稿</vt:lpstr>
      <vt:lpstr>Equation</vt:lpstr>
      <vt:lpstr>MathType 7.0 Equation</vt:lpstr>
      <vt:lpstr>Equation.3</vt:lpstr>
      <vt:lpstr>公式</vt:lpstr>
      <vt:lpstr>Microsoft 公式 3.0</vt:lpstr>
      <vt:lpstr>Visio</vt:lpstr>
      <vt:lpstr>第三章 离散傅里叶变换(DFT)及其快速算法(FFT)</vt:lpstr>
      <vt:lpstr>PowerPoint 演示文稿</vt:lpstr>
      <vt:lpstr>3.1 离散傅里叶变换的定义及物理意义 </vt:lpstr>
      <vt:lpstr>PowerPoint 演示文稿</vt:lpstr>
      <vt:lpstr>3.1.1 DFT定义</vt:lpstr>
      <vt:lpstr>PowerPoint 演示文稿</vt:lpstr>
      <vt:lpstr>        是      在频率区间上的等间隔采样</vt:lpstr>
      <vt:lpstr>3.1.2 DFT与ZT、FT、DFS的关系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DFT与DFS之间的关系:</vt:lpstr>
      <vt:lpstr>DFS与FT之间的关系:</vt:lpstr>
      <vt:lpstr>3.1.3 DFT的矩阵表示</vt:lpstr>
      <vt:lpstr>PowerPoint 演示文稿</vt:lpstr>
      <vt:lpstr>PowerPoint 演示文稿</vt:lpstr>
      <vt:lpstr>PowerPoint 演示文稿</vt:lpstr>
      <vt:lpstr>3.2 DFT的主要性质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实序列2N点的DFT，拆分重组为N点复序列DFT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3.3 频域采样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3.4 DFT的快速算法——快速傅里叶变换(FFT)</vt:lpstr>
      <vt:lpstr>3.4.1 直接计算DFT的特点及减少运算量的基本途径</vt:lpstr>
      <vt:lpstr>PowerPoint 演示文稿</vt:lpstr>
      <vt:lpstr>PowerPoint 演示文稿</vt:lpstr>
      <vt:lpstr>3.4.2  基2 DIT-FFT 算法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不按顺序排列</vt:lpstr>
      <vt:lpstr>PowerPoint 演示文稿</vt:lpstr>
      <vt:lpstr>PowerPoint 演示文稿</vt:lpstr>
      <vt:lpstr>PowerPoint 演示文稿</vt:lpstr>
      <vt:lpstr>3.5 DFT(FFT)应用举例 </vt:lpstr>
      <vt:lpstr>3.5.1 用DFT(FFT)计算两个有限长序列的线性卷积</vt:lpstr>
      <vt:lpstr>PowerPoint 演示文稿</vt:lpstr>
      <vt:lpstr>PowerPoint 演示文稿</vt:lpstr>
      <vt:lpstr>循环卷积计算线性卷积的运算量：</vt:lpstr>
      <vt:lpstr>例3.4</vt:lpstr>
      <vt:lpstr>3.5.2 用DFT计算有限长序列与无限长序列的线性卷积 </vt:lpstr>
      <vt:lpstr>PowerPoint 演示文稿</vt:lpstr>
      <vt:lpstr>PowerPoint 演示文稿</vt:lpstr>
      <vt:lpstr>(1)    重叠相加法——由分段卷积的各段相加构成总的卷积输出 </vt:lpstr>
      <vt:lpstr>PowerPoint 演示文稿</vt:lpstr>
      <vt:lpstr>3.5.3 用DFT对序列进行谱分析 </vt:lpstr>
      <vt:lpstr>PowerPoint 演示文稿</vt:lpstr>
      <vt:lpstr>PowerPoint 演示文稿</vt:lpstr>
    </vt:vector>
  </TitlesOfParts>
  <Manager/>
  <Company>西电科大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数字信号处理</dc:title>
  <dc:subject/>
  <dc:creator>于正操</dc:creator>
  <cp:keywords/>
  <dc:description/>
  <cp:lastModifiedBy>Admin</cp:lastModifiedBy>
  <cp:revision>88</cp:revision>
  <dcterms:created xsi:type="dcterms:W3CDTF">2006-04-26T09:41:52Z</dcterms:created>
  <dcterms:modified xsi:type="dcterms:W3CDTF">2026-01-04T17:01:05Z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TC010178122052</vt:lpwstr>
  </property>
</Properties>
</file>